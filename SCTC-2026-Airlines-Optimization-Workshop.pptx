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74" r:id="rId2"/>
    <p:sldId id="256" r:id="rId3"/>
    <p:sldId id="276" r:id="rId4"/>
    <p:sldId id="288" r:id="rId5"/>
    <p:sldId id="275" r:id="rId6"/>
    <p:sldId id="278" r:id="rId7"/>
    <p:sldId id="277" r:id="rId8"/>
    <p:sldId id="257" r:id="rId9"/>
    <p:sldId id="258" r:id="rId10"/>
    <p:sldId id="261" r:id="rId11"/>
    <p:sldId id="283" r:id="rId12"/>
    <p:sldId id="287" r:id="rId13"/>
    <p:sldId id="262" r:id="rId14"/>
    <p:sldId id="263" r:id="rId15"/>
    <p:sldId id="289" r:id="rId16"/>
    <p:sldId id="264" r:id="rId17"/>
    <p:sldId id="284" r:id="rId18"/>
    <p:sldId id="265" r:id="rId19"/>
    <p:sldId id="292" r:id="rId20"/>
    <p:sldId id="293" r:id="rId21"/>
    <p:sldId id="294" r:id="rId22"/>
    <p:sldId id="260" r:id="rId23"/>
    <p:sldId id="266" r:id="rId24"/>
    <p:sldId id="268" r:id="rId25"/>
    <p:sldId id="267" r:id="rId26"/>
    <p:sldId id="269" r:id="rId27"/>
    <p:sldId id="270" r:id="rId28"/>
    <p:sldId id="285" r:id="rId29"/>
    <p:sldId id="271" r:id="rId30"/>
    <p:sldId id="272" r:id="rId31"/>
    <p:sldId id="273"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142B"/>
    <a:srgbClr val="F97316"/>
    <a:srgbClr val="F7F8FA"/>
    <a:srgbClr val="E9F1FB"/>
    <a:srgbClr val="F1F5F9"/>
    <a:srgbClr val="F9F2EE"/>
    <a:srgbClr val="3B82F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38" autoAdjust="0"/>
    <p:restoredTop sz="91646" autoAdjust="0"/>
  </p:normalViewPr>
  <p:slideViewPr>
    <p:cSldViewPr snapToGrid="0" snapToObjects="1">
      <p:cViewPr varScale="1">
        <p:scale>
          <a:sx n="98" d="100"/>
          <a:sy n="98" d="100"/>
        </p:scale>
        <p:origin x="1002"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9B7D80-9A1B-459B-ADCD-49EFEE497B73}" type="doc">
      <dgm:prSet loTypeId="urn:microsoft.com/office/officeart/2005/8/layout/cycle1" loCatId="cycle" qsTypeId="urn:microsoft.com/office/officeart/2005/8/quickstyle/simple1" qsCatId="simple" csTypeId="urn:microsoft.com/office/officeart/2005/8/colors/accent1_2" csCatId="accent1" phldr="1"/>
      <dgm:spPr/>
      <dgm:t>
        <a:bodyPr/>
        <a:lstStyle/>
        <a:p>
          <a:endParaRPr lang="en-US"/>
        </a:p>
      </dgm:t>
    </dgm:pt>
    <dgm:pt modelId="{376DFAB4-4C9C-4453-833B-22B2A19EB338}">
      <dgm:prSet phldrT="[Text]" phldr="0" custT="1"/>
      <dgm:spPr/>
      <dgm:t>
        <a:bodyPr/>
        <a:lstStyle/>
        <a:p>
          <a:r>
            <a:rPr lang="en-US" sz="4000" b="1" dirty="0"/>
            <a:t>Adapt</a:t>
          </a:r>
        </a:p>
      </dgm:t>
    </dgm:pt>
    <dgm:pt modelId="{C0A306D7-42E9-45E8-BD4B-7B95BF673B5F}" type="parTrans" cxnId="{54C35C5D-9990-48AC-B043-F9EE02B63494}">
      <dgm:prSet/>
      <dgm:spPr/>
      <dgm:t>
        <a:bodyPr/>
        <a:lstStyle/>
        <a:p>
          <a:endParaRPr lang="en-US"/>
        </a:p>
      </dgm:t>
    </dgm:pt>
    <dgm:pt modelId="{9BF2DF7C-CCEB-4445-A14A-425E2A57FC2D}" type="sibTrans" cxnId="{54C35C5D-9990-48AC-B043-F9EE02B63494}">
      <dgm:prSet/>
      <dgm:spPr/>
      <dgm:t>
        <a:bodyPr/>
        <a:lstStyle/>
        <a:p>
          <a:endParaRPr lang="en-US"/>
        </a:p>
      </dgm:t>
    </dgm:pt>
    <dgm:pt modelId="{27DD6F7D-55BA-4AC1-975C-DF728B056618}">
      <dgm:prSet phldrT="[Text]" phldr="0" custT="1"/>
      <dgm:spPr/>
      <dgm:t>
        <a:bodyPr/>
        <a:lstStyle/>
        <a:p>
          <a:r>
            <a:rPr lang="en-US" sz="4000" b="1" dirty="0"/>
            <a:t>Learn</a:t>
          </a:r>
          <a:endParaRPr lang="en-US" sz="4400" b="1" dirty="0"/>
        </a:p>
      </dgm:t>
    </dgm:pt>
    <dgm:pt modelId="{C3C755E6-8ADA-4941-8AF7-201321C974DD}" type="parTrans" cxnId="{73E8E2D4-62B0-4FA4-BE4F-936E724A546B}">
      <dgm:prSet/>
      <dgm:spPr/>
      <dgm:t>
        <a:bodyPr/>
        <a:lstStyle/>
        <a:p>
          <a:endParaRPr lang="en-US"/>
        </a:p>
      </dgm:t>
    </dgm:pt>
    <dgm:pt modelId="{792B36C3-79A5-414B-AE18-146518492D70}" type="sibTrans" cxnId="{73E8E2D4-62B0-4FA4-BE4F-936E724A546B}">
      <dgm:prSet/>
      <dgm:spPr/>
      <dgm:t>
        <a:bodyPr/>
        <a:lstStyle/>
        <a:p>
          <a:endParaRPr lang="en-US"/>
        </a:p>
      </dgm:t>
    </dgm:pt>
    <dgm:pt modelId="{12019EC4-D26C-4A7E-837D-21CC1D6BF0E0}" type="pres">
      <dgm:prSet presAssocID="{FE9B7D80-9A1B-459B-ADCD-49EFEE497B73}" presName="cycle" presStyleCnt="0">
        <dgm:presLayoutVars>
          <dgm:dir/>
          <dgm:resizeHandles val="exact"/>
        </dgm:presLayoutVars>
      </dgm:prSet>
      <dgm:spPr/>
    </dgm:pt>
    <dgm:pt modelId="{73274EA0-3F4F-4B55-B2C8-DAE374E822EE}" type="pres">
      <dgm:prSet presAssocID="{376DFAB4-4C9C-4453-833B-22B2A19EB338}" presName="dummy" presStyleCnt="0"/>
      <dgm:spPr/>
    </dgm:pt>
    <dgm:pt modelId="{3567B15F-E0FD-44E4-B1E4-4EF47527B01D}" type="pres">
      <dgm:prSet presAssocID="{376DFAB4-4C9C-4453-833B-22B2A19EB338}" presName="node" presStyleLbl="revTx" presStyleIdx="0" presStyleCnt="2">
        <dgm:presLayoutVars>
          <dgm:bulletEnabled val="1"/>
        </dgm:presLayoutVars>
      </dgm:prSet>
      <dgm:spPr/>
    </dgm:pt>
    <dgm:pt modelId="{F47B4486-4893-449B-B6E8-F6B0C3165D0F}" type="pres">
      <dgm:prSet presAssocID="{9BF2DF7C-CCEB-4445-A14A-425E2A57FC2D}" presName="sibTrans" presStyleLbl="node1" presStyleIdx="0" presStyleCnt="2"/>
      <dgm:spPr/>
    </dgm:pt>
    <dgm:pt modelId="{C0C878E9-41AB-4F4A-A446-4831F54643E6}" type="pres">
      <dgm:prSet presAssocID="{27DD6F7D-55BA-4AC1-975C-DF728B056618}" presName="dummy" presStyleCnt="0"/>
      <dgm:spPr/>
    </dgm:pt>
    <dgm:pt modelId="{0CE4C7AF-0BB3-433F-89C4-1122CC6994E8}" type="pres">
      <dgm:prSet presAssocID="{27DD6F7D-55BA-4AC1-975C-DF728B056618}" presName="node" presStyleLbl="revTx" presStyleIdx="1" presStyleCnt="2">
        <dgm:presLayoutVars>
          <dgm:bulletEnabled val="1"/>
        </dgm:presLayoutVars>
      </dgm:prSet>
      <dgm:spPr/>
    </dgm:pt>
    <dgm:pt modelId="{5B45765C-EBFD-45CB-BA8F-20EB05C97DC9}" type="pres">
      <dgm:prSet presAssocID="{792B36C3-79A5-414B-AE18-146518492D70}" presName="sibTrans" presStyleLbl="node1" presStyleIdx="1" presStyleCnt="2"/>
      <dgm:spPr/>
    </dgm:pt>
  </dgm:ptLst>
  <dgm:cxnLst>
    <dgm:cxn modelId="{436C6310-6524-48B6-8107-22B21DE4C087}" type="presOf" srcId="{9BF2DF7C-CCEB-4445-A14A-425E2A57FC2D}" destId="{F47B4486-4893-449B-B6E8-F6B0C3165D0F}" srcOrd="0" destOrd="0" presId="urn:microsoft.com/office/officeart/2005/8/layout/cycle1"/>
    <dgm:cxn modelId="{B83C3720-5B49-4D24-A1A2-F67659859FE0}" type="presOf" srcId="{27DD6F7D-55BA-4AC1-975C-DF728B056618}" destId="{0CE4C7AF-0BB3-433F-89C4-1122CC6994E8}" srcOrd="0" destOrd="0" presId="urn:microsoft.com/office/officeart/2005/8/layout/cycle1"/>
    <dgm:cxn modelId="{569C0E29-F536-41EC-A051-996E6B801A82}" type="presOf" srcId="{FE9B7D80-9A1B-459B-ADCD-49EFEE497B73}" destId="{12019EC4-D26C-4A7E-837D-21CC1D6BF0E0}" srcOrd="0" destOrd="0" presId="urn:microsoft.com/office/officeart/2005/8/layout/cycle1"/>
    <dgm:cxn modelId="{54C35C5D-9990-48AC-B043-F9EE02B63494}" srcId="{FE9B7D80-9A1B-459B-ADCD-49EFEE497B73}" destId="{376DFAB4-4C9C-4453-833B-22B2A19EB338}" srcOrd="0" destOrd="0" parTransId="{C0A306D7-42E9-45E8-BD4B-7B95BF673B5F}" sibTransId="{9BF2DF7C-CCEB-4445-A14A-425E2A57FC2D}"/>
    <dgm:cxn modelId="{B21EA689-655F-4B46-9293-AD6BCF144C22}" type="presOf" srcId="{376DFAB4-4C9C-4453-833B-22B2A19EB338}" destId="{3567B15F-E0FD-44E4-B1E4-4EF47527B01D}" srcOrd="0" destOrd="0" presId="urn:microsoft.com/office/officeart/2005/8/layout/cycle1"/>
    <dgm:cxn modelId="{F4B451AA-5BAE-4837-A6F2-22450AFEDFA4}" type="presOf" srcId="{792B36C3-79A5-414B-AE18-146518492D70}" destId="{5B45765C-EBFD-45CB-BA8F-20EB05C97DC9}" srcOrd="0" destOrd="0" presId="urn:microsoft.com/office/officeart/2005/8/layout/cycle1"/>
    <dgm:cxn modelId="{73E8E2D4-62B0-4FA4-BE4F-936E724A546B}" srcId="{FE9B7D80-9A1B-459B-ADCD-49EFEE497B73}" destId="{27DD6F7D-55BA-4AC1-975C-DF728B056618}" srcOrd="1" destOrd="0" parTransId="{C3C755E6-8ADA-4941-8AF7-201321C974DD}" sibTransId="{792B36C3-79A5-414B-AE18-146518492D70}"/>
    <dgm:cxn modelId="{0AA1C26E-E2DF-455F-93D0-C64BF938F1D9}" type="presParOf" srcId="{12019EC4-D26C-4A7E-837D-21CC1D6BF0E0}" destId="{73274EA0-3F4F-4B55-B2C8-DAE374E822EE}" srcOrd="0" destOrd="0" presId="urn:microsoft.com/office/officeart/2005/8/layout/cycle1"/>
    <dgm:cxn modelId="{555FAC33-9673-4E2C-9167-8340B6DF37DD}" type="presParOf" srcId="{12019EC4-D26C-4A7E-837D-21CC1D6BF0E0}" destId="{3567B15F-E0FD-44E4-B1E4-4EF47527B01D}" srcOrd="1" destOrd="0" presId="urn:microsoft.com/office/officeart/2005/8/layout/cycle1"/>
    <dgm:cxn modelId="{4C44EB1E-2F26-4A3C-9A7F-030F93A257C8}" type="presParOf" srcId="{12019EC4-D26C-4A7E-837D-21CC1D6BF0E0}" destId="{F47B4486-4893-449B-B6E8-F6B0C3165D0F}" srcOrd="2" destOrd="0" presId="urn:microsoft.com/office/officeart/2005/8/layout/cycle1"/>
    <dgm:cxn modelId="{0D90AA66-96F0-4567-8E23-85250544AD33}" type="presParOf" srcId="{12019EC4-D26C-4A7E-837D-21CC1D6BF0E0}" destId="{C0C878E9-41AB-4F4A-A446-4831F54643E6}" srcOrd="3" destOrd="0" presId="urn:microsoft.com/office/officeart/2005/8/layout/cycle1"/>
    <dgm:cxn modelId="{7FE542CA-3047-4210-8869-9BBEAC66C7F5}" type="presParOf" srcId="{12019EC4-D26C-4A7E-837D-21CC1D6BF0E0}" destId="{0CE4C7AF-0BB3-433F-89C4-1122CC6994E8}" srcOrd="4" destOrd="0" presId="urn:microsoft.com/office/officeart/2005/8/layout/cycle1"/>
    <dgm:cxn modelId="{119B4E87-74FF-4313-B04B-5929E95A46C3}" type="presParOf" srcId="{12019EC4-D26C-4A7E-837D-21CC1D6BF0E0}" destId="{5B45765C-EBFD-45CB-BA8F-20EB05C97DC9}"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67B15F-E0FD-44E4-B1E4-4EF47527B01D}">
      <dsp:nvSpPr>
        <dsp:cNvPr id="0" name=""/>
        <dsp:cNvSpPr/>
      </dsp:nvSpPr>
      <dsp:spPr>
        <a:xfrm>
          <a:off x="3675830" y="1043781"/>
          <a:ext cx="1976437" cy="1976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50800" rIns="50800" bIns="50800" numCol="1" spcCol="1270" anchor="ctr" anchorCtr="0">
          <a:noAutofit/>
        </a:bodyPr>
        <a:lstStyle/>
        <a:p>
          <a:pPr marL="0" lvl="0" indent="0" algn="ctr" defTabSz="1778000">
            <a:lnSpc>
              <a:spcPct val="90000"/>
            </a:lnSpc>
            <a:spcBef>
              <a:spcPct val="0"/>
            </a:spcBef>
            <a:spcAft>
              <a:spcPct val="35000"/>
            </a:spcAft>
            <a:buNone/>
          </a:pPr>
          <a:r>
            <a:rPr lang="en-US" sz="4000" b="1" kern="1200" dirty="0"/>
            <a:t>Adapt</a:t>
          </a:r>
        </a:p>
      </dsp:txBody>
      <dsp:txXfrm>
        <a:off x="3675830" y="1043781"/>
        <a:ext cx="1976437" cy="1976437"/>
      </dsp:txXfrm>
    </dsp:sp>
    <dsp:sp modelId="{F47B4486-4893-449B-B6E8-F6B0C3165D0F}">
      <dsp:nvSpPr>
        <dsp:cNvPr id="0" name=""/>
        <dsp:cNvSpPr/>
      </dsp:nvSpPr>
      <dsp:spPr>
        <a:xfrm>
          <a:off x="1014428" y="-1571"/>
          <a:ext cx="4067142" cy="4067142"/>
        </a:xfrm>
        <a:prstGeom prst="circularArrow">
          <a:avLst>
            <a:gd name="adj1" fmla="val 9476"/>
            <a:gd name="adj2" fmla="val 684342"/>
            <a:gd name="adj3" fmla="val 7853762"/>
            <a:gd name="adj4" fmla="val 2261896"/>
            <a:gd name="adj5" fmla="val 11055"/>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CE4C7AF-0BB3-433F-89C4-1122CC6994E8}">
      <dsp:nvSpPr>
        <dsp:cNvPr id="0" name=""/>
        <dsp:cNvSpPr/>
      </dsp:nvSpPr>
      <dsp:spPr>
        <a:xfrm>
          <a:off x="443732" y="1043781"/>
          <a:ext cx="1976437" cy="1976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50800" rIns="50800" bIns="50800" numCol="1" spcCol="1270" anchor="ctr" anchorCtr="0">
          <a:noAutofit/>
        </a:bodyPr>
        <a:lstStyle/>
        <a:p>
          <a:pPr marL="0" lvl="0" indent="0" algn="ctr" defTabSz="1778000">
            <a:lnSpc>
              <a:spcPct val="90000"/>
            </a:lnSpc>
            <a:spcBef>
              <a:spcPct val="0"/>
            </a:spcBef>
            <a:spcAft>
              <a:spcPct val="35000"/>
            </a:spcAft>
            <a:buNone/>
          </a:pPr>
          <a:r>
            <a:rPr lang="en-US" sz="4000" b="1" kern="1200" dirty="0"/>
            <a:t>Learn</a:t>
          </a:r>
          <a:endParaRPr lang="en-US" sz="4400" b="1" kern="1200" dirty="0"/>
        </a:p>
      </dsp:txBody>
      <dsp:txXfrm>
        <a:off x="443732" y="1043781"/>
        <a:ext cx="1976437" cy="1976437"/>
      </dsp:txXfrm>
    </dsp:sp>
    <dsp:sp modelId="{5B45765C-EBFD-45CB-BA8F-20EB05C97DC9}">
      <dsp:nvSpPr>
        <dsp:cNvPr id="0" name=""/>
        <dsp:cNvSpPr/>
      </dsp:nvSpPr>
      <dsp:spPr>
        <a:xfrm>
          <a:off x="1014428" y="-1571"/>
          <a:ext cx="4067142" cy="4067142"/>
        </a:xfrm>
        <a:prstGeom prst="circularArrow">
          <a:avLst>
            <a:gd name="adj1" fmla="val 9476"/>
            <a:gd name="adj2" fmla="val 684342"/>
            <a:gd name="adj3" fmla="val 18653762"/>
            <a:gd name="adj4" fmla="val 13061896"/>
            <a:gd name="adj5" fmla="val 11055"/>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508B69-4B04-442E-A249-3DCED873EEFA}" type="datetimeFigureOut">
              <a:rPr lang="en-US" smtClean="0"/>
              <a:t>10/18/2026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E717D-2DA7-42E8-9D35-D8C48612FADF}" type="slidenum">
              <a:rPr lang="en-US" smtClean="0"/>
              <a:t>‹#›</a:t>
            </a:fld>
            <a:endParaRPr lang="en-US"/>
          </a:p>
        </p:txBody>
      </p:sp>
    </p:spTree>
    <p:extLst>
      <p:ext uri="{BB962C8B-B14F-4D97-AF65-F5344CB8AC3E}">
        <p14:creationId xmlns:p14="http://schemas.microsoft.com/office/powerpoint/2010/main" val="1718974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FC3CA-049D-ED21-409A-D7C65A1E9B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625674-1CB4-5C65-CB8E-A48468C88E5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306E2C4-47D3-23F1-D6D9-9AF7635EFFD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63AB952-5644-29B1-EE3A-35142298D7D1}"/>
              </a:ext>
            </a:extLst>
          </p:cNvPr>
          <p:cNvSpPr>
            <a:spLocks noGrp="1"/>
          </p:cNvSpPr>
          <p:nvPr>
            <p:ph type="sldNum" sz="quarter" idx="5"/>
          </p:nvPr>
        </p:nvSpPr>
        <p:spPr/>
      </p:sp>
    </p:spTree>
    <p:extLst>
      <p:ext uri="{BB962C8B-B14F-4D97-AF65-F5344CB8AC3E}">
        <p14:creationId xmlns:p14="http://schemas.microsoft.com/office/powerpoint/2010/main" val="20838883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F762C-DE22-5FEC-CE3D-A7BB5BF860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3F6DB3-C39E-E752-E7FD-ED95C70873A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61B9D5-5555-F473-F6CE-4E77AA097E47}"/>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F73A04F-A6EC-B4AD-B756-25F49554F6FD}"/>
              </a:ext>
            </a:extLst>
          </p:cNvPr>
          <p:cNvSpPr>
            <a:spLocks noGrp="1"/>
          </p:cNvSpPr>
          <p:nvPr>
            <p:ph type="sldNum" sz="quarter" idx="5"/>
          </p:nvPr>
        </p:nvSpPr>
        <p:spPr/>
      </p:sp>
    </p:spTree>
    <p:extLst>
      <p:ext uri="{BB962C8B-B14F-4D97-AF65-F5344CB8AC3E}">
        <p14:creationId xmlns:p14="http://schemas.microsoft.com/office/powerpoint/2010/main" val="30710250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B0DA5-3219-21B5-FF05-72EF0036F0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52076-553C-1F92-DE0D-E5CCD869FFC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E4BD9AC-625B-C659-2AE5-CF487F610489}"/>
              </a:ext>
            </a:extLst>
          </p:cNvPr>
          <p:cNvSpPr>
            <a:spLocks noGrp="1"/>
          </p:cNvSpPr>
          <p:nvPr>
            <p:ph type="body" sz="quarter" idx="3"/>
          </p:nvPr>
        </p:nvSpPr>
        <p:spPr/>
        <p:txBody>
          <a:bodyPr/>
          <a:lstStyle/>
          <a:p>
            <a:r>
              <a:rPr lang="en-US" dirty="0"/>
              <a:t>These are 4 big elements to create a DSS. We are only going to scratch the surface</a:t>
            </a:r>
            <a:endParaRPr dirty="0"/>
          </a:p>
        </p:txBody>
      </p:sp>
      <p:sp>
        <p:nvSpPr>
          <p:cNvPr id="4" name="Slide Number Placeholder 3">
            <a:extLst>
              <a:ext uri="{FF2B5EF4-FFF2-40B4-BE49-F238E27FC236}">
                <a16:creationId xmlns:a16="http://schemas.microsoft.com/office/drawing/2014/main" id="{2EA2F753-B632-DCD6-5785-89FCB10AC67C}"/>
              </a:ext>
            </a:extLst>
          </p:cNvPr>
          <p:cNvSpPr>
            <a:spLocks noGrp="1"/>
          </p:cNvSpPr>
          <p:nvPr>
            <p:ph type="sldNum" sz="quarter" idx="5"/>
          </p:nvPr>
        </p:nvSpPr>
        <p:spPr/>
      </p:sp>
    </p:spTree>
    <p:extLst>
      <p:ext uri="{BB962C8B-B14F-4D97-AF65-F5344CB8AC3E}">
        <p14:creationId xmlns:p14="http://schemas.microsoft.com/office/powerpoint/2010/main" val="18544184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49A71-D8D3-B13E-23AA-8B86985EE4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3D7736-6D63-C3EB-16FC-1A1E69D3B78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F36A43F-9735-828D-8E7D-35BE98D6E28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A6110A3-CF59-8354-C154-047A45BF1971}"/>
              </a:ext>
            </a:extLst>
          </p:cNvPr>
          <p:cNvSpPr>
            <a:spLocks noGrp="1"/>
          </p:cNvSpPr>
          <p:nvPr>
            <p:ph type="sldNum" sz="quarter" idx="5"/>
          </p:nvPr>
        </p:nvSpPr>
        <p:spPr/>
      </p:sp>
    </p:spTree>
    <p:extLst>
      <p:ext uri="{BB962C8B-B14F-4D97-AF65-F5344CB8AC3E}">
        <p14:creationId xmlns:p14="http://schemas.microsoft.com/office/powerpoint/2010/main" val="14024767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F740E-3CE4-68A6-CBBF-310AC75B80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CBC363-5CA3-8939-3156-321946DF119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8E2F113-88B8-78CE-F626-6437846CCA7B}"/>
              </a:ext>
            </a:extLst>
          </p:cNvPr>
          <p:cNvSpPr>
            <a:spLocks noGrp="1"/>
          </p:cNvSpPr>
          <p:nvPr>
            <p:ph type="body" sz="quarter" idx="3"/>
          </p:nvPr>
        </p:nvSpPr>
        <p:spPr/>
        <p:txBody>
          <a:bodyPr/>
          <a:lstStyle/>
          <a:p>
            <a:r>
              <a:rPr lang="en-US" dirty="0"/>
              <a:t>Implications:</a:t>
            </a:r>
          </a:p>
          <a:p>
            <a:pPr marL="171450" indent="-171450">
              <a:buFontTx/>
              <a:buChar char="-"/>
            </a:pPr>
            <a:r>
              <a:rPr lang="en-US" dirty="0"/>
              <a:t>A decision is useful if someone uses it</a:t>
            </a:r>
          </a:p>
          <a:p>
            <a:pPr marL="171450" indent="-171450">
              <a:buFontTx/>
              <a:buChar char="-"/>
            </a:pPr>
            <a:r>
              <a:rPr lang="en-US" dirty="0"/>
              <a:t>A DSS requires software because it is run recurringly</a:t>
            </a:r>
            <a:endParaRPr dirty="0"/>
          </a:p>
        </p:txBody>
      </p:sp>
      <p:sp>
        <p:nvSpPr>
          <p:cNvPr id="4" name="Slide Number Placeholder 3">
            <a:extLst>
              <a:ext uri="{FF2B5EF4-FFF2-40B4-BE49-F238E27FC236}">
                <a16:creationId xmlns:a16="http://schemas.microsoft.com/office/drawing/2014/main" id="{A8A5604D-3B0D-CE2F-4204-8804F1DF849F}"/>
              </a:ext>
            </a:extLst>
          </p:cNvPr>
          <p:cNvSpPr>
            <a:spLocks noGrp="1"/>
          </p:cNvSpPr>
          <p:nvPr>
            <p:ph type="sldNum" sz="quarter" idx="5"/>
          </p:nvPr>
        </p:nvSpPr>
        <p:spPr/>
      </p:sp>
    </p:spTree>
    <p:extLst>
      <p:ext uri="{BB962C8B-B14F-4D97-AF65-F5344CB8AC3E}">
        <p14:creationId xmlns:p14="http://schemas.microsoft.com/office/powerpoint/2010/main" val="18977499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STORY TALKING POINTS</a:t>
            </a:r>
            <a:endParaRPr lang="en-US" dirty="0"/>
          </a:p>
          <a:p>
            <a:r>
              <a:rPr lang="en-US" dirty="0"/>
              <a:t>- What can go wrong?</a:t>
            </a:r>
            <a:endParaRPr dirty="0"/>
          </a:p>
          <a:p>
            <a:r>
              <a:rPr dirty="0"/>
              <a:t>- Answer: "optimal" only means optimal for the model as it was coded. Before acting I need</a:t>
            </a:r>
            <a:r>
              <a:rPr lang="en-US" dirty="0"/>
              <a:t> </a:t>
            </a:r>
            <a:r>
              <a:rPr dirty="0"/>
              <a:t>evidence on three things:</a:t>
            </a:r>
            <a:endParaRPr lang="en-US" dirty="0"/>
          </a:p>
          <a:p>
            <a:pPr marL="171450" indent="-171450">
              <a:buFontTx/>
              <a:buChar char="-"/>
            </a:pPr>
            <a:r>
              <a:rPr lang="en-US" dirty="0"/>
              <a:t>T</a:t>
            </a:r>
            <a:r>
              <a:rPr dirty="0"/>
              <a:t>he data is correct and current</a:t>
            </a:r>
            <a:endParaRPr lang="en-US" dirty="0"/>
          </a:p>
          <a:p>
            <a:pPr marL="171450" indent="-171450">
              <a:buFontTx/>
              <a:buChar char="-"/>
            </a:pPr>
            <a:r>
              <a:rPr lang="en-US" dirty="0"/>
              <a:t>T</a:t>
            </a:r>
            <a:r>
              <a:rPr dirty="0"/>
              <a:t>he model states </a:t>
            </a:r>
            <a:r>
              <a:rPr lang="en-US" dirty="0"/>
              <a:t>reasonably the</a:t>
            </a:r>
            <a:r>
              <a:rPr dirty="0"/>
              <a:t> business's</a:t>
            </a:r>
            <a:r>
              <a:rPr lang="en-US" dirty="0"/>
              <a:t> </a:t>
            </a:r>
            <a:r>
              <a:rPr dirty="0"/>
              <a:t>real objective and rules</a:t>
            </a:r>
            <a:endParaRPr lang="en-US" dirty="0"/>
          </a:p>
          <a:p>
            <a:pPr marL="171450" indent="-171450">
              <a:buFontTx/>
              <a:buChar char="-"/>
            </a:pPr>
            <a:r>
              <a:rPr lang="en-US" dirty="0"/>
              <a:t>T</a:t>
            </a:r>
            <a:r>
              <a:rPr dirty="0"/>
              <a:t>he software computes what the model says</a:t>
            </a:r>
            <a:endParaRPr lang="en-US" dirty="0"/>
          </a:p>
          <a:p>
            <a:pPr marL="171450" indent="-171450">
              <a:buFontTx/>
              <a:buChar char="-"/>
            </a:pPr>
            <a:endParaRPr lang="en-US" dirty="0"/>
          </a:p>
          <a:p>
            <a:pPr marL="0" indent="0">
              <a:buFontTx/>
              <a:buNone/>
            </a:pPr>
            <a:r>
              <a:rPr lang="en-US" dirty="0"/>
              <a:t>Basically: solving the right problem, and doing it right: validation &amp; verification.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STORY TALKING POINTS</a:t>
            </a:r>
          </a:p>
          <a:p>
            <a:pPr marL="171450" indent="-171450">
              <a:buFontTx/>
              <a:buChar char="-"/>
            </a:pPr>
            <a:r>
              <a:rPr lang="en-US" dirty="0"/>
              <a:t>Each translation may have errors:</a:t>
            </a:r>
          </a:p>
          <a:p>
            <a:pPr marL="171450" indent="-171450">
              <a:buFontTx/>
              <a:buChar char="-"/>
            </a:pPr>
            <a:r>
              <a:rPr lang="en-US" dirty="0"/>
              <a:t>The first one: </a:t>
            </a:r>
          </a:p>
          <a:p>
            <a:pPr marL="628650" lvl="1" indent="-171450">
              <a:buFontTx/>
              <a:buChar char="-"/>
            </a:pPr>
            <a:r>
              <a:rPr lang="en-US" dirty="0"/>
              <a:t>Misunderstanding of the business problem</a:t>
            </a:r>
          </a:p>
          <a:p>
            <a:pPr marL="628650" lvl="1" indent="-171450">
              <a:buFontTx/>
              <a:buChar char="-"/>
            </a:pPr>
            <a:r>
              <a:rPr lang="en-US" dirty="0"/>
              <a:t>Over simplification</a:t>
            </a:r>
          </a:p>
          <a:p>
            <a:pPr marL="628650" lvl="1" indent="-171450">
              <a:buFontTx/>
              <a:buChar char="-"/>
            </a:pPr>
            <a:r>
              <a:rPr lang="en-US" dirty="0"/>
              <a:t>Under simplification</a:t>
            </a:r>
          </a:p>
          <a:p>
            <a:pPr marL="171450" lvl="0" indent="-171450">
              <a:buFontTx/>
              <a:buChar char="-"/>
            </a:pPr>
            <a:r>
              <a:rPr lang="en-US" dirty="0"/>
              <a:t>The second one:</a:t>
            </a:r>
          </a:p>
          <a:p>
            <a:pPr marL="628650" lvl="1" indent="-171450">
              <a:buFontTx/>
              <a:buChar char="-"/>
            </a:pPr>
            <a:r>
              <a:rPr lang="en-US" dirty="0"/>
              <a:t>Code does not do what it is supposed to do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D472E-C074-5588-B3A4-1B58C67DBA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EC3150-96EC-9043-DF51-290D227CD0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646C3F4-313F-48C3-69D1-FCA7EFD967D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83A0F93-EF18-AF01-C975-9C6BCC45B4AA}"/>
              </a:ext>
            </a:extLst>
          </p:cNvPr>
          <p:cNvSpPr>
            <a:spLocks noGrp="1"/>
          </p:cNvSpPr>
          <p:nvPr>
            <p:ph type="sldNum" sz="quarter" idx="5"/>
          </p:nvPr>
        </p:nvSpPr>
        <p:spPr/>
      </p:sp>
    </p:spTree>
    <p:extLst>
      <p:ext uri="{BB962C8B-B14F-4D97-AF65-F5344CB8AC3E}">
        <p14:creationId xmlns:p14="http://schemas.microsoft.com/office/powerpoint/2010/main" val="211211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AE576-97DB-254C-B8F4-AEC3BEAFD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5DBAE0-287E-7935-3C89-6AE074B567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111A7BC-9614-1F24-BD6C-6FC6F4A393B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362712A-F3AF-173F-C029-F1F9F0B31C33}"/>
              </a:ext>
            </a:extLst>
          </p:cNvPr>
          <p:cNvSpPr>
            <a:spLocks noGrp="1"/>
          </p:cNvSpPr>
          <p:nvPr>
            <p:ph type="sldNum" sz="quarter" idx="5"/>
          </p:nvPr>
        </p:nvSpPr>
        <p:spPr/>
      </p:sp>
    </p:spTree>
    <p:extLst>
      <p:ext uri="{BB962C8B-B14F-4D97-AF65-F5344CB8AC3E}">
        <p14:creationId xmlns:p14="http://schemas.microsoft.com/office/powerpoint/2010/main" val="15542470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E5A00-C65C-9A91-AB1F-7843A51CB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05DC59-DB2E-EE70-EF16-C926967550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18FF6C6-C3D1-BE7F-DC35-E92EFD703F4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0118B22-8694-79F6-D061-0B4B3F14DD6E}"/>
              </a:ext>
            </a:extLst>
          </p:cNvPr>
          <p:cNvSpPr>
            <a:spLocks noGrp="1"/>
          </p:cNvSpPr>
          <p:nvPr>
            <p:ph type="sldNum" sz="quarter" idx="5"/>
          </p:nvPr>
        </p:nvSpPr>
        <p:spPr/>
      </p:sp>
    </p:spTree>
    <p:extLst>
      <p:ext uri="{BB962C8B-B14F-4D97-AF65-F5344CB8AC3E}">
        <p14:creationId xmlns:p14="http://schemas.microsoft.com/office/powerpoint/2010/main" val="42240173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B53C3-89CE-57F7-26A6-685CA2CA6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0C246-7ABB-7F3E-758A-EF987CCE344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1EC336F-FFD8-1482-45BC-C45B3E5F684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F43EAEB-1E08-CB83-7153-015949A4DADF}"/>
              </a:ext>
            </a:extLst>
          </p:cNvPr>
          <p:cNvSpPr>
            <a:spLocks noGrp="1"/>
          </p:cNvSpPr>
          <p:nvPr>
            <p:ph type="sldNum" sz="quarter" idx="5"/>
          </p:nvPr>
        </p:nvSpPr>
        <p:spPr/>
      </p:sp>
    </p:spTree>
    <p:extLst>
      <p:ext uri="{BB962C8B-B14F-4D97-AF65-F5344CB8AC3E}">
        <p14:creationId xmlns:p14="http://schemas.microsoft.com/office/powerpoint/2010/main" val="1221258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AC4C4-FF65-2563-802F-816EAF402D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2BA71-E4CC-2E81-9609-6BC957266B0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7260B7A-459B-5133-C8D7-29B5CA70EF0D}"/>
              </a:ext>
            </a:extLst>
          </p:cNvPr>
          <p:cNvSpPr>
            <a:spLocks noGrp="1"/>
          </p:cNvSpPr>
          <p:nvPr>
            <p:ph type="body" sz="quarter" idx="3"/>
          </p:nvPr>
        </p:nvSpPr>
        <p:spPr/>
        <p:txBody>
          <a:bodyPr/>
          <a:lstStyle/>
          <a:p>
            <a:r>
              <a:rPr lang="en-US" dirty="0"/>
              <a:t>How would you plan your vacations if your family behave like this?</a:t>
            </a:r>
            <a:endParaRPr dirty="0"/>
          </a:p>
        </p:txBody>
      </p:sp>
      <p:sp>
        <p:nvSpPr>
          <p:cNvPr id="4" name="Slide Number Placeholder 3">
            <a:extLst>
              <a:ext uri="{FF2B5EF4-FFF2-40B4-BE49-F238E27FC236}">
                <a16:creationId xmlns:a16="http://schemas.microsoft.com/office/drawing/2014/main" id="{B3CB64E5-8436-1179-4263-C0891150E93F}"/>
              </a:ext>
            </a:extLst>
          </p:cNvPr>
          <p:cNvSpPr>
            <a:spLocks noGrp="1"/>
          </p:cNvSpPr>
          <p:nvPr>
            <p:ph type="sldNum" sz="quarter" idx="5"/>
          </p:nvPr>
        </p:nvSpPr>
        <p:spPr/>
      </p:sp>
    </p:spTree>
    <p:extLst>
      <p:ext uri="{BB962C8B-B14F-4D97-AF65-F5344CB8AC3E}">
        <p14:creationId xmlns:p14="http://schemas.microsoft.com/office/powerpoint/2010/main" val="19641693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B2DFA-7EC7-0FFE-4D4A-B8C2C4C13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BF2F6-DFF2-56BD-F64E-8F5611EFD76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4462F48-B822-D853-98CA-2D21CF0BF1C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DA3FC28-6EFA-A6A4-601C-5ED0C5288A0D}"/>
              </a:ext>
            </a:extLst>
          </p:cNvPr>
          <p:cNvSpPr>
            <a:spLocks noGrp="1"/>
          </p:cNvSpPr>
          <p:nvPr>
            <p:ph type="sldNum" sz="quarter" idx="5"/>
          </p:nvPr>
        </p:nvSpPr>
        <p:spPr/>
      </p:sp>
    </p:spTree>
    <p:extLst>
      <p:ext uri="{BB962C8B-B14F-4D97-AF65-F5344CB8AC3E}">
        <p14:creationId xmlns:p14="http://schemas.microsoft.com/office/powerpoint/2010/main" val="25054483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08ACA-01EE-96BF-024A-BC6E5F94B2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828794-1053-DFBB-28E8-9148716B557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877F65-9B7C-DC47-6F80-FB3760122D8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B1FCF82-2C49-6673-DFF1-27268C8DA8CF}"/>
              </a:ext>
            </a:extLst>
          </p:cNvPr>
          <p:cNvSpPr>
            <a:spLocks noGrp="1"/>
          </p:cNvSpPr>
          <p:nvPr>
            <p:ph type="sldNum" sz="quarter" idx="5"/>
          </p:nvPr>
        </p:nvSpPr>
        <p:spPr/>
      </p:sp>
    </p:spTree>
    <p:extLst>
      <p:ext uri="{BB962C8B-B14F-4D97-AF65-F5344CB8AC3E}">
        <p14:creationId xmlns:p14="http://schemas.microsoft.com/office/powerpoint/2010/main" val="335417147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 A DSS example design</a:t>
            </a:r>
          </a:p>
          <a:p>
            <a:r>
              <a:t>Suggested elapsed workshop minutes: 51–59 (90 minutes total).</a:t>
            </a:r>
          </a:p>
          <a:p>
            <a:endParaRPr/>
          </a:p>
          <a:p>
            <a:r>
              <a:t>PRESENTER GUIDE</a:t>
            </a:r>
          </a:p>
          <a:p>
            <a:r>
              <a:t>LIVE DEMO: Run python -m cli optimize_cargo SC101 from the prepared environment. Show each stage announcement, then interpret the recommendation: S1–S4, $9,600, 1,000 kg, two customers. Open src/: reading is adapters/json_data_loader.py; preprocessing, optimization and postprocessing are the folders under use_cases/solving/; output is adapters/console_result_writer.py. Explain each module’s single responsibility. Arrows show execution flow rather than dependency direction. Do not write code live. A successful run is not yet evidence of correctness; transition to the tests.</a:t>
            </a:r>
          </a:p>
          <a:p>
            <a:endParaRPr/>
          </a:p>
          <a:p>
            <a:r>
              <a:t>STORY TALKING POINTS</a:t>
            </a:r>
          </a:p>
          <a:p>
            <a:r>
              <a:t>- A DSS is usually divided into the same modules: reading data, preprocessing, optimization,</a:t>
            </a:r>
          </a:p>
          <a:p>
            <a:r>
              <a:t>  postprocessing, and presenting the result.</a:t>
            </a:r>
          </a:p>
          <a:p>
            <a:r>
              <a:t>- Run the first version on flight SC101: the console announces each stage in a box: Read data,</a:t>
            </a:r>
          </a:p>
          <a:p>
            <a:r>
              <a:t>  Preprocess, Solve, Postprocess, Result.</a:t>
            </a:r>
          </a:p>
          <a:p>
            <a:r>
              <a:t>- Open the repository: each box is one place in `src/`. Reading data is</a:t>
            </a:r>
          </a:p>
          <a:p>
            <a:r>
              <a:t>  `adapters/json_data_loader.py`; preprocessing, optimization and postprocessing are folders</a:t>
            </a:r>
          </a:p>
          <a:p>
            <a:r>
              <a:t>  under `use_cases/solving/`; presenting the result is `adapters/console_result_writer.py`.</a:t>
            </a:r>
          </a:p>
          <a:p>
            <a:r>
              <a:t>- Interpret the proposed load with the audience.</a:t>
            </a:r>
          </a:p>
          <a:p>
            <a:r>
              <a:t>- Connecting idea: the program produces a load, but does it compute what the model states? Tests</a:t>
            </a:r>
          </a:p>
          <a:p>
            <a:r>
              <a:t>  are the evidence.</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 What an automated test is</a:t>
            </a:r>
          </a:p>
          <a:p>
            <a:r>
              <a:t>Suggested elapsed workshop minutes: 46–51 (90 minutes total).</a:t>
            </a:r>
          </a:p>
          <a:p>
            <a:endParaRPr/>
          </a:p>
          <a:p>
            <a:r>
              <a:t>PRESENTER GUIDE</a:t>
            </a:r>
          </a:p>
          <a:p>
            <a:r>
              <a:t>READ THE FIGURES: green unit tests check one module in isolation; yellow integration tests check modules with their real collaborators; blue end-to-end tests exercise the whole program. Each highlighted region represents the scope of one example test, not every test the suite contains. The pyramid suggests many fast unit tests, fewer integration tests and a small number of more costly end-to-end tests; it is guidance, not a quota. EVERY LEVEL still follows Arrange, Act, Assert. Explain orally using slide 8 example 1: arrange the 500 kg flight and shipments 500 kg/$3,000, 250 kg/$2,000, 250 kg/$1,800; run the program; assert Bighorn and Cedar, revenue $3,800 and weight 500 kg. A test must compare with an expected answer; merely running the program is not a check. Source: SEFOP book Section 05, unit-test-pyramid.svg and unit-test-levels.svg.</a:t>
            </a:r>
          </a:p>
          <a:p>
            <a:endParaRPr/>
          </a:p>
          <a:p>
            <a:r>
              <a:t>STORY TALKING POINTS</a:t>
            </a:r>
          </a:p>
          <a:p>
            <a:r>
              <a:t>- A test is a small program that runs the code on a case whose right answer is known and checks</a:t>
            </a:r>
          </a:p>
          <a:p>
            <a:r>
              <a:t>  the result. It has three steps: arrange the case, act by running the code, assert the expected</a:t>
            </a:r>
          </a:p>
          <a:p>
            <a:r>
              <a:t>  result.</a:t>
            </a:r>
          </a:p>
          <a:p>
            <a:r>
              <a:t>- A test runner runs every test automatically, in seconds, with the same result each time; a</a:t>
            </a:r>
          </a:p>
          <a:p>
            <a:r>
              <a:t>  failed check names exactly what broke. Run after every change, it shows at once whether the</a:t>
            </a:r>
          </a:p>
          <a:p>
            <a:r>
              <a:t>  change broke something.</a:t>
            </a:r>
          </a:p>
          <a:p>
            <a:r>
              <a:t>- Connecting idea: with design and tests understood, here is how they look in our example,</a:t>
            </a:r>
          </a:p>
          <a:p>
            <a:r>
              <a:t>  starting with its design.</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 | Audience: the planner's examples become acceptance tests</a:t>
            </a:r>
          </a:p>
          <a:p>
            <a:r>
              <a:t>Suggested elapsed workshop minutes: 59–65 (90 minutes total).</a:t>
            </a:r>
          </a:p>
          <a:p>
            <a:endParaRPr/>
          </a:p>
          <a:p>
            <a:r>
              <a:t>PRESENTER GUIDE</a:t>
            </a:r>
          </a:p>
          <a:p>
            <a:r>
              <a:t>ACTIVITY: Ask pairs to predict whether this prepared check would catch ignoring weight capacity and allowing fractional shipments. Require reasoning before the debrief. The expected answer is Atlas only, $3,000 and 300 kg. A capacity defect can select Atlas plus Cedar at 600 kg even if preprocessing already excludes the 900 kg shipment. A fractional model can add part of Cedar after preprocessing and exceed $3,000; if the oversize shipment remains available, the fractional optimum is $5,000. The exact wrong result depends on where the bug is introduced. The expected-load/revenue assertion detects those behaviors. Example 1 does not distinguish fractional and binary optimal solutions. LIVE DEMO: open tests/integration/test_situations.py and tests/resources/oversize_shipment_left_behind/data.json, then run pytest. These test functions run the real CLI and real solver even though they use the integration marker. Explain that acceptance describes the promised business behavior, whereas unit/integration/end-to-end describes execution scope. Passing tests give evidence for the covered cases, not proof that no bugs exist.</a:t>
            </a:r>
          </a:p>
          <a:p>
            <a:endParaRPr/>
          </a:p>
          <a:p>
            <a:r>
              <a:t>STORY TALKING POINTS</a:t>
            </a:r>
          </a:p>
          <a:p>
            <a:r>
              <a:t>- Example 2 of slide 8 as a test. Arrange: a 500 kg limit; shipments of 300 kg for $3,000, 900 kg</a:t>
            </a:r>
          </a:p>
          <a:p>
            <a:r>
              <a:t>  for $9,000, and 300 kg for $800. Act: ask for a load. Assert: only the first shipment flies,</a:t>
            </a:r>
          </a:p>
          <a:p>
            <a:r>
              <a:t>  earning $3,000.</a:t>
            </a:r>
          </a:p>
          <a:p>
            <a:r>
              <a:t>- Predict with your partner: would this test catch code that ignores the weight limit? Code that</a:t>
            </a:r>
          </a:p>
          <a:p>
            <a:r>
              <a:t>  splits a shipment?</a:t>
            </a:r>
          </a:p>
          <a:p>
            <a:r>
              <a:t>- Then open the repository: the planner's examples are stored as test flights and run with every</a:t>
            </a:r>
          </a:p>
          <a:p>
            <a:r>
              <a:t>  other test.</a:t>
            </a:r>
          </a:p>
          <a:p>
            <a:r>
              <a:t>- Connecting idea: the tests pass, so the first version is verified and goes into the planner's</a:t>
            </a:r>
          </a:p>
          <a:p>
            <a:r>
              <a:t>  hands.</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 The cycle runs again: the planner asks for client diversity</a:t>
            </a:r>
          </a:p>
          <a:p>
            <a:r>
              <a:t>Suggested elapsed workshop minutes: 65–71 (90 minutes total).</a:t>
            </a:r>
          </a:p>
          <a:p>
            <a:endParaRPr/>
          </a:p>
          <a:p>
            <a:r>
              <a:t>PRESENTER GUIDE</a:t>
            </a:r>
          </a:p>
          <a:p>
            <a:r>
              <a:t>SECOND TURN, NOT A FEATURE DEMO: On SC101, S1–S4 serve Atlas and Bighorn only; Cedar, Dune, Elk and Fremont have nothing. The planner asks to serve more distinct customers within an acceptable revenue sacrifice. A customer counts once even when several shipments fly. Revisit requirements, examples, model, code, tests, local deployment and use. Do not show an implemented diversity model, new command, allowance values or computed alternatives. Aircraft weight remains hard. Modular design and tests make this next turn manageable.</a:t>
            </a:r>
          </a:p>
          <a:p>
            <a:endParaRPr/>
          </a:p>
          <a:p>
            <a:r>
              <a:t>STORY TALKING POINTS</a:t>
            </a:r>
          </a:p>
          <a:p>
            <a:r>
              <a:t>- In use, the planner notices that four of the six customers get nothing on a flight, and asks</a:t>
            </a:r>
          </a:p>
          <a:p>
            <a:r>
              <a:t>  the tool to serve more customers within an acceptable revenue sacrifice.</a:t>
            </a:r>
          </a:p>
          <a:p>
            <a:r>
              <a:t>- The request goes round the same cycle: validate it with user stories, examples and a new model;</a:t>
            </a:r>
          </a:p>
          <a:p>
            <a:r>
              <a:t>  verify it with design and tests; deploy it; use it. Modular, tested software is what makes the</a:t>
            </a:r>
          </a:p>
          <a:p>
            <a:r>
              <a:t>  second round fast and safe.</a:t>
            </a:r>
          </a:p>
          <a:p>
            <a:r>
              <a:t>- Connecting idea: every round asks for the same skills; zooming out, here is what this</a:t>
            </a:r>
          </a:p>
          <a:p>
            <a:r>
              <a:t>  profession needs.</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265E-8522-2EF8-2153-8307665AA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9664D3-E6F9-1EB4-7CEA-067D0E55DAB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24DD203-9C1D-2194-9BD4-CF103C387E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DE34F74-2CD4-00A5-CEF5-F28FA9B85D17}"/>
              </a:ext>
            </a:extLst>
          </p:cNvPr>
          <p:cNvSpPr>
            <a:spLocks noGrp="1"/>
          </p:cNvSpPr>
          <p:nvPr>
            <p:ph type="sldNum" sz="quarter" idx="5"/>
          </p:nvPr>
        </p:nvSpPr>
        <p:spPr/>
      </p:sp>
    </p:spTree>
    <p:extLst>
      <p:ext uri="{BB962C8B-B14F-4D97-AF65-F5344CB8AC3E}">
        <p14:creationId xmlns:p14="http://schemas.microsoft.com/office/powerpoint/2010/main" val="5350868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16 | What this profession needs</a:t>
            </a:r>
          </a:p>
          <a:p>
            <a:r>
              <a:t>Suggested elapsed workshop minutes: 71–76 (90 minutes total).</a:t>
            </a:r>
          </a:p>
          <a:p>
            <a:endParaRPr/>
          </a:p>
          <a:p>
            <a:r>
              <a:t>PRESENTER GUIDE</a:t>
            </a:r>
          </a:p>
          <a:p>
            <a:r>
              <a:t>THREE ELEMENTS, IN FRANCISCO’S OWN WORDS: Business skills. Software skills. People skills. Connect each to your own experience and to the audience’s career opportunities. Leave the screen simple and elaborate verbally. No invented personal anecdote, job history, credential or separate career track has been added.</a:t>
            </a:r>
          </a:p>
          <a:p>
            <a:endParaRPr/>
          </a:p>
          <a:p>
            <a:r>
              <a:t>STORY TALKING POINTS</a:t>
            </a:r>
          </a:p>
          <a:p>
            <a:r>
              <a:t>- Business skills.</a:t>
            </a:r>
          </a:p>
          <a:p>
            <a:r>
              <a:t>- Software skills.</a:t>
            </a:r>
          </a:p>
          <a:p>
            <a:r>
              <a:t>- People skills.</a:t>
            </a:r>
          </a:p>
          <a:p>
            <a:r>
              <a:t>- Connect those skills to Francisco's experience and to students' career opportunities.</a:t>
            </a:r>
          </a:p>
          <a:p>
            <a:r>
              <a:t>- Connecting idea: one workshop shows the tip of these skills; SEFOP is where to keep learning.</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17 | SEFOP: where to keep learning</a:t>
            </a:r>
          </a:p>
          <a:p>
            <a:r>
              <a:rPr dirty="0"/>
              <a:t>Suggested elapsed workshop minutes: 76–80 (90 minutes total).</a:t>
            </a:r>
          </a:p>
          <a:p>
            <a:endParaRPr dirty="0"/>
          </a:p>
          <a:p>
            <a:r>
              <a:rPr dirty="0"/>
              <a:t>PRESENTER GUIDE</a:t>
            </a:r>
          </a:p>
          <a:p>
            <a:r>
              <a:rPr dirty="0"/>
              <a:t>RESOURCES: Read the book: https://github.com/sefop/sefop-training-hub . Run this workshop: https://github.com/sefop/sefop-sctc-2026 . Ask questions: https://github.com/sefop/sefop-training-hub/discussions . The QR opens the training hub. All three resource labels are clickable. The training hub also points to the SEFOP organization’s discussion board at https://github.com/orgs/sefop/discussions . Explain where the lifecycle, design and testing chapters can be found; invite attendees to keep learning and try the program after the workshop.</a:t>
            </a:r>
          </a:p>
          <a:p>
            <a:endParaRPr dirty="0"/>
          </a:p>
          <a:p>
            <a:r>
              <a:rPr dirty="0"/>
              <a:t>STORY TALKING POINTS</a:t>
            </a:r>
          </a:p>
          <a:p>
            <a:r>
              <a:rPr dirty="0"/>
              <a:t>- The SEFOP training hub and its book: github.com/</a:t>
            </a:r>
            <a:r>
              <a:rPr dirty="0" err="1"/>
              <a:t>sefop</a:t>
            </a:r>
            <a:r>
              <a:rPr dirty="0"/>
              <a:t>/</a:t>
            </a:r>
            <a:r>
              <a:rPr dirty="0" err="1"/>
              <a:t>sefop</a:t>
            </a:r>
            <a:r>
              <a:rPr dirty="0"/>
              <a:t>-training-hub</a:t>
            </a:r>
          </a:p>
          <a:p>
            <a:r>
              <a:rPr dirty="0"/>
              <a:t>- This workshop's repository, to run and read at home: github.com/</a:t>
            </a:r>
            <a:r>
              <a:rPr dirty="0" err="1"/>
              <a:t>sefop</a:t>
            </a:r>
            <a:r>
              <a:rPr dirty="0"/>
              <a:t>/sefop-sctc-2026</a:t>
            </a:r>
          </a:p>
          <a:p>
            <a:r>
              <a:rPr dirty="0"/>
              <a:t>- The discussion board, for questions after today: github.com/</a:t>
            </a:r>
            <a:r>
              <a:rPr dirty="0" err="1"/>
              <a:t>sefop</a:t>
            </a:r>
            <a:r>
              <a:rPr dirty="0"/>
              <a:t>/</a:t>
            </a:r>
            <a:r>
              <a:rPr dirty="0" err="1"/>
              <a:t>sefop</a:t>
            </a:r>
            <a:r>
              <a:rPr dirty="0"/>
              <a:t>-training-hub/discussions</a:t>
            </a:r>
          </a:p>
          <a:p>
            <a:r>
              <a:rPr dirty="0"/>
              <a:t>- Connecting idea: with the materials shared, the floor opens for questions.</a:t>
            </a:r>
          </a:p>
          <a:p>
            <a:endParaRPr dirty="0"/>
          </a:p>
          <a:p>
            <a:r>
              <a:rPr dirty="0"/>
              <a:t>Workshop source: assets/slide-story.md. Format reference: AGIFORS Annual Symposium 2026 deck.</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18 | Questions and discussion</a:t>
            </a:r>
          </a:p>
          <a:p>
            <a:r>
              <a:t>Suggested elapsed workshop minutes: 80–90 (90 minutes total).</a:t>
            </a:r>
          </a:p>
          <a:p>
            <a:endParaRPr/>
          </a:p>
          <a:p>
            <a:r>
              <a:t>PRESENTER GUIDE</a:t>
            </a:r>
          </a:p>
          <a:p>
            <a:r>
              <a:t>DISCUSSION, 10 MINUTES: What remains unclear about turning a business request into decision-support software? Where would you apply learning and adaptation in your own project? Leave the QR visible throughout. If questions slow, invite an example from a student project and trace its next request through validation and verification. Close by returning to the cycle: the next business request begins another turn.</a:t>
            </a:r>
          </a:p>
          <a:p>
            <a:endParaRPr/>
          </a:p>
          <a:p>
            <a:r>
              <a:t>STORY TALKING POINTS</a:t>
            </a:r>
          </a:p>
          <a:p>
            <a:r>
              <a:t>- What remains unclear about turning a business request into decision-support software?</a:t>
            </a:r>
          </a:p>
          <a:p>
            <a:r>
              <a:t>- Where would you apply learning and adaptation in your own project?</a:t>
            </a:r>
          </a:p>
          <a:p>
            <a:r>
              <a:t>- Connecting idea: there is no next slide; the next business request starts validation and</a:t>
            </a:r>
          </a:p>
          <a:p>
            <a:r>
              <a:t>  verification again, back round the cycle of slide 5.</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919834B-6ACA-4DCF-8FEC-6DA8D66A44FF}"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8F42BB-FC80-4FC9-8097-46A38978D0E1}"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BBA1B7-07B7-4C4D-A283-31F92FCE7F90}"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2BE28-8FDB-46DB-9BF4-C7F10DE8AB14}"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66E0DE1-8F39-4938-B8BB-11B784D0D403}" type="datetime1">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7625D38-E93F-4B5A-AFA9-AE8C21D29AF9}" type="datetime1">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0F8584-AEAC-4A7C-A864-63761EEEF0A2}" type="datetime1">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9839325"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BDF40DB-43C0-41DD-BC40-EAE2D5C708F7}"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BA1139-968A-4504-947F-5E3A1813CD5D}"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68F49B-A3CC-4BCE-A523-ADBE2BA279CF}"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E2D9F92-2623-4FF3-B5E5-906F0EF44E98}"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AF699-2753-49E1-9105-B789148E0EA9}" type="datetime1">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7.svg"/></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www.informs.org/Professional-Development/INFORMS-Analytics-Framework/Explore"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3.jpg"/></Relationships>
</file>

<file path=ppt/slides/_rels/slide1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19.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sefop/sefop-training-hub" TargetMode="External"/><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hyperlink" Target="https://github.com/sefop/sefop-training-hub/discussions" TargetMode="External"/><Relationship Id="rId4" Type="http://schemas.openxmlformats.org/officeDocument/2006/relationships/hyperlink" Target="https://github.com/sefop/sefop-sctc-2026"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hyperlink" Target="https://github.com/sefop/sefop-training-hub"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42B"/>
        </a:solidFill>
        <a:effectLst/>
      </p:bgPr>
    </p:bg>
    <p:spTree>
      <p:nvGrpSpPr>
        <p:cNvPr id="1" name=""/>
        <p:cNvGrpSpPr/>
        <p:nvPr/>
      </p:nvGrpSpPr>
      <p:grpSpPr>
        <a:xfrm>
          <a:off x="0" y="0"/>
          <a:ext cx="0" cy="0"/>
          <a:chOff x="0" y="0"/>
          <a:chExt cx="0" cy="0"/>
        </a:xfrm>
      </p:grpSpPr>
      <p:sp>
        <p:nvSpPr>
          <p:cNvPr id="5" name="TextBox 4"/>
          <p:cNvSpPr txBox="1"/>
          <p:nvPr/>
        </p:nvSpPr>
        <p:spPr>
          <a:xfrm>
            <a:off x="685800" y="615880"/>
            <a:ext cx="9601200" cy="276999"/>
          </a:xfrm>
          <a:prstGeom prst="rect">
            <a:avLst/>
          </a:prstGeom>
          <a:noFill/>
        </p:spPr>
        <p:txBody>
          <a:bodyPr wrap="square" lIns="0" tIns="0" rIns="0" bIns="0" anchor="ctr">
            <a:spAutoFit/>
          </a:bodyPr>
          <a:lstStyle/>
          <a:p>
            <a:pPr algn="l"/>
            <a:r>
              <a:rPr lang="en-US" sz="1800" b="0" dirty="0">
                <a:solidFill>
                  <a:srgbClr val="E2EBF2"/>
                </a:solidFill>
                <a:latin typeface="Aptos"/>
              </a:rPr>
              <a:t>Southern Colorado Transportation Conference 2026</a:t>
            </a:r>
            <a:endParaRPr sz="1800" b="0" dirty="0">
              <a:solidFill>
                <a:srgbClr val="E2EBF2"/>
              </a:solidFill>
              <a:latin typeface="Aptos"/>
            </a:endParaRPr>
          </a:p>
        </p:txBody>
      </p:sp>
      <p:sp>
        <p:nvSpPr>
          <p:cNvPr id="6" name="TextBox 5"/>
          <p:cNvSpPr txBox="1"/>
          <p:nvPr/>
        </p:nvSpPr>
        <p:spPr>
          <a:xfrm>
            <a:off x="1085850" y="1933778"/>
            <a:ext cx="10058400" cy="1107996"/>
          </a:xfrm>
          <a:prstGeom prst="rect">
            <a:avLst/>
          </a:prstGeom>
          <a:solidFill>
            <a:srgbClr val="07142B"/>
          </a:solidFill>
        </p:spPr>
        <p:txBody>
          <a:bodyPr wrap="square" lIns="0" tIns="0" rIns="0" bIns="0" anchor="ctr">
            <a:spAutoFit/>
          </a:bodyPr>
          <a:lstStyle/>
          <a:p>
            <a:pPr algn="ctr"/>
            <a:r>
              <a:rPr lang="en-US" sz="4000" b="1" dirty="0">
                <a:solidFill>
                  <a:schemeClr val="bg1"/>
                </a:solidFill>
                <a:latin typeface="Aptos Display"/>
              </a:rPr>
              <a:t>Airlines Optimization Workshop:</a:t>
            </a:r>
          </a:p>
          <a:p>
            <a:pPr algn="ctr"/>
            <a:r>
              <a:rPr lang="en-US" sz="3200" dirty="0">
                <a:solidFill>
                  <a:schemeClr val="bg1"/>
                </a:solidFill>
                <a:latin typeface="Aptos Display"/>
              </a:rPr>
              <a:t>Industry best practices for a decision-support system</a:t>
            </a:r>
            <a:endParaRPr sz="3200" dirty="0">
              <a:solidFill>
                <a:schemeClr val="bg1"/>
              </a:solidFill>
              <a:latin typeface="Aptos Display"/>
            </a:endParaRPr>
          </a:p>
        </p:txBody>
      </p:sp>
      <p:sp>
        <p:nvSpPr>
          <p:cNvPr id="7" name="Rectangle 6"/>
          <p:cNvSpPr/>
          <p:nvPr/>
        </p:nvSpPr>
        <p:spPr>
          <a:xfrm>
            <a:off x="685800" y="3834187"/>
            <a:ext cx="1051560" cy="54864"/>
          </a:xfrm>
          <a:prstGeom prst="rect">
            <a:avLst/>
          </a:prstGeom>
          <a:solidFill>
            <a:srgbClr val="F97316"/>
          </a:solidFill>
          <a:ln>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0" y="4591500"/>
            <a:ext cx="12192000" cy="984885"/>
          </a:xfrm>
          <a:prstGeom prst="rect">
            <a:avLst/>
          </a:prstGeom>
          <a:noFill/>
        </p:spPr>
        <p:txBody>
          <a:bodyPr wrap="square" lIns="0" tIns="0" rIns="0" bIns="0" anchor="ctr">
            <a:spAutoFit/>
          </a:bodyPr>
          <a:lstStyle/>
          <a:p>
            <a:pPr algn="ctr"/>
            <a:r>
              <a:rPr sz="2800" b="1" dirty="0">
                <a:solidFill>
                  <a:srgbClr val="FFFFFF"/>
                </a:solidFill>
                <a:latin typeface="Aptos"/>
              </a:rPr>
              <a:t>Francisco Zenteno Smith</a:t>
            </a:r>
            <a:endParaRPr lang="en-US" sz="2800" b="1" dirty="0">
              <a:solidFill>
                <a:srgbClr val="FFFFFF"/>
              </a:solidFill>
              <a:latin typeface="Aptos"/>
            </a:endParaRPr>
          </a:p>
          <a:p>
            <a:pPr algn="ctr"/>
            <a:r>
              <a:rPr lang="en-US" dirty="0">
                <a:solidFill>
                  <a:srgbClr val="FFFFFF"/>
                </a:solidFill>
                <a:latin typeface="Aptos"/>
              </a:rPr>
              <a:t>Senior Operations Research Scientist</a:t>
            </a:r>
          </a:p>
          <a:p>
            <a:pPr algn="ctr"/>
            <a:r>
              <a:rPr lang="en-US" dirty="0">
                <a:solidFill>
                  <a:srgbClr val="FFFFFF"/>
                </a:solidFill>
                <a:latin typeface="Aptos"/>
              </a:rPr>
              <a:t>American Airlines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About me</a:t>
            </a:r>
            <a:endParaRPr sz="4000" b="1" dirty="0">
              <a:solidFill>
                <a:srgbClr val="0F2343"/>
              </a:solidFill>
              <a:latin typeface="Aptos Display"/>
            </a:endParaRP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79ACB328-ACAC-BB7F-0A9C-8C534476800F}"/>
              </a:ext>
            </a:extLst>
          </p:cNvPr>
          <p:cNvSpPr txBox="1"/>
          <p:nvPr/>
        </p:nvSpPr>
        <p:spPr>
          <a:xfrm>
            <a:off x="502920" y="2149419"/>
            <a:ext cx="8046720" cy="3046988"/>
          </a:xfrm>
          <a:prstGeom prst="rect">
            <a:avLst/>
          </a:prstGeom>
          <a:noFill/>
        </p:spPr>
        <p:txBody>
          <a:bodyPr wrap="square">
            <a:spAutoFit/>
          </a:bodyPr>
          <a:lstStyle/>
          <a:p>
            <a:pPr algn="l"/>
            <a:r>
              <a:rPr sz="2400" b="0" i="0" dirty="0">
                <a:solidFill>
                  <a:srgbClr val="2D3748"/>
                </a:solidFill>
                <a:latin typeface="Aptos" panose="020B0004020202020204" pitchFamily="34" charset="0"/>
              </a:rPr>
              <a:t>Senior Operations Research Scientist</a:t>
            </a:r>
            <a:r>
              <a:rPr lang="en-US" sz="2400" b="0" i="0" dirty="0">
                <a:solidFill>
                  <a:srgbClr val="2D3748"/>
                </a:solidFill>
                <a:latin typeface="Aptos" panose="020B0004020202020204" pitchFamily="34" charset="0"/>
              </a:rPr>
              <a:t> at </a:t>
            </a:r>
            <a:r>
              <a:rPr sz="2400" b="0" i="0" dirty="0">
                <a:solidFill>
                  <a:srgbClr val="2D3748"/>
                </a:solidFill>
                <a:latin typeface="Aptos" panose="020B0004020202020204" pitchFamily="34" charset="0"/>
              </a:rPr>
              <a:t>
</a:t>
            </a:r>
            <a:r>
              <a:rPr lang="en-US" sz="2400" dirty="0">
                <a:solidFill>
                  <a:srgbClr val="2D3748"/>
                </a:solidFill>
                <a:latin typeface="Aptos" panose="020B0004020202020204" pitchFamily="34" charset="0"/>
              </a:rPr>
              <a:t>&gt; 10</a:t>
            </a:r>
            <a:r>
              <a:rPr sz="2400" b="0" i="0" dirty="0">
                <a:solidFill>
                  <a:srgbClr val="2D3748"/>
                </a:solidFill>
                <a:latin typeface="Aptos" panose="020B0004020202020204" pitchFamily="34" charset="0"/>
              </a:rPr>
              <a:t> years in applied Operations Research.</a:t>
            </a:r>
            <a:endParaRPr lang="en-US" sz="2400" b="0" i="0" dirty="0">
              <a:solidFill>
                <a:srgbClr val="2D3748"/>
              </a:solidFill>
              <a:latin typeface="Aptos" panose="020B0004020202020204" pitchFamily="34" charset="0"/>
            </a:endParaRPr>
          </a:p>
          <a:p>
            <a:pPr algn="l"/>
            <a:endParaRPr lang="en-US" sz="2400" dirty="0">
              <a:solidFill>
                <a:srgbClr val="2D3748"/>
              </a:solidFill>
              <a:latin typeface="Aptos" panose="020B0004020202020204" pitchFamily="34" charset="0"/>
            </a:endParaRPr>
          </a:p>
          <a:p>
            <a:pPr algn="l"/>
            <a:r>
              <a:rPr lang="en-US" sz="2400" dirty="0">
                <a:solidFill>
                  <a:srgbClr val="2D3748"/>
                </a:solidFill>
                <a:latin typeface="Aptos" panose="020B0004020202020204" pitchFamily="34" charset="0"/>
              </a:rPr>
              <a:t>Education</a:t>
            </a:r>
          </a:p>
          <a:p>
            <a:pPr marL="342900" indent="-342900" algn="l">
              <a:buFontTx/>
              <a:buChar char="-"/>
            </a:pPr>
            <a:r>
              <a:rPr lang="en-US" sz="2400" b="0" i="0" dirty="0">
                <a:solidFill>
                  <a:srgbClr val="2D3748"/>
                </a:solidFill>
                <a:latin typeface="Aptos" panose="020B0004020202020204" pitchFamily="34" charset="0"/>
              </a:rPr>
              <a:t>Bache</a:t>
            </a:r>
            <a:r>
              <a:rPr lang="en-US" sz="2400" dirty="0">
                <a:solidFill>
                  <a:srgbClr val="2D3748"/>
                </a:solidFill>
                <a:latin typeface="Aptos" panose="020B0004020202020204" pitchFamily="34" charset="0"/>
              </a:rPr>
              <a:t>lors in Industrial Engineering PUC</a:t>
            </a:r>
          </a:p>
          <a:p>
            <a:pPr marL="342900" indent="-342900" algn="l">
              <a:buFontTx/>
              <a:buChar char="-"/>
            </a:pPr>
            <a:r>
              <a:rPr lang="en-US" sz="2400" b="0" i="0" dirty="0">
                <a:solidFill>
                  <a:srgbClr val="2D3748"/>
                </a:solidFill>
                <a:latin typeface="Aptos" panose="020B0004020202020204" pitchFamily="34" charset="0"/>
              </a:rPr>
              <a:t>Masters in Operations Research PUC</a:t>
            </a:r>
            <a:r>
              <a:rPr sz="2400" b="0" i="0" dirty="0">
                <a:solidFill>
                  <a:srgbClr val="2D3748"/>
                </a:solidFill>
                <a:latin typeface="Aptos" panose="020B0004020202020204" pitchFamily="34" charset="0"/>
              </a:rPr>
              <a:t>
</a:t>
            </a:r>
            <a:r>
              <a:rPr lang="en-US" sz="2400" b="0" i="0" dirty="0">
                <a:solidFill>
                  <a:srgbClr val="2D3748"/>
                </a:solidFill>
                <a:latin typeface="Aptos" panose="020B0004020202020204" pitchFamily="34" charset="0"/>
              </a:rPr>
              <a:t>Masters in Computer Science UCSD</a:t>
            </a:r>
          </a:p>
          <a:p>
            <a:pPr marL="342900" indent="-342900" algn="l">
              <a:buFontTx/>
              <a:buChar char="-"/>
            </a:pPr>
            <a:endParaRPr lang="en-US" sz="2400" dirty="0">
              <a:solidFill>
                <a:srgbClr val="2D3748"/>
              </a:solidFill>
              <a:latin typeface="Aptos" panose="020B0004020202020204" pitchFamily="34" charset="0"/>
            </a:endParaRPr>
          </a:p>
        </p:txBody>
      </p:sp>
      <p:pic>
        <p:nvPicPr>
          <p:cNvPr id="23" name="Picture 22">
            <a:extLst>
              <a:ext uri="{FF2B5EF4-FFF2-40B4-BE49-F238E27FC236}">
                <a16:creationId xmlns:a16="http://schemas.microsoft.com/office/drawing/2014/main" id="{CDAE9276-8ADB-3660-AAAE-29013FB3AEE8}"/>
              </a:ext>
            </a:extLst>
          </p:cNvPr>
          <p:cNvPicPr>
            <a:picLocks noChangeAspect="1"/>
          </p:cNvPicPr>
          <p:nvPr/>
        </p:nvPicPr>
        <p:blipFill>
          <a:blip r:embed="rId3"/>
          <a:stretch>
            <a:fillRect/>
          </a:stretch>
        </p:blipFill>
        <p:spPr>
          <a:xfrm>
            <a:off x="6378514" y="3112198"/>
            <a:ext cx="2171126" cy="2917994"/>
          </a:xfrm>
          <a:prstGeom prst="rect">
            <a:avLst/>
          </a:prstGeom>
        </p:spPr>
      </p:pic>
      <p:pic>
        <p:nvPicPr>
          <p:cNvPr id="25" name="Picture 24" descr="UCSD Logo, symbol, meaning, history, PNG, brand">
            <a:extLst>
              <a:ext uri="{FF2B5EF4-FFF2-40B4-BE49-F238E27FC236}">
                <a16:creationId xmlns:a16="http://schemas.microsoft.com/office/drawing/2014/main" id="{B9BE2318-8370-26EF-19AA-AC06A952EA0C}"/>
              </a:ext>
            </a:extLst>
          </p:cNvPr>
          <p:cNvPicPr>
            <a:picLocks noChangeAspect="1"/>
          </p:cNvPicPr>
          <p:nvPr/>
        </p:nvPicPr>
        <p:blipFill>
          <a:blip r:embed="rId4"/>
          <a:stretch>
            <a:fillRect/>
          </a:stretch>
        </p:blipFill>
        <p:spPr>
          <a:xfrm>
            <a:off x="8122907" y="3626697"/>
            <a:ext cx="4272878" cy="2403494"/>
          </a:xfrm>
          <a:prstGeom prst="rect">
            <a:avLst/>
          </a:prstGeom>
        </p:spPr>
      </p:pic>
      <p:pic>
        <p:nvPicPr>
          <p:cNvPr id="27" name="Picture 26">
            <a:extLst>
              <a:ext uri="{FF2B5EF4-FFF2-40B4-BE49-F238E27FC236}">
                <a16:creationId xmlns:a16="http://schemas.microsoft.com/office/drawing/2014/main" id="{69C1DB49-576C-5CE9-F049-3370BF077BB5}"/>
              </a:ext>
            </a:extLst>
          </p:cNvPr>
          <p:cNvPicPr>
            <a:picLocks noChangeAspect="1"/>
          </p:cNvPicPr>
          <p:nvPr/>
        </p:nvPicPr>
        <p:blipFill>
          <a:blip r:embed="rId5"/>
          <a:stretch>
            <a:fillRect/>
          </a:stretch>
        </p:blipFill>
        <p:spPr>
          <a:xfrm>
            <a:off x="6096000" y="1855705"/>
            <a:ext cx="5065782" cy="769800"/>
          </a:xfrm>
          <a:prstGeom prst="rect">
            <a:avLst/>
          </a:prstGeom>
        </p:spPr>
      </p:pic>
      <p:sp>
        <p:nvSpPr>
          <p:cNvPr id="28" name="Slide Number Placeholder 27">
            <a:extLst>
              <a:ext uri="{FF2B5EF4-FFF2-40B4-BE49-F238E27FC236}">
                <a16:creationId xmlns:a16="http://schemas.microsoft.com/office/drawing/2014/main" id="{72C2E68E-9C73-91AA-22DB-95809DACBBAD}"/>
              </a:ext>
            </a:extLst>
          </p:cNvP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a:extLst>
            <a:ext uri="{FF2B5EF4-FFF2-40B4-BE49-F238E27FC236}">
              <a16:creationId xmlns:a16="http://schemas.microsoft.com/office/drawing/2014/main" id="{A70D174B-D3BD-AD06-AE89-10A6D68A40CF}"/>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6BAA50DE-F8B3-61FE-2901-B9DB721F725C}"/>
              </a:ext>
            </a:extLst>
          </p:cNvPr>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Resources for today</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2A3D6B22-BE56-9DB2-E73F-2DA91A620841}"/>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 1">
            <a:extLst>
              <a:ext uri="{FF2B5EF4-FFF2-40B4-BE49-F238E27FC236}">
                <a16:creationId xmlns:a16="http://schemas.microsoft.com/office/drawing/2014/main" id="{7C2FCA52-A7C4-401F-1803-7C9924F20017}"/>
              </a:ext>
            </a:extLst>
          </p:cNvPr>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a:t>
            </a:r>
          </a:p>
        </p:txBody>
      </p:sp>
      <p:pic>
        <p:nvPicPr>
          <p:cNvPr id="17" name="Picture 16">
            <a:extLst>
              <a:ext uri="{FF2B5EF4-FFF2-40B4-BE49-F238E27FC236}">
                <a16:creationId xmlns:a16="http://schemas.microsoft.com/office/drawing/2014/main" id="{2449385C-F2CE-AB91-79ED-09774D4DCCAE}"/>
              </a:ext>
            </a:extLst>
          </p:cNvPr>
          <p:cNvPicPr>
            <a:picLocks noChangeAspect="1"/>
          </p:cNvPicPr>
          <p:nvPr/>
        </p:nvPicPr>
        <p:blipFill>
          <a:blip r:embed="rId3"/>
          <a:stretch>
            <a:fillRect/>
          </a:stretch>
        </p:blipFill>
        <p:spPr>
          <a:xfrm>
            <a:off x="5111265" y="-222735"/>
            <a:ext cx="7080735" cy="7080735"/>
          </a:xfrm>
          <a:prstGeom prst="rect">
            <a:avLst/>
          </a:prstGeom>
          <a:ln>
            <a:noFill/>
          </a:ln>
        </p:spPr>
      </p:pic>
      <p:sp>
        <p:nvSpPr>
          <p:cNvPr id="18" name="TextBox 17">
            <a:extLst>
              <a:ext uri="{FF2B5EF4-FFF2-40B4-BE49-F238E27FC236}">
                <a16:creationId xmlns:a16="http://schemas.microsoft.com/office/drawing/2014/main" id="{2FE648C8-27EB-DE2C-822B-40AEA5641233}"/>
              </a:ext>
            </a:extLst>
          </p:cNvPr>
          <p:cNvSpPr txBox="1"/>
          <p:nvPr/>
        </p:nvSpPr>
        <p:spPr>
          <a:xfrm>
            <a:off x="365760" y="2143571"/>
            <a:ext cx="4495607" cy="4370427"/>
          </a:xfrm>
          <a:prstGeom prst="rect">
            <a:avLst/>
          </a:prstGeom>
          <a:noFill/>
        </p:spPr>
        <p:txBody>
          <a:bodyPr wrap="square" tIns="0" rIns="45720" bIns="0">
            <a:spAutoFit/>
          </a:bodyPr>
          <a:lstStyle/>
          <a:p>
            <a:pPr marL="285750" indent="-285750" algn="l">
              <a:buFont typeface="Arial" panose="020B0604020202020204" pitchFamily="34" charset="0"/>
              <a:buChar char="•"/>
            </a:pPr>
            <a:r>
              <a:rPr lang="en-US" sz="2400" dirty="0">
                <a:solidFill>
                  <a:srgbClr val="0F2343"/>
                </a:solidFill>
                <a:latin typeface="Aptos"/>
              </a:rPr>
              <a:t>After the workshop you will have the repo and this ppt to explore it.</a:t>
            </a:r>
          </a:p>
          <a:p>
            <a:pPr marL="285750" indent="-285750" algn="l">
              <a:buFont typeface="Arial" panose="020B0604020202020204" pitchFamily="34" charset="0"/>
              <a:buChar char="•"/>
            </a:pPr>
            <a:endParaRPr lang="en-US" sz="2400" dirty="0">
              <a:solidFill>
                <a:srgbClr val="0F2343"/>
              </a:solidFill>
              <a:latin typeface="Aptos"/>
            </a:endParaRPr>
          </a:p>
          <a:p>
            <a:pPr marL="285750" indent="-285750" algn="l">
              <a:buFont typeface="Arial" panose="020B0604020202020204" pitchFamily="34" charset="0"/>
              <a:buChar char="•"/>
            </a:pPr>
            <a:r>
              <a:rPr lang="en-US" sz="2400" dirty="0">
                <a:solidFill>
                  <a:srgbClr val="0F2343"/>
                </a:solidFill>
                <a:latin typeface="Aptos"/>
              </a:rPr>
              <a:t>No laptop required during the session.</a:t>
            </a:r>
          </a:p>
          <a:p>
            <a:pPr marL="285750" indent="-285750" algn="l">
              <a:buFont typeface="Arial" panose="020B0604020202020204" pitchFamily="34" charset="0"/>
              <a:buChar char="•"/>
            </a:pPr>
            <a:endParaRPr lang="en-US" sz="2400" dirty="0">
              <a:solidFill>
                <a:srgbClr val="0F2343"/>
              </a:solidFill>
              <a:latin typeface="Aptos"/>
            </a:endParaRPr>
          </a:p>
          <a:p>
            <a:pPr marL="285750" indent="-285750" algn="l">
              <a:buFont typeface="Arial" panose="020B0604020202020204" pitchFamily="34" charset="0"/>
              <a:buChar char="•"/>
            </a:pPr>
            <a:r>
              <a:rPr lang="en-US" sz="2400" dirty="0">
                <a:solidFill>
                  <a:srgbClr val="0F2343"/>
                </a:solidFill>
                <a:latin typeface="Aptos"/>
              </a:rPr>
              <a:t>Have some paper and pencil to do some exercises.</a:t>
            </a:r>
          </a:p>
          <a:p>
            <a:pPr marL="285750" indent="-285750" algn="l">
              <a:buFont typeface="Arial" panose="020B0604020202020204" pitchFamily="34" charset="0"/>
              <a:buChar char="•"/>
            </a:pPr>
            <a:endParaRPr lang="en-US" sz="2400" dirty="0">
              <a:solidFill>
                <a:srgbClr val="0F2343"/>
              </a:solidFill>
              <a:latin typeface="Aptos"/>
            </a:endParaRPr>
          </a:p>
          <a:p>
            <a:pPr marL="285750" indent="-285750" algn="l">
              <a:buFont typeface="Arial" panose="020B0604020202020204" pitchFamily="34" charset="0"/>
              <a:buChar char="•"/>
            </a:pPr>
            <a:r>
              <a:rPr lang="en-US" sz="2400" dirty="0">
                <a:solidFill>
                  <a:srgbClr val="0F2343"/>
                </a:solidFill>
                <a:latin typeface="Aptos"/>
              </a:rPr>
              <a:t>Form pairs.</a:t>
            </a:r>
          </a:p>
          <a:p>
            <a:pPr marL="285750" indent="-285750" algn="l">
              <a:buFont typeface="Arial" panose="020B0604020202020204" pitchFamily="34" charset="0"/>
              <a:buChar char="•"/>
            </a:pPr>
            <a:endParaRPr lang="en-US" sz="2000" dirty="0">
              <a:solidFill>
                <a:srgbClr val="0F2343"/>
              </a:solidFill>
              <a:latin typeface="Aptos"/>
            </a:endParaRPr>
          </a:p>
        </p:txBody>
      </p:sp>
      <p:sp>
        <p:nvSpPr>
          <p:cNvPr id="4" name="Slide Number Placeholder 3">
            <a:extLst>
              <a:ext uri="{FF2B5EF4-FFF2-40B4-BE49-F238E27FC236}">
                <a16:creationId xmlns:a16="http://schemas.microsoft.com/office/drawing/2014/main" id="{5403E829-C4C0-5A63-F189-3CD410B47C5A}"/>
              </a:ext>
            </a:extLst>
          </p:cNvPr>
          <p:cNvSpPr>
            <a:spLocks noGrp="1"/>
          </p:cNvSpPr>
          <p:nvPr>
            <p:ph type="sldNum" sz="quarter" idx="12"/>
          </p:nvPr>
        </p:nvSpPr>
        <p:spPr/>
        <p:txBody>
          <a:bodyPr/>
          <a:lstStyle/>
          <a:p>
            <a:fld id="{C1FF6DA9-008F-8B48-92A6-B652298478BF}" type="slidenum">
              <a:rPr lang="en-US" smtClean="0"/>
              <a:t>3</a:t>
            </a:fld>
            <a:endParaRPr lang="en-US"/>
          </a:p>
        </p:txBody>
      </p:sp>
    </p:spTree>
    <p:extLst>
      <p:ext uri="{BB962C8B-B14F-4D97-AF65-F5344CB8AC3E}">
        <p14:creationId xmlns:p14="http://schemas.microsoft.com/office/powerpoint/2010/main" val="3609246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AFC8E-5A3D-EF5A-4EE1-0FB4B9B27FBF}"/>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D53D69C1-E748-DC49-4F94-B8EA4D5C47CC}"/>
              </a:ext>
            </a:extLst>
          </p:cNvPr>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Quick survey</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59FF2C67-A101-B976-4B73-22187AAFFAFB}"/>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 1">
            <a:extLst>
              <a:ext uri="{FF2B5EF4-FFF2-40B4-BE49-F238E27FC236}">
                <a16:creationId xmlns:a16="http://schemas.microsoft.com/office/drawing/2014/main" id="{627F15F6-F56A-C2D3-3B77-FA57A746C54F}"/>
              </a:ext>
            </a:extLst>
          </p:cNvPr>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a:t>
            </a:r>
          </a:p>
        </p:txBody>
      </p:sp>
      <p:sp>
        <p:nvSpPr>
          <p:cNvPr id="18" name="TextBox 17">
            <a:extLst>
              <a:ext uri="{FF2B5EF4-FFF2-40B4-BE49-F238E27FC236}">
                <a16:creationId xmlns:a16="http://schemas.microsoft.com/office/drawing/2014/main" id="{E74E2982-CB64-C618-9508-0B8489BF6B2A}"/>
              </a:ext>
            </a:extLst>
          </p:cNvPr>
          <p:cNvSpPr txBox="1"/>
          <p:nvPr/>
        </p:nvSpPr>
        <p:spPr>
          <a:xfrm>
            <a:off x="502920" y="1995130"/>
            <a:ext cx="4495607" cy="4862870"/>
          </a:xfrm>
          <a:prstGeom prst="rect">
            <a:avLst/>
          </a:prstGeom>
          <a:noFill/>
        </p:spPr>
        <p:txBody>
          <a:bodyPr wrap="square" tIns="0" rIns="45720" bIns="0">
            <a:spAutoFit/>
          </a:bodyPr>
          <a:lstStyle/>
          <a:p>
            <a:pPr marL="285750" indent="-285750" algn="l">
              <a:buFont typeface="Arial" panose="020B0604020202020204" pitchFamily="34" charset="0"/>
              <a:buChar char="•"/>
            </a:pPr>
            <a:r>
              <a:rPr lang="en-US" sz="3200" dirty="0">
                <a:solidFill>
                  <a:srgbClr val="0F2343"/>
                </a:solidFill>
                <a:latin typeface="Aptos"/>
              </a:rPr>
              <a:t>Optimization</a:t>
            </a:r>
          </a:p>
          <a:p>
            <a:pPr marL="285750" indent="-285750" algn="l">
              <a:buFont typeface="Arial" panose="020B0604020202020204" pitchFamily="34" charset="0"/>
              <a:buChar char="•"/>
            </a:pPr>
            <a:endParaRPr lang="en-US" sz="3200" dirty="0">
              <a:solidFill>
                <a:srgbClr val="0F2343"/>
              </a:solidFill>
              <a:latin typeface="Aptos"/>
            </a:endParaRPr>
          </a:p>
          <a:p>
            <a:pPr marL="285750" indent="-285750" algn="l">
              <a:buFont typeface="Arial" panose="020B0604020202020204" pitchFamily="34" charset="0"/>
              <a:buChar char="•"/>
            </a:pPr>
            <a:r>
              <a:rPr lang="en-US" sz="3200" dirty="0">
                <a:solidFill>
                  <a:srgbClr val="0F2343"/>
                </a:solidFill>
                <a:latin typeface="Aptos"/>
              </a:rPr>
              <a:t>Coding</a:t>
            </a:r>
          </a:p>
          <a:p>
            <a:pPr marL="285750" indent="-285750" algn="l">
              <a:buFont typeface="Arial" panose="020B0604020202020204" pitchFamily="34" charset="0"/>
              <a:buChar char="•"/>
            </a:pPr>
            <a:endParaRPr lang="en-US" sz="3200" dirty="0">
              <a:solidFill>
                <a:srgbClr val="0F2343"/>
              </a:solidFill>
              <a:latin typeface="Aptos"/>
            </a:endParaRPr>
          </a:p>
          <a:p>
            <a:pPr marL="285750" indent="-285750" algn="l">
              <a:buFont typeface="Arial" panose="020B0604020202020204" pitchFamily="34" charset="0"/>
              <a:buChar char="•"/>
            </a:pPr>
            <a:r>
              <a:rPr lang="en-US" sz="3200" dirty="0">
                <a:solidFill>
                  <a:srgbClr val="0F2343"/>
                </a:solidFill>
                <a:latin typeface="Aptos"/>
              </a:rPr>
              <a:t>Python</a:t>
            </a:r>
          </a:p>
          <a:p>
            <a:pPr marL="285750" indent="-285750" algn="l">
              <a:buFont typeface="Arial" panose="020B0604020202020204" pitchFamily="34" charset="0"/>
              <a:buChar char="•"/>
            </a:pPr>
            <a:endParaRPr lang="en-US" sz="3200" dirty="0">
              <a:solidFill>
                <a:srgbClr val="0F2343"/>
              </a:solidFill>
              <a:latin typeface="Aptos"/>
            </a:endParaRPr>
          </a:p>
          <a:p>
            <a:pPr marL="285750" indent="-285750" algn="l">
              <a:buFont typeface="Arial" panose="020B0604020202020204" pitchFamily="34" charset="0"/>
              <a:buChar char="•"/>
            </a:pPr>
            <a:r>
              <a:rPr lang="en-US" sz="3200" dirty="0">
                <a:solidFill>
                  <a:srgbClr val="0F2343"/>
                </a:solidFill>
                <a:latin typeface="Aptos"/>
              </a:rPr>
              <a:t>Machine learning</a:t>
            </a:r>
          </a:p>
          <a:p>
            <a:pPr marL="285750" indent="-285750" algn="l">
              <a:buFont typeface="Arial" panose="020B0604020202020204" pitchFamily="34" charset="0"/>
              <a:buChar char="•"/>
            </a:pPr>
            <a:endParaRPr lang="en-US" sz="3200" dirty="0">
              <a:solidFill>
                <a:srgbClr val="0F2343"/>
              </a:solidFill>
              <a:latin typeface="Aptos"/>
            </a:endParaRPr>
          </a:p>
          <a:p>
            <a:pPr marL="285750" indent="-285750" algn="l">
              <a:buFont typeface="Arial" panose="020B0604020202020204" pitchFamily="34" charset="0"/>
              <a:buChar char="•"/>
            </a:pPr>
            <a:r>
              <a:rPr lang="en-US" sz="3200" dirty="0">
                <a:solidFill>
                  <a:srgbClr val="0F2343"/>
                </a:solidFill>
                <a:latin typeface="Aptos"/>
              </a:rPr>
              <a:t>Unit testing</a:t>
            </a:r>
          </a:p>
          <a:p>
            <a:pPr marL="285750" indent="-285750" algn="l">
              <a:buFont typeface="Arial" panose="020B0604020202020204" pitchFamily="34" charset="0"/>
              <a:buChar char="•"/>
            </a:pPr>
            <a:endParaRPr lang="en-US" sz="2800" dirty="0">
              <a:solidFill>
                <a:srgbClr val="0F2343"/>
              </a:solidFill>
              <a:latin typeface="Aptos"/>
            </a:endParaRPr>
          </a:p>
        </p:txBody>
      </p:sp>
      <p:sp>
        <p:nvSpPr>
          <p:cNvPr id="4" name="Slide Number Placeholder 3">
            <a:extLst>
              <a:ext uri="{FF2B5EF4-FFF2-40B4-BE49-F238E27FC236}">
                <a16:creationId xmlns:a16="http://schemas.microsoft.com/office/drawing/2014/main" id="{68C0D029-0651-9225-F7EB-B316D5D478E9}"/>
              </a:ext>
            </a:extLst>
          </p:cNvPr>
          <p:cNvSpPr>
            <a:spLocks noGrp="1"/>
          </p:cNvSpPr>
          <p:nvPr>
            <p:ph type="sldNum" sz="quarter" idx="12"/>
          </p:nvPr>
        </p:nvSpPr>
        <p:spPr/>
        <p:txBody>
          <a:bodyPr/>
          <a:lstStyle/>
          <a:p>
            <a:fld id="{C1FF6DA9-008F-8B48-92A6-B652298478BF}" type="slidenum">
              <a:rPr lang="en-US" smtClean="0"/>
              <a:t>4</a:t>
            </a:fld>
            <a:endParaRPr lang="en-US"/>
          </a:p>
        </p:txBody>
      </p:sp>
    </p:spTree>
    <p:extLst>
      <p:ext uri="{BB962C8B-B14F-4D97-AF65-F5344CB8AC3E}">
        <p14:creationId xmlns:p14="http://schemas.microsoft.com/office/powerpoint/2010/main" val="2702224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EB56A-4F3C-DABE-B785-1BB860713E41}"/>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1CE97122-A849-A217-C89C-1B141C04EB87}"/>
              </a:ext>
            </a:extLst>
          </p:cNvPr>
          <p:cNvSpPr txBox="1"/>
          <p:nvPr/>
        </p:nvSpPr>
        <p:spPr>
          <a:xfrm>
            <a:off x="190500" y="246888"/>
            <a:ext cx="1185672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Goal today: touching the surface of a DSS</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76B89CCE-F292-6936-D106-FFF75C5B0387}"/>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 1">
            <a:extLst>
              <a:ext uri="{FF2B5EF4-FFF2-40B4-BE49-F238E27FC236}">
                <a16:creationId xmlns:a16="http://schemas.microsoft.com/office/drawing/2014/main" id="{E58CD427-6E8C-354E-7D88-163ABF1C738C}"/>
              </a:ext>
            </a:extLst>
          </p:cNvPr>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a:t>
            </a:r>
          </a:p>
        </p:txBody>
      </p:sp>
      <p:pic>
        <p:nvPicPr>
          <p:cNvPr id="16" name="Picture 15">
            <a:extLst>
              <a:ext uri="{FF2B5EF4-FFF2-40B4-BE49-F238E27FC236}">
                <a16:creationId xmlns:a16="http://schemas.microsoft.com/office/drawing/2014/main" id="{C0E74C81-61F4-B7CD-7B41-F95B40AAC2CB}"/>
              </a:ext>
            </a:extLst>
          </p:cNvPr>
          <p:cNvPicPr>
            <a:picLocks noChangeAspect="1"/>
          </p:cNvPicPr>
          <p:nvPr/>
        </p:nvPicPr>
        <p:blipFill>
          <a:blip r:embed="rId3"/>
          <a:stretch>
            <a:fillRect/>
          </a:stretch>
        </p:blipFill>
        <p:spPr>
          <a:xfrm>
            <a:off x="0" y="890137"/>
            <a:ext cx="12192000" cy="6861646"/>
          </a:xfrm>
          <a:prstGeom prst="rect">
            <a:avLst/>
          </a:prstGeom>
        </p:spPr>
      </p:pic>
      <p:sp>
        <p:nvSpPr>
          <p:cNvPr id="17" name="Slide Number Placeholder 16">
            <a:extLst>
              <a:ext uri="{FF2B5EF4-FFF2-40B4-BE49-F238E27FC236}">
                <a16:creationId xmlns:a16="http://schemas.microsoft.com/office/drawing/2014/main" id="{36C9C1B5-D274-F596-75B5-0B35DD46A1B1}"/>
              </a:ext>
            </a:extLst>
          </p:cNvPr>
          <p:cNvSpPr>
            <a:spLocks noGrp="1"/>
          </p:cNvSpPr>
          <p:nvPr>
            <p:ph type="sldNum" sz="quarter" idx="12"/>
          </p:nvPr>
        </p:nvSpPr>
        <p:spPr/>
        <p:txBody>
          <a:bodyPr/>
          <a:lstStyle/>
          <a:p>
            <a:fld id="{C1FF6DA9-008F-8B48-92A6-B652298478BF}" type="slidenum">
              <a:rPr lang="en-US" smtClean="0"/>
              <a:t>5</a:t>
            </a:fld>
            <a:endParaRPr lang="en-US"/>
          </a:p>
        </p:txBody>
      </p:sp>
    </p:spTree>
    <p:extLst>
      <p:ext uri="{BB962C8B-B14F-4D97-AF65-F5344CB8AC3E}">
        <p14:creationId xmlns:p14="http://schemas.microsoft.com/office/powerpoint/2010/main" val="1536977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38521-53AF-E4D3-7966-E7B4D03534B5}"/>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17252CF2-9167-36BC-0786-AB5E20E7B9DD}"/>
              </a:ext>
            </a:extLst>
          </p:cNvPr>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Agenda for today</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773D04AA-A053-150D-391D-4D55E58049C7}"/>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6D7F48B3-920B-D521-CDEA-836A4673C7FB}"/>
              </a:ext>
            </a:extLst>
          </p:cNvPr>
          <p:cNvSpPr txBox="1"/>
          <p:nvPr/>
        </p:nvSpPr>
        <p:spPr>
          <a:xfrm>
            <a:off x="458724" y="1749871"/>
            <a:ext cx="11274552" cy="3807004"/>
          </a:xfrm>
          <a:prstGeom prst="rect">
            <a:avLst/>
          </a:prstGeom>
          <a:noFill/>
        </p:spPr>
        <p:txBody>
          <a:bodyPr wrap="square" tIns="0" rIns="45720" bIns="0">
            <a:spAutoFit/>
          </a:bodyPr>
          <a:lstStyle/>
          <a:p>
            <a:pPr marL="285750" indent="-285750" algn="l">
              <a:lnSpc>
                <a:spcPct val="200000"/>
              </a:lnSpc>
              <a:buFont typeface="Arial" panose="020B0604020202020204" pitchFamily="34" charset="0"/>
              <a:buChar char="•"/>
            </a:pPr>
            <a:r>
              <a:rPr lang="en-US" sz="3200" b="1" dirty="0">
                <a:solidFill>
                  <a:srgbClr val="0F2343"/>
                </a:solidFill>
                <a:latin typeface="Aptos"/>
              </a:rPr>
              <a:t>Part I – What is a decision-support system?</a:t>
            </a:r>
          </a:p>
          <a:p>
            <a:pPr marL="285750" indent="-285750" algn="l">
              <a:lnSpc>
                <a:spcPct val="200000"/>
              </a:lnSpc>
              <a:buFont typeface="Arial" panose="020B0604020202020204" pitchFamily="34" charset="0"/>
              <a:buChar char="•"/>
            </a:pPr>
            <a:r>
              <a:rPr lang="en-US" sz="3200" dirty="0">
                <a:solidFill>
                  <a:srgbClr val="0F2343"/>
                </a:solidFill>
                <a:latin typeface="Aptos"/>
              </a:rPr>
              <a:t>Part II – Are we solving the right problem?</a:t>
            </a:r>
          </a:p>
          <a:p>
            <a:pPr marL="285750" indent="-285750" algn="l">
              <a:lnSpc>
                <a:spcPct val="200000"/>
              </a:lnSpc>
              <a:buFont typeface="Arial" panose="020B0604020202020204" pitchFamily="34" charset="0"/>
              <a:buChar char="•"/>
            </a:pPr>
            <a:r>
              <a:rPr lang="en-US" sz="3200" dirty="0">
                <a:solidFill>
                  <a:srgbClr val="0F2343"/>
                </a:solidFill>
                <a:latin typeface="Aptos"/>
              </a:rPr>
              <a:t>Part III – Are we solving the problem right?</a:t>
            </a:r>
          </a:p>
          <a:p>
            <a:pPr marL="285750" indent="-285750">
              <a:lnSpc>
                <a:spcPct val="200000"/>
              </a:lnSpc>
              <a:buFont typeface="Arial" panose="020B0604020202020204" pitchFamily="34" charset="0"/>
              <a:buChar char="•"/>
            </a:pPr>
            <a:r>
              <a:rPr lang="en-US" sz="3200" dirty="0">
                <a:solidFill>
                  <a:srgbClr val="0F2343"/>
                </a:solidFill>
                <a:latin typeface="Aptos"/>
              </a:rPr>
              <a:t>Part IV – Closing &amp; conclusions</a:t>
            </a:r>
            <a:endParaRPr lang="en-US" sz="2800" dirty="0">
              <a:solidFill>
                <a:srgbClr val="0F2343"/>
              </a:solidFill>
              <a:latin typeface="Aptos"/>
            </a:endParaRPr>
          </a:p>
        </p:txBody>
      </p:sp>
      <p:sp>
        <p:nvSpPr>
          <p:cNvPr id="7" name="Slide Number Placeholder 6">
            <a:extLst>
              <a:ext uri="{FF2B5EF4-FFF2-40B4-BE49-F238E27FC236}">
                <a16:creationId xmlns:a16="http://schemas.microsoft.com/office/drawing/2014/main" id="{DB0605E3-7C45-F823-044D-EECB5FB4D04F}"/>
              </a:ext>
            </a:extLst>
          </p:cNvPr>
          <p:cNvSpPr>
            <a:spLocks noGrp="1"/>
          </p:cNvSpPr>
          <p:nvPr>
            <p:ph type="sldNum" sz="quarter" idx="12"/>
          </p:nvPr>
        </p:nvSpPr>
        <p:spPr/>
        <p:txBody>
          <a:bodyPr/>
          <a:lstStyle/>
          <a:p>
            <a:fld id="{C1FF6DA9-008F-8B48-92A6-B652298478BF}" type="slidenum">
              <a:rPr lang="en-US" smtClean="0"/>
              <a:t>6</a:t>
            </a:fld>
            <a:endParaRPr lang="en-US"/>
          </a:p>
        </p:txBody>
      </p:sp>
    </p:spTree>
    <p:extLst>
      <p:ext uri="{BB962C8B-B14F-4D97-AF65-F5344CB8AC3E}">
        <p14:creationId xmlns:p14="http://schemas.microsoft.com/office/powerpoint/2010/main" val="2886573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17633-C639-25E4-A452-0C27E1049332}"/>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AD085262-5ED5-ECF1-9256-9F90ADC4A70B}"/>
              </a:ext>
            </a:extLst>
          </p:cNvPr>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What is a decision-support system?</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4CA973A8-EDFF-31F3-5A57-5322244B6608}"/>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fleet" descr="fleet">
            <a:extLst>
              <a:ext uri="{FF2B5EF4-FFF2-40B4-BE49-F238E27FC236}">
                <a16:creationId xmlns:a16="http://schemas.microsoft.com/office/drawing/2014/main" id="{FE746FC9-2D82-CEF7-E977-2B772CB51C1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81328" y="3319041"/>
            <a:ext cx="1828800" cy="1828800"/>
          </a:xfrm>
          <a:prstGeom prst="rect">
            <a:avLst/>
          </a:prstGeom>
        </p:spPr>
      </p:pic>
      <p:sp>
        <p:nvSpPr>
          <p:cNvPr id="7" name="Text: Plan the fleet">
            <a:extLst>
              <a:ext uri="{FF2B5EF4-FFF2-40B4-BE49-F238E27FC236}">
                <a16:creationId xmlns:a16="http://schemas.microsoft.com/office/drawing/2014/main" id="{5F70B599-8E48-65C5-5666-7211BBC9F2D3}"/>
              </a:ext>
            </a:extLst>
          </p:cNvPr>
          <p:cNvSpPr txBox="1"/>
          <p:nvPr/>
        </p:nvSpPr>
        <p:spPr>
          <a:xfrm>
            <a:off x="649224" y="5395422"/>
            <a:ext cx="3493008" cy="502920"/>
          </a:xfrm>
          <a:prstGeom prst="rect">
            <a:avLst/>
          </a:prstGeom>
          <a:noFill/>
        </p:spPr>
        <p:txBody>
          <a:bodyPr wrap="square" lIns="0" tIns="0" rIns="0" bIns="0" anchor="ctr">
            <a:noAutofit/>
          </a:bodyPr>
          <a:lstStyle/>
          <a:p>
            <a:pPr algn="ctr">
              <a:lnSpc>
                <a:spcPct val="106000"/>
              </a:lnSpc>
              <a:spcBef>
                <a:spcPts val="0"/>
              </a:spcBef>
              <a:spcAft>
                <a:spcPts val="0"/>
              </a:spcAft>
            </a:pPr>
            <a:r>
              <a:rPr sz="2700" b="1" dirty="0">
                <a:solidFill>
                  <a:srgbClr val="0F2343"/>
                </a:solidFill>
                <a:latin typeface="Aptos"/>
              </a:rPr>
              <a:t>Plan the fleet</a:t>
            </a:r>
          </a:p>
        </p:txBody>
      </p:sp>
      <p:sp>
        <p:nvSpPr>
          <p:cNvPr id="8" name="Text: Annually">
            <a:extLst>
              <a:ext uri="{FF2B5EF4-FFF2-40B4-BE49-F238E27FC236}">
                <a16:creationId xmlns:a16="http://schemas.microsoft.com/office/drawing/2014/main" id="{09427772-7F24-0F06-02F0-04D426030DD7}"/>
              </a:ext>
            </a:extLst>
          </p:cNvPr>
          <p:cNvSpPr txBox="1"/>
          <p:nvPr/>
        </p:nvSpPr>
        <p:spPr>
          <a:xfrm>
            <a:off x="841248" y="5914315"/>
            <a:ext cx="3108960" cy="502920"/>
          </a:xfrm>
          <a:prstGeom prst="rect">
            <a:avLst/>
          </a:prstGeom>
          <a:noFill/>
        </p:spPr>
        <p:txBody>
          <a:bodyPr wrap="square" lIns="0" tIns="0" rIns="0" bIns="0" anchor="ctr">
            <a:noAutofit/>
          </a:bodyPr>
          <a:lstStyle/>
          <a:p>
            <a:pPr algn="ctr">
              <a:lnSpc>
                <a:spcPct val="106000"/>
              </a:lnSpc>
              <a:spcBef>
                <a:spcPts val="0"/>
              </a:spcBef>
              <a:spcAft>
                <a:spcPts val="0"/>
              </a:spcAft>
            </a:pPr>
            <a:r>
              <a:rPr sz="2600" b="1" dirty="0">
                <a:solidFill>
                  <a:srgbClr val="F97316"/>
                </a:solidFill>
                <a:latin typeface="Aptos"/>
              </a:rPr>
              <a:t>Annually</a:t>
            </a:r>
          </a:p>
        </p:txBody>
      </p:sp>
      <p:pic>
        <p:nvPicPr>
          <p:cNvPr id="9" name="crew" descr="crew">
            <a:extLst>
              <a:ext uri="{FF2B5EF4-FFF2-40B4-BE49-F238E27FC236}">
                <a16:creationId xmlns:a16="http://schemas.microsoft.com/office/drawing/2014/main" id="{D877AF5A-B17D-DA07-A810-3D69343049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75504" y="3319041"/>
            <a:ext cx="1828800" cy="1828800"/>
          </a:xfrm>
          <a:prstGeom prst="rect">
            <a:avLst/>
          </a:prstGeom>
        </p:spPr>
      </p:pic>
      <p:sp>
        <p:nvSpPr>
          <p:cNvPr id="10" name="Text: Schedule crews">
            <a:extLst>
              <a:ext uri="{FF2B5EF4-FFF2-40B4-BE49-F238E27FC236}">
                <a16:creationId xmlns:a16="http://schemas.microsoft.com/office/drawing/2014/main" id="{8D7D20ED-72D8-A880-0315-3DAC24607721}"/>
              </a:ext>
            </a:extLst>
          </p:cNvPr>
          <p:cNvSpPr txBox="1"/>
          <p:nvPr/>
        </p:nvSpPr>
        <p:spPr>
          <a:xfrm>
            <a:off x="4343400" y="5395422"/>
            <a:ext cx="3493008" cy="50292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Schedule crews</a:t>
            </a:r>
          </a:p>
        </p:txBody>
      </p:sp>
      <p:sp>
        <p:nvSpPr>
          <p:cNvPr id="11" name="Text: Monthly">
            <a:extLst>
              <a:ext uri="{FF2B5EF4-FFF2-40B4-BE49-F238E27FC236}">
                <a16:creationId xmlns:a16="http://schemas.microsoft.com/office/drawing/2014/main" id="{C36DE821-15AA-F958-BBBC-B5086CE188D1}"/>
              </a:ext>
            </a:extLst>
          </p:cNvPr>
          <p:cNvSpPr txBox="1"/>
          <p:nvPr/>
        </p:nvSpPr>
        <p:spPr>
          <a:xfrm>
            <a:off x="4535424" y="5914315"/>
            <a:ext cx="3108960" cy="502920"/>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Monthly</a:t>
            </a:r>
          </a:p>
        </p:txBody>
      </p:sp>
      <p:pic>
        <p:nvPicPr>
          <p:cNvPr id="12" name="disruption" descr="disruption">
            <a:extLst>
              <a:ext uri="{FF2B5EF4-FFF2-40B4-BE49-F238E27FC236}">
                <a16:creationId xmlns:a16="http://schemas.microsoft.com/office/drawing/2014/main" id="{5584C9F2-F804-BE7D-3B12-B86CCED0B09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0" y="3319041"/>
            <a:ext cx="1828800" cy="1828800"/>
          </a:xfrm>
          <a:prstGeom prst="rect">
            <a:avLst/>
          </a:prstGeom>
        </p:spPr>
      </p:pic>
      <p:sp>
        <p:nvSpPr>
          <p:cNvPr id="13" name="Text: Recover operations">
            <a:extLst>
              <a:ext uri="{FF2B5EF4-FFF2-40B4-BE49-F238E27FC236}">
                <a16:creationId xmlns:a16="http://schemas.microsoft.com/office/drawing/2014/main" id="{E0649B19-C305-E36C-9BBD-577FEC101B90}"/>
              </a:ext>
            </a:extLst>
          </p:cNvPr>
          <p:cNvSpPr txBox="1"/>
          <p:nvPr/>
        </p:nvSpPr>
        <p:spPr>
          <a:xfrm>
            <a:off x="8037575" y="5395422"/>
            <a:ext cx="3493008" cy="50292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Recover operations</a:t>
            </a:r>
          </a:p>
        </p:txBody>
      </p:sp>
      <p:sp>
        <p:nvSpPr>
          <p:cNvPr id="14" name="Text: Daily">
            <a:extLst>
              <a:ext uri="{FF2B5EF4-FFF2-40B4-BE49-F238E27FC236}">
                <a16:creationId xmlns:a16="http://schemas.microsoft.com/office/drawing/2014/main" id="{85C32A7B-FF16-7B83-C05E-A848ECA7CB8B}"/>
              </a:ext>
            </a:extLst>
          </p:cNvPr>
          <p:cNvSpPr txBox="1"/>
          <p:nvPr/>
        </p:nvSpPr>
        <p:spPr>
          <a:xfrm>
            <a:off x="8229600" y="5914315"/>
            <a:ext cx="3108960" cy="502920"/>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Daily</a:t>
            </a:r>
          </a:p>
        </p:txBody>
      </p:sp>
      <p:sp>
        <p:nvSpPr>
          <p:cNvPr id="15" name="TextBox 14">
            <a:extLst>
              <a:ext uri="{FF2B5EF4-FFF2-40B4-BE49-F238E27FC236}">
                <a16:creationId xmlns:a16="http://schemas.microsoft.com/office/drawing/2014/main" id="{8041EEF0-3C1F-1C1B-6FD7-B3E34A553B02}"/>
              </a:ext>
            </a:extLst>
          </p:cNvPr>
          <p:cNvSpPr txBox="1"/>
          <p:nvPr/>
        </p:nvSpPr>
        <p:spPr>
          <a:xfrm>
            <a:off x="365760" y="1824531"/>
            <a:ext cx="11567160" cy="1248290"/>
          </a:xfrm>
          <a:prstGeom prst="rect">
            <a:avLst/>
          </a:prstGeom>
          <a:noFill/>
        </p:spPr>
        <p:txBody>
          <a:bodyPr wrap="square" tIns="0" rIns="45720" bIns="0">
            <a:spAutoFit/>
          </a:bodyPr>
          <a:lstStyle/>
          <a:p>
            <a:pPr marL="285750" indent="-285750" algn="l">
              <a:buFont typeface="Arial" panose="020B0604020202020204" pitchFamily="34" charset="0"/>
              <a:buChar char="•"/>
            </a:pPr>
            <a:r>
              <a:rPr sz="2400" b="0" dirty="0">
                <a:solidFill>
                  <a:srgbClr val="0F2343"/>
                </a:solidFill>
                <a:latin typeface="Aptos"/>
              </a:rPr>
              <a:t>Operations Research (OR) turns data + business needs + mathematics </a:t>
            </a:r>
            <a:r>
              <a:rPr lang="en-US" sz="2400" b="0" dirty="0">
                <a:solidFill>
                  <a:srgbClr val="0F2343"/>
                </a:solidFill>
                <a:latin typeface="Aptos"/>
                <a:sym typeface="Wingdings" panose="05000000000000000000" pitchFamily="2" charset="2"/>
              </a:rPr>
              <a:t> </a:t>
            </a:r>
            <a:r>
              <a:rPr sz="2400" b="0" dirty="0">
                <a:solidFill>
                  <a:srgbClr val="0F2343"/>
                </a:solidFill>
                <a:latin typeface="Aptos"/>
              </a:rPr>
              <a:t>decision.</a:t>
            </a:r>
          </a:p>
          <a:p>
            <a:pPr algn="l">
              <a:lnSpc>
                <a:spcPct val="150000"/>
              </a:lnSpc>
            </a:pPr>
            <a:r>
              <a:rPr lang="en-US" sz="2000" b="1" dirty="0">
                <a:solidFill>
                  <a:srgbClr val="0F2343"/>
                </a:solidFill>
                <a:latin typeface="Aptos"/>
              </a:rPr>
              <a:t>	</a:t>
            </a:r>
            <a:r>
              <a:rPr sz="2000" dirty="0">
                <a:solidFill>
                  <a:srgbClr val="0F2343"/>
                </a:solidFill>
                <a:latin typeface="Aptos"/>
              </a:rPr>
              <a:t>A</a:t>
            </a:r>
            <a:r>
              <a:rPr lang="en-US" sz="2000" dirty="0">
                <a:solidFill>
                  <a:srgbClr val="0F2343"/>
                </a:solidFill>
                <a:latin typeface="Aptos"/>
              </a:rPr>
              <a:t>n</a:t>
            </a:r>
            <a:r>
              <a:rPr sz="2000" dirty="0">
                <a:solidFill>
                  <a:srgbClr val="0F2343"/>
                </a:solidFill>
                <a:latin typeface="Aptos"/>
              </a:rPr>
              <a:t> </a:t>
            </a:r>
            <a:r>
              <a:rPr lang="en-US" sz="2000" b="1" dirty="0">
                <a:solidFill>
                  <a:srgbClr val="0F2343"/>
                </a:solidFill>
                <a:latin typeface="Aptos"/>
              </a:rPr>
              <a:t>analysis </a:t>
            </a:r>
            <a:r>
              <a:rPr lang="en-US" sz="2000" b="0" dirty="0">
                <a:solidFill>
                  <a:srgbClr val="0F2343"/>
                </a:solidFill>
                <a:latin typeface="Aptos"/>
              </a:rPr>
              <a:t>delivers</a:t>
            </a:r>
            <a:r>
              <a:rPr sz="2000" b="0" dirty="0">
                <a:solidFill>
                  <a:srgbClr val="0F2343"/>
                </a:solidFill>
                <a:latin typeface="Aptos"/>
              </a:rPr>
              <a:t> a one-time decision</a:t>
            </a:r>
            <a:r>
              <a:rPr lang="en-US" sz="2000" dirty="0">
                <a:solidFill>
                  <a:srgbClr val="0F2343"/>
                </a:solidFill>
                <a:latin typeface="Aptos"/>
              </a:rPr>
              <a:t>.</a:t>
            </a:r>
          </a:p>
          <a:p>
            <a:pPr algn="l">
              <a:lnSpc>
                <a:spcPct val="150000"/>
              </a:lnSpc>
            </a:pPr>
            <a:r>
              <a:rPr lang="en-US" sz="2000" b="1" dirty="0">
                <a:solidFill>
                  <a:srgbClr val="0F2343"/>
                </a:solidFill>
                <a:latin typeface="Aptos"/>
              </a:rPr>
              <a:t>	</a:t>
            </a:r>
            <a:r>
              <a:rPr sz="2000" dirty="0">
                <a:solidFill>
                  <a:srgbClr val="0F2343"/>
                </a:solidFill>
                <a:latin typeface="Aptos"/>
              </a:rPr>
              <a:t>A </a:t>
            </a:r>
            <a:r>
              <a:rPr lang="en-US" sz="2000" b="1" dirty="0">
                <a:solidFill>
                  <a:srgbClr val="0F2343"/>
                </a:solidFill>
                <a:latin typeface="Aptos"/>
              </a:rPr>
              <a:t>decision-support system</a:t>
            </a:r>
            <a:r>
              <a:rPr sz="2000" b="0" dirty="0">
                <a:solidFill>
                  <a:srgbClr val="0F2343"/>
                </a:solidFill>
                <a:latin typeface="Aptos"/>
              </a:rPr>
              <a:t> </a:t>
            </a:r>
            <a:r>
              <a:rPr lang="en-US" sz="2000" b="0" dirty="0">
                <a:solidFill>
                  <a:srgbClr val="0F2343"/>
                </a:solidFill>
                <a:latin typeface="Aptos"/>
              </a:rPr>
              <a:t>delivers a recurring decision.</a:t>
            </a:r>
            <a:endParaRPr lang="en-US" sz="2000" dirty="0">
              <a:solidFill>
                <a:srgbClr val="0F2343"/>
              </a:solidFill>
              <a:latin typeface="Aptos"/>
            </a:endParaRPr>
          </a:p>
        </p:txBody>
      </p:sp>
      <p:sp>
        <p:nvSpPr>
          <p:cNvPr id="4" name="Speech Bubble: Rectangle 3">
            <a:extLst>
              <a:ext uri="{FF2B5EF4-FFF2-40B4-BE49-F238E27FC236}">
                <a16:creationId xmlns:a16="http://schemas.microsoft.com/office/drawing/2014/main" id="{CC4C49D7-396A-014B-0555-091ACBBC0C30}"/>
              </a:ext>
            </a:extLst>
          </p:cNvPr>
          <p:cNvSpPr/>
          <p:nvPr/>
        </p:nvSpPr>
        <p:spPr>
          <a:xfrm>
            <a:off x="7919336" y="2296441"/>
            <a:ext cx="3429372" cy="2330605"/>
          </a:xfrm>
          <a:prstGeom prst="wedgeRectCallout">
            <a:avLst>
              <a:gd name="adj1" fmla="val -67007"/>
              <a:gd name="adj2" fmla="val -20754"/>
            </a:avLst>
          </a:prstGeom>
          <a:solidFill>
            <a:schemeClr val="bg1">
              <a:lumMod val="95000"/>
            </a:schemeClr>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3600" b="1" dirty="0">
                <a:solidFill>
                  <a:schemeClr val="tx1"/>
                </a:solidFill>
                <a:latin typeface="Aptos" panose="020B0004020202020204" pitchFamily="34" charset="0"/>
              </a:rPr>
              <a:t>What is the implication?</a:t>
            </a:r>
          </a:p>
        </p:txBody>
      </p:sp>
      <p:sp>
        <p:nvSpPr>
          <p:cNvPr id="16" name="Slide Number Placeholder 15">
            <a:extLst>
              <a:ext uri="{FF2B5EF4-FFF2-40B4-BE49-F238E27FC236}">
                <a16:creationId xmlns:a16="http://schemas.microsoft.com/office/drawing/2014/main" id="{3FAB56C8-DF34-A23C-2A97-662AF813B382}"/>
              </a:ext>
            </a:extLst>
          </p:cNvPr>
          <p:cNvSpPr>
            <a:spLocks noGrp="1"/>
          </p:cNvSpPr>
          <p:nvPr>
            <p:ph type="sldNum" sz="quarter" idx="12"/>
          </p:nvPr>
        </p:nvSpPr>
        <p:spPr/>
        <p:txBody>
          <a:bodyPr/>
          <a:lstStyle/>
          <a:p>
            <a:fld id="{C1FF6DA9-008F-8B48-92A6-B652298478BF}" type="slidenum">
              <a:rPr lang="en-US" smtClean="0"/>
              <a:t>7</a:t>
            </a:fld>
            <a:endParaRPr lang="en-US"/>
          </a:p>
        </p:txBody>
      </p:sp>
    </p:spTree>
    <p:extLst>
      <p:ext uri="{BB962C8B-B14F-4D97-AF65-F5344CB8AC3E}">
        <p14:creationId xmlns:p14="http://schemas.microsoft.com/office/powerpoint/2010/main" val="3672355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p:bldP spid="11" grpId="0"/>
      <p:bldP spid="13" grpId="0"/>
      <p:bldP spid="14" grpId="0"/>
      <p:bldP spid="15" grpId="0"/>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446910" cy="118872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What would you need before trusting</a:t>
            </a:r>
            <a:r>
              <a:rPr lang="en-US" sz="4000" b="1" dirty="0">
                <a:solidFill>
                  <a:srgbClr val="0F2343"/>
                </a:solidFill>
                <a:latin typeface="Aptos Display"/>
              </a:rPr>
              <a:t> </a:t>
            </a:r>
            <a:r>
              <a:rPr sz="4000" b="1" dirty="0">
                <a:solidFill>
                  <a:srgbClr val="0F2343"/>
                </a:solidFill>
                <a:latin typeface="Aptos Display"/>
              </a:rPr>
              <a:t>a</a:t>
            </a:r>
            <a:r>
              <a:rPr lang="en-US" sz="4000" b="1" dirty="0">
                <a:solidFill>
                  <a:srgbClr val="0F2343"/>
                </a:solidFill>
                <a:latin typeface="Aptos Display"/>
              </a:rPr>
              <a:t> recommendation from a mathematical model</a:t>
            </a:r>
            <a:r>
              <a:rPr sz="4000" b="1" dirty="0">
                <a:solidFill>
                  <a:srgbClr val="0F2343"/>
                </a:solidFill>
                <a:latin typeface="Aptos Display"/>
              </a:rPr>
              <a:t>?</a:t>
            </a:r>
          </a:p>
        </p:txBody>
      </p:sp>
      <p:sp>
        <p:nvSpPr>
          <p:cNvPr id="3" name="Rectangle 2"/>
          <p:cNvSpPr/>
          <p:nvPr/>
        </p:nvSpPr>
        <p:spPr>
          <a:xfrm>
            <a:off x="530352" y="163906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77824" y="2066543"/>
            <a:ext cx="4325112" cy="2587752"/>
          </a:xfrm>
          <a:prstGeom prst="roundRect">
            <a:avLst>
              <a:gd name="adj" fmla="val 12000"/>
            </a:avLst>
          </a:prstGeom>
          <a:solidFill>
            <a:srgbClr val="FFFFFF"/>
          </a:solidFill>
          <a:ln w="3175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96696" y="2304288"/>
            <a:ext cx="4087368" cy="2249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 OPTIMAL"/>
          <p:cNvSpPr txBox="1"/>
          <p:nvPr/>
        </p:nvSpPr>
        <p:spPr>
          <a:xfrm>
            <a:off x="1133856" y="2862072"/>
            <a:ext cx="3813048" cy="731520"/>
          </a:xfrm>
          <a:prstGeom prst="rect">
            <a:avLst/>
          </a:prstGeom>
          <a:noFill/>
        </p:spPr>
        <p:txBody>
          <a:bodyPr wrap="square" lIns="0" tIns="0" rIns="0" bIns="0" anchor="ctr">
            <a:noAutofit/>
          </a:bodyPr>
          <a:lstStyle/>
          <a:p>
            <a:pPr algn="ctr">
              <a:lnSpc>
                <a:spcPct val="106000"/>
              </a:lnSpc>
              <a:spcBef>
                <a:spcPts val="0"/>
              </a:spcBef>
              <a:spcAft>
                <a:spcPts val="0"/>
              </a:spcAft>
            </a:pPr>
            <a:r>
              <a:rPr lang="en-US" sz="4300" b="1" dirty="0">
                <a:solidFill>
                  <a:srgbClr val="0F2343"/>
                </a:solidFill>
                <a:latin typeface="Aptos"/>
              </a:rPr>
              <a:t>MODEL SAYS</a:t>
            </a:r>
          </a:p>
          <a:p>
            <a:pPr algn="ctr">
              <a:lnSpc>
                <a:spcPct val="106000"/>
              </a:lnSpc>
              <a:spcBef>
                <a:spcPts val="0"/>
              </a:spcBef>
              <a:spcAft>
                <a:spcPts val="0"/>
              </a:spcAft>
            </a:pPr>
            <a:r>
              <a:rPr sz="4300" b="1" dirty="0">
                <a:solidFill>
                  <a:srgbClr val="0F2343"/>
                </a:solidFill>
                <a:latin typeface="Aptos"/>
              </a:rPr>
              <a:t>OPTIMAL</a:t>
            </a:r>
          </a:p>
        </p:txBody>
      </p:sp>
      <p:sp>
        <p:nvSpPr>
          <p:cNvPr id="9" name="Rectangle 8"/>
          <p:cNvSpPr/>
          <p:nvPr/>
        </p:nvSpPr>
        <p:spPr>
          <a:xfrm>
            <a:off x="2743200" y="4663440"/>
            <a:ext cx="594360" cy="411480"/>
          </a:xfrm>
          <a:prstGeom prst="rect">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176272" y="5056632"/>
            <a:ext cx="1719072" cy="118872"/>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a:off x="7772400" y="5074920"/>
            <a:ext cx="2834640" cy="0"/>
          </a:xfrm>
          <a:prstGeom prst="line">
            <a:avLst/>
          </a:prstGeom>
          <a:ln w="2540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77824" y="5852160"/>
            <a:ext cx="10145080" cy="45720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800" b="1" dirty="0">
                <a:solidFill>
                  <a:srgbClr val="07142B"/>
                </a:solidFill>
                <a:latin typeface="Aptos" panose="020B0004020202020204" pitchFamily="34" charset="0"/>
              </a:rPr>
              <a:t>Question for the audience</a:t>
            </a:r>
            <a:endParaRPr sz="2800" b="1" dirty="0">
              <a:solidFill>
                <a:srgbClr val="07142B"/>
              </a:solidFill>
              <a:latin typeface="Aptos" panose="020B0004020202020204" pitchFamily="34" charset="0"/>
            </a:endParaRPr>
          </a:p>
        </p:txBody>
      </p:sp>
      <p:pic>
        <p:nvPicPr>
          <p:cNvPr id="20" name="Picture 19" descr="Curious human line icon isolated on white background | Premium Vector">
            <a:extLst>
              <a:ext uri="{FF2B5EF4-FFF2-40B4-BE49-F238E27FC236}">
                <a16:creationId xmlns:a16="http://schemas.microsoft.com/office/drawing/2014/main" id="{6450489D-FF6A-9916-38D8-41B10BF35346}"/>
              </a:ext>
            </a:extLst>
          </p:cNvPr>
          <p:cNvPicPr>
            <a:picLocks noChangeAspect="1"/>
          </p:cNvPicPr>
          <p:nvPr/>
        </p:nvPicPr>
        <p:blipFill>
          <a:blip r:embed="rId3"/>
          <a:stretch>
            <a:fillRect/>
          </a:stretch>
        </p:blipFill>
        <p:spPr>
          <a:xfrm>
            <a:off x="7714908" y="2173201"/>
            <a:ext cx="2949623" cy="2949623"/>
          </a:xfrm>
          <a:prstGeom prst="rect">
            <a:avLst/>
          </a:prstGeom>
          <a:ln>
            <a:solidFill>
              <a:schemeClr val="tx1"/>
            </a:solidFill>
          </a:ln>
        </p:spPr>
      </p:pic>
      <p:sp>
        <p:nvSpPr>
          <p:cNvPr id="21" name="Slide Number Placeholder 20">
            <a:extLst>
              <a:ext uri="{FF2B5EF4-FFF2-40B4-BE49-F238E27FC236}">
                <a16:creationId xmlns:a16="http://schemas.microsoft.com/office/drawing/2014/main" id="{59AFF6DF-D528-8ADF-FC36-38AEB6712D3A}"/>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A useful</a:t>
            </a:r>
            <a:r>
              <a:rPr sz="4000" b="1" dirty="0">
                <a:solidFill>
                  <a:srgbClr val="0F2343"/>
                </a:solidFill>
                <a:latin typeface="Aptos Display"/>
              </a:rPr>
              <a:t> </a:t>
            </a:r>
            <a:r>
              <a:rPr lang="en-US" sz="4000" b="1" dirty="0">
                <a:solidFill>
                  <a:srgbClr val="0F2343"/>
                </a:solidFill>
                <a:latin typeface="Aptos Display"/>
              </a:rPr>
              <a:t>DSS</a:t>
            </a:r>
            <a:r>
              <a:rPr sz="4000" b="1" dirty="0">
                <a:solidFill>
                  <a:srgbClr val="0F2343"/>
                </a:solidFill>
                <a:latin typeface="Aptos Display"/>
              </a:rPr>
              <a:t> requires</a:t>
            </a:r>
            <a:r>
              <a:rPr lang="en-US" sz="4000" b="1" dirty="0">
                <a:solidFill>
                  <a:srgbClr val="0F2343"/>
                </a:solidFill>
                <a:latin typeface="Aptos Display"/>
              </a:rPr>
              <a:t> </a:t>
            </a:r>
            <a:r>
              <a:rPr sz="4000" b="1" dirty="0">
                <a:solidFill>
                  <a:srgbClr val="0F2343"/>
                </a:solidFill>
                <a:latin typeface="Aptos Display"/>
              </a:rPr>
              <a:t>validation and verification</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 y="2048372"/>
            <a:ext cx="3337560" cy="1874519"/>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868302" y="2483626"/>
            <a:ext cx="237012" cy="237012"/>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2539837" y="2483626"/>
            <a:ext cx="237012" cy="237012"/>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828800" y="2789767"/>
            <a:ext cx="325892" cy="345643"/>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490459" y="2789767"/>
            <a:ext cx="325892" cy="345643"/>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164567" y="2335493"/>
            <a:ext cx="316016" cy="316016"/>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065812" y="2740389"/>
            <a:ext cx="513527" cy="483900"/>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 Business problem"/>
          <p:cNvSpPr txBox="1"/>
          <p:nvPr/>
        </p:nvSpPr>
        <p:spPr>
          <a:xfrm>
            <a:off x="749808" y="3401684"/>
            <a:ext cx="315468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Business problem</a:t>
            </a:r>
          </a:p>
        </p:txBody>
      </p:sp>
      <p:sp>
        <p:nvSpPr>
          <p:cNvPr id="14" name="Rounded Rectangle 13"/>
          <p:cNvSpPr/>
          <p:nvPr/>
        </p:nvSpPr>
        <p:spPr>
          <a:xfrm>
            <a:off x="4425696" y="2048372"/>
            <a:ext cx="3337560" cy="1874519"/>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Mathematical model"/>
          <p:cNvSpPr txBox="1"/>
          <p:nvPr/>
        </p:nvSpPr>
        <p:spPr>
          <a:xfrm>
            <a:off x="4517136" y="3401684"/>
            <a:ext cx="315468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Mathematical model</a:t>
            </a:r>
          </a:p>
        </p:txBody>
      </p:sp>
      <p:sp>
        <p:nvSpPr>
          <p:cNvPr id="17" name="Rounded Rectangle 16"/>
          <p:cNvSpPr/>
          <p:nvPr/>
        </p:nvSpPr>
        <p:spPr>
          <a:xfrm>
            <a:off x="8193024" y="2048372"/>
            <a:ext cx="3337560" cy="1874519"/>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flipH="1">
            <a:off x="9462211" y="2513252"/>
            <a:ext cx="197510" cy="26664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62211" y="2779892"/>
            <a:ext cx="197510" cy="266639"/>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4742" y="2513252"/>
            <a:ext cx="197510" cy="26664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0054742" y="2779892"/>
            <a:ext cx="197510" cy="266639"/>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778227" y="2434248"/>
            <a:ext cx="167884" cy="69128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3" name="Text: Code"/>
          <p:cNvSpPr txBox="1"/>
          <p:nvPr/>
        </p:nvSpPr>
        <p:spPr>
          <a:xfrm>
            <a:off x="8284464" y="3401684"/>
            <a:ext cx="315468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Code</a:t>
            </a:r>
          </a:p>
        </p:txBody>
      </p:sp>
      <p:cxnSp>
        <p:nvCxnSpPr>
          <p:cNvPr id="24" name="Connector 23"/>
          <p:cNvCxnSpPr/>
          <p:nvPr/>
        </p:nvCxnSpPr>
        <p:spPr>
          <a:xfrm>
            <a:off x="4050791" y="2990204"/>
            <a:ext cx="320041"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18120" y="2990204"/>
            <a:ext cx="320040"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a:cxnSpLocks/>
          </p:cNvCxnSpPr>
          <p:nvPr/>
        </p:nvCxnSpPr>
        <p:spPr>
          <a:xfrm>
            <a:off x="1552702" y="4169780"/>
            <a:ext cx="4144010"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52702" y="4004424"/>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696712" y="3996043"/>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9" name="Text: Validation"/>
          <p:cNvSpPr txBox="1"/>
          <p:nvPr/>
        </p:nvSpPr>
        <p:spPr>
          <a:xfrm>
            <a:off x="1179229" y="4750792"/>
            <a:ext cx="4517483" cy="502920"/>
          </a:xfrm>
          <a:prstGeom prst="rect">
            <a:avLst/>
          </a:prstGeom>
          <a:noFill/>
        </p:spPr>
        <p:txBody>
          <a:bodyPr wrap="square" lIns="0" tIns="0" rIns="0" bIns="0" anchor="ctr">
            <a:noAutofit/>
          </a:bodyPr>
          <a:lstStyle/>
          <a:p>
            <a:pPr algn="ctr">
              <a:lnSpc>
                <a:spcPct val="106000"/>
              </a:lnSpc>
              <a:spcBef>
                <a:spcPts val="0"/>
              </a:spcBef>
              <a:spcAft>
                <a:spcPts val="0"/>
              </a:spcAft>
            </a:pPr>
            <a:r>
              <a:rPr sz="2900" b="1" dirty="0">
                <a:solidFill>
                  <a:srgbClr val="0F2343"/>
                </a:solidFill>
                <a:latin typeface="Aptos"/>
              </a:rPr>
              <a:t>Validation</a:t>
            </a:r>
          </a:p>
        </p:txBody>
      </p:sp>
      <p:sp>
        <p:nvSpPr>
          <p:cNvPr id="30" name="Text: The right problem?"/>
          <p:cNvSpPr txBox="1"/>
          <p:nvPr/>
        </p:nvSpPr>
        <p:spPr>
          <a:xfrm>
            <a:off x="1179229" y="5346724"/>
            <a:ext cx="4517483" cy="1027061"/>
          </a:xfrm>
          <a:prstGeom prst="rect">
            <a:avLst/>
          </a:prstGeom>
          <a:noFill/>
        </p:spPr>
        <p:txBody>
          <a:bodyPr wrap="square" lIns="0" tIns="0" rIns="0" bIns="0" anchor="t">
            <a:noAutofit/>
          </a:bodyPr>
          <a:lstStyle/>
          <a:p>
            <a:pPr algn="ctr">
              <a:lnSpc>
                <a:spcPct val="106000"/>
              </a:lnSpc>
              <a:spcBef>
                <a:spcPts val="0"/>
              </a:spcBef>
              <a:spcAft>
                <a:spcPts val="0"/>
              </a:spcAft>
            </a:pPr>
            <a:r>
              <a:rPr lang="en-US" sz="2500" b="0" dirty="0">
                <a:solidFill>
                  <a:srgbClr val="0F2343"/>
                </a:solidFill>
                <a:latin typeface="Aptos"/>
              </a:rPr>
              <a:t>Are we solving the right problem</a:t>
            </a:r>
            <a:r>
              <a:rPr sz="2500" b="0" dirty="0">
                <a:solidFill>
                  <a:srgbClr val="0F2343"/>
                </a:solidFill>
                <a:latin typeface="Aptos"/>
              </a:rPr>
              <a:t>?</a:t>
            </a:r>
            <a:endParaRPr lang="en-US" sz="2500" b="0" dirty="0">
              <a:solidFill>
                <a:srgbClr val="0F2343"/>
              </a:solidFill>
              <a:latin typeface="Aptos"/>
            </a:endParaRPr>
          </a:p>
          <a:p>
            <a:pPr algn="ctr">
              <a:lnSpc>
                <a:spcPct val="106000"/>
              </a:lnSpc>
              <a:spcBef>
                <a:spcPts val="0"/>
              </a:spcBef>
              <a:spcAft>
                <a:spcPts val="0"/>
              </a:spcAft>
            </a:pPr>
            <a:r>
              <a:rPr lang="en-US" sz="2000" i="1" dirty="0">
                <a:solidFill>
                  <a:srgbClr val="0F2343"/>
                </a:solidFill>
                <a:latin typeface="Aptos"/>
              </a:rPr>
              <a:t>(consulting problem)</a:t>
            </a:r>
            <a:endParaRPr lang="en-US" sz="2000" b="0" i="1" dirty="0">
              <a:solidFill>
                <a:srgbClr val="0F2343"/>
              </a:solidFill>
              <a:latin typeface="Aptos"/>
            </a:endParaRPr>
          </a:p>
          <a:p>
            <a:pPr algn="ctr">
              <a:lnSpc>
                <a:spcPct val="106000"/>
              </a:lnSpc>
              <a:spcBef>
                <a:spcPts val="0"/>
              </a:spcBef>
              <a:spcAft>
                <a:spcPts val="0"/>
              </a:spcAft>
            </a:pPr>
            <a:endParaRPr sz="2500" b="0" dirty="0">
              <a:solidFill>
                <a:srgbClr val="0F2343"/>
              </a:solidFill>
              <a:latin typeface="Aptos"/>
            </a:endParaRPr>
          </a:p>
        </p:txBody>
      </p:sp>
      <p:cxnSp>
        <p:nvCxnSpPr>
          <p:cNvPr id="31" name="Connector 30"/>
          <p:cNvCxnSpPr>
            <a:cxnSpLocks/>
          </p:cNvCxnSpPr>
          <p:nvPr/>
        </p:nvCxnSpPr>
        <p:spPr>
          <a:xfrm>
            <a:off x="6126480" y="4169780"/>
            <a:ext cx="4352396"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126480" y="3996043"/>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478876" y="3996043"/>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4" name="Text: Verification"/>
          <p:cNvSpPr txBox="1"/>
          <p:nvPr/>
        </p:nvSpPr>
        <p:spPr>
          <a:xfrm>
            <a:off x="6563558" y="4730005"/>
            <a:ext cx="4490819" cy="502920"/>
          </a:xfrm>
          <a:prstGeom prst="rect">
            <a:avLst/>
          </a:prstGeom>
          <a:noFill/>
        </p:spPr>
        <p:txBody>
          <a:bodyPr wrap="square" lIns="0" tIns="0" rIns="0" bIns="0" anchor="ctr">
            <a:noAutofit/>
          </a:bodyPr>
          <a:lstStyle/>
          <a:p>
            <a:pPr algn="ctr">
              <a:lnSpc>
                <a:spcPct val="106000"/>
              </a:lnSpc>
              <a:spcBef>
                <a:spcPts val="0"/>
              </a:spcBef>
              <a:spcAft>
                <a:spcPts val="0"/>
              </a:spcAft>
            </a:pPr>
            <a:r>
              <a:rPr sz="2900" b="1" dirty="0">
                <a:solidFill>
                  <a:srgbClr val="0F2343"/>
                </a:solidFill>
                <a:latin typeface="Aptos"/>
              </a:rPr>
              <a:t>Verification</a:t>
            </a:r>
          </a:p>
        </p:txBody>
      </p:sp>
      <p:sp>
        <p:nvSpPr>
          <p:cNvPr id="35" name="Text: Solved right?"/>
          <p:cNvSpPr txBox="1"/>
          <p:nvPr/>
        </p:nvSpPr>
        <p:spPr>
          <a:xfrm>
            <a:off x="6169769" y="5315801"/>
            <a:ext cx="5367355" cy="841927"/>
          </a:xfrm>
          <a:prstGeom prst="rect">
            <a:avLst/>
          </a:prstGeom>
          <a:noFill/>
        </p:spPr>
        <p:txBody>
          <a:bodyPr wrap="square" lIns="0" tIns="0" rIns="0" bIns="0" anchor="t">
            <a:noAutofit/>
          </a:bodyPr>
          <a:lstStyle/>
          <a:p>
            <a:pPr algn="ctr">
              <a:lnSpc>
                <a:spcPct val="106000"/>
              </a:lnSpc>
              <a:spcBef>
                <a:spcPts val="0"/>
              </a:spcBef>
              <a:spcAft>
                <a:spcPts val="0"/>
              </a:spcAft>
            </a:pPr>
            <a:r>
              <a:rPr lang="en-US" sz="2500" b="0" dirty="0">
                <a:solidFill>
                  <a:srgbClr val="0F2343"/>
                </a:solidFill>
                <a:latin typeface="Aptos"/>
              </a:rPr>
              <a:t>Are we solving the problem right</a:t>
            </a:r>
            <a:r>
              <a:rPr sz="2500" b="0" dirty="0">
                <a:solidFill>
                  <a:srgbClr val="0F2343"/>
                </a:solidFill>
                <a:latin typeface="Aptos"/>
              </a:rPr>
              <a:t>?</a:t>
            </a:r>
            <a:endParaRPr lang="en-US" sz="2500" b="0" dirty="0">
              <a:solidFill>
                <a:srgbClr val="0F2343"/>
              </a:solidFill>
              <a:latin typeface="Aptos"/>
            </a:endParaRPr>
          </a:p>
          <a:p>
            <a:pPr algn="ctr">
              <a:lnSpc>
                <a:spcPct val="106000"/>
              </a:lnSpc>
            </a:pPr>
            <a:r>
              <a:rPr lang="en-US" sz="2000" i="1" dirty="0">
                <a:solidFill>
                  <a:srgbClr val="0F2343"/>
                </a:solidFill>
                <a:latin typeface="Aptos"/>
              </a:rPr>
              <a:t>(software problem)</a:t>
            </a:r>
          </a:p>
          <a:p>
            <a:pPr algn="ctr">
              <a:lnSpc>
                <a:spcPct val="106000"/>
              </a:lnSpc>
              <a:spcBef>
                <a:spcPts val="0"/>
              </a:spcBef>
              <a:spcAft>
                <a:spcPts val="0"/>
              </a:spcAft>
            </a:pPr>
            <a:endParaRPr sz="2500" b="0" dirty="0">
              <a:solidFill>
                <a:srgbClr val="0F2343"/>
              </a:solidFill>
              <a:latin typeface="Aptos"/>
            </a:endParaRPr>
          </a:p>
        </p:txBody>
      </p:sp>
      <p:sp>
        <p:nvSpPr>
          <p:cNvPr id="40" name="TextBox 39">
            <a:extLst>
              <a:ext uri="{FF2B5EF4-FFF2-40B4-BE49-F238E27FC236}">
                <a16:creationId xmlns:a16="http://schemas.microsoft.com/office/drawing/2014/main" id="{EECE84F1-75B7-ACCB-BA87-95B7455F737D}"/>
              </a:ext>
            </a:extLst>
          </p:cNvPr>
          <p:cNvSpPr txBox="1"/>
          <p:nvPr/>
        </p:nvSpPr>
        <p:spPr>
          <a:xfrm>
            <a:off x="2961064" y="4167149"/>
            <a:ext cx="1327286" cy="369332"/>
          </a:xfrm>
          <a:prstGeom prst="rect">
            <a:avLst/>
          </a:prstGeom>
          <a:noFill/>
        </p:spPr>
        <p:txBody>
          <a:bodyPr wrap="none" rtlCol="0">
            <a:spAutoFit/>
          </a:bodyPr>
          <a:lstStyle/>
          <a:p>
            <a:r>
              <a:rPr lang="en-US" b="1" dirty="0">
                <a:solidFill>
                  <a:srgbClr val="F97316"/>
                </a:solidFill>
                <a:latin typeface="Aptos" panose="020B0004020202020204" pitchFamily="34" charset="0"/>
              </a:rPr>
              <a:t>translation</a:t>
            </a:r>
          </a:p>
        </p:txBody>
      </p:sp>
      <p:sp>
        <p:nvSpPr>
          <p:cNvPr id="41" name="TextBox 40">
            <a:extLst>
              <a:ext uri="{FF2B5EF4-FFF2-40B4-BE49-F238E27FC236}">
                <a16:creationId xmlns:a16="http://schemas.microsoft.com/office/drawing/2014/main" id="{F3BA9670-478E-C84E-DEF8-1F11ECBC36BD}"/>
              </a:ext>
            </a:extLst>
          </p:cNvPr>
          <p:cNvSpPr txBox="1"/>
          <p:nvPr/>
        </p:nvSpPr>
        <p:spPr>
          <a:xfrm>
            <a:off x="7731505" y="4156483"/>
            <a:ext cx="1327286" cy="369332"/>
          </a:xfrm>
          <a:prstGeom prst="rect">
            <a:avLst/>
          </a:prstGeom>
          <a:noFill/>
        </p:spPr>
        <p:txBody>
          <a:bodyPr wrap="none" rtlCol="0">
            <a:spAutoFit/>
          </a:bodyPr>
          <a:lstStyle/>
          <a:p>
            <a:r>
              <a:rPr lang="en-US" b="1" dirty="0">
                <a:solidFill>
                  <a:srgbClr val="F97316"/>
                </a:solidFill>
                <a:latin typeface="Aptos" panose="020B0004020202020204" pitchFamily="34" charset="0"/>
              </a:rPr>
              <a:t>translation</a:t>
            </a:r>
          </a:p>
        </p:txBody>
      </p:sp>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0C484C15-D885-FB0C-4F95-FE1CCD51E826}"/>
                  </a:ext>
                </a:extLst>
              </p:cNvPr>
              <p:cNvSpPr txBox="1"/>
              <p:nvPr/>
            </p:nvSpPr>
            <p:spPr>
              <a:xfrm>
                <a:off x="5205862" y="2304276"/>
                <a:ext cx="1624868" cy="993734"/>
              </a:xfrm>
              <a:prstGeom prst="rect">
                <a:avLst/>
              </a:prstGeom>
              <a:noFill/>
            </p:spPr>
            <p:txBody>
              <a:bodyPr wrap="none" lIns="0" tIns="0" rIns="0" bIns="0" rtlCol="0">
                <a:spAutoFit/>
              </a:bodyPr>
              <a:lstStyle/>
              <a:p>
                <a14:m>
                  <m:oMathPara xmlns:m="http://schemas.openxmlformats.org/officeDocument/2006/math">
                    <m:oMath>
                      <m:r>
                        <a:rPr lang="en-US" sz="3200" b="1" i="1" smtClean="0">
                          <a:solidFill>
                            <a:srgbClr val="07142B"/>
                          </a:solidFill>
                          <a:latin typeface="Cambria Math" panose="02040503050406030204" pitchFamily="18" charset="0"/>
                        </a:rPr>
                        <m:t>𝑴𝒊𝒏</m:t>
                      </m:r>
                      <m:r>
                        <a:rPr lang="en-US" sz="3200" b="1" i="1" smtClean="0">
                          <a:solidFill>
                            <a:srgbClr val="07142B"/>
                          </a:solidFill>
                          <a:latin typeface="Cambria Math" panose="02040503050406030204" pitchFamily="18" charset="0"/>
                        </a:rPr>
                        <m:t> </m:t>
                      </m:r>
                      <m:sSup>
                        <m:sSupPr>
                          <m:ctrlPr>
                            <a:rPr lang="en-US" sz="3200" b="1" i="1" smtClean="0">
                              <a:solidFill>
                                <a:srgbClr val="07142B"/>
                              </a:solidFill>
                              <a:latin typeface="Cambria Math" panose="02040503050406030204" pitchFamily="18" charset="0"/>
                            </a:rPr>
                          </m:ctrlPr>
                        </m:sSupPr>
                        <m:e>
                          <m:r>
                            <a:rPr lang="en-US" sz="3200" b="1" i="1" smtClean="0">
                              <a:solidFill>
                                <a:srgbClr val="07142B"/>
                              </a:solidFill>
                              <a:latin typeface="Cambria Math" panose="02040503050406030204" pitchFamily="18" charset="0"/>
                            </a:rPr>
                            <m:t>𝒄</m:t>
                          </m:r>
                        </m:e>
                        <m:sup>
                          <m:r>
                            <a:rPr lang="en-US" sz="3200" b="1" i="1" smtClean="0">
                              <a:solidFill>
                                <a:srgbClr val="07142B"/>
                              </a:solidFill>
                              <a:latin typeface="Cambria Math" panose="02040503050406030204" pitchFamily="18" charset="0"/>
                            </a:rPr>
                            <m:t>𝑻</m:t>
                          </m:r>
                        </m:sup>
                      </m:sSup>
                      <m:r>
                        <a:rPr lang="en-US" sz="3200" b="1" i="1" smtClean="0">
                          <a:solidFill>
                            <a:srgbClr val="07142B"/>
                          </a:solidFill>
                          <a:latin typeface="Cambria Math" panose="02040503050406030204" pitchFamily="18" charset="0"/>
                        </a:rPr>
                        <m:t>𝒙</m:t>
                      </m:r>
                    </m:oMath>
                  </m:oMathPara>
                </a14:m>
                <a:endParaRPr lang="en-US" sz="3200" b="1" dirty="0">
                  <a:solidFill>
                    <a:srgbClr val="07142B"/>
                  </a:solidFill>
                </a:endParaRPr>
              </a:p>
              <a:p>
                <a14:m>
                  <m:oMathPara xmlns:m="http://schemas.openxmlformats.org/officeDocument/2006/math">
                    <m:oMath>
                      <m:r>
                        <a:rPr lang="en-US" sz="3200" b="1" i="1" smtClean="0">
                          <a:solidFill>
                            <a:srgbClr val="07142B"/>
                          </a:solidFill>
                          <a:latin typeface="Cambria Math" panose="02040503050406030204" pitchFamily="18" charset="0"/>
                        </a:rPr>
                        <m:t>𝑨𝒙</m:t>
                      </m:r>
                      <m:r>
                        <a:rPr lang="en-US" sz="3200" b="1" i="1" smtClean="0">
                          <a:solidFill>
                            <a:srgbClr val="07142B"/>
                          </a:solidFill>
                          <a:latin typeface="Cambria Math" panose="02040503050406030204" pitchFamily="18" charset="0"/>
                        </a:rPr>
                        <m:t>≤</m:t>
                      </m:r>
                      <m:r>
                        <a:rPr lang="en-US" sz="3200" b="1" i="1" smtClean="0">
                          <a:solidFill>
                            <a:srgbClr val="07142B"/>
                          </a:solidFill>
                          <a:latin typeface="Cambria Math" panose="02040503050406030204" pitchFamily="18" charset="0"/>
                        </a:rPr>
                        <m:t>𝒃</m:t>
                      </m:r>
                    </m:oMath>
                  </m:oMathPara>
                </a14:m>
                <a:endParaRPr lang="en-US" sz="3200" b="1" dirty="0">
                  <a:solidFill>
                    <a:srgbClr val="07142B"/>
                  </a:solidFill>
                </a:endParaRPr>
              </a:p>
            </p:txBody>
          </p:sp>
        </mc:Choice>
        <mc:Fallback>
          <p:sp>
            <p:nvSpPr>
              <p:cNvPr id="42" name="TextBox 41">
                <a:extLst>
                  <a:ext uri="{FF2B5EF4-FFF2-40B4-BE49-F238E27FC236}">
                    <a16:creationId xmlns:a16="http://schemas.microsoft.com/office/drawing/2014/main" id="{0C484C15-D885-FB0C-4F95-FE1CCD51E826}"/>
                  </a:ext>
                </a:extLst>
              </p:cNvPr>
              <p:cNvSpPr txBox="1">
                <a:spLocks noRot="1" noChangeAspect="1" noMove="1" noResize="1" noEditPoints="1" noAdjustHandles="1" noChangeArrowheads="1" noChangeShapeType="1" noTextEdit="1"/>
              </p:cNvSpPr>
              <p:nvPr/>
            </p:nvSpPr>
            <p:spPr>
              <a:xfrm>
                <a:off x="5205862" y="2304276"/>
                <a:ext cx="1624868" cy="993734"/>
              </a:xfrm>
              <a:prstGeom prst="rect">
                <a:avLst/>
              </a:prstGeom>
              <a:blipFill>
                <a:blip r:embed="rId3"/>
                <a:stretch>
                  <a:fillRect/>
                </a:stretch>
              </a:blipFill>
            </p:spPr>
            <p:txBody>
              <a:bodyPr/>
              <a:lstStyle/>
              <a:p>
                <a:r>
                  <a:rPr lang="en-US">
                    <a:noFill/>
                  </a:rPr>
                  <a:t> </a:t>
                </a:r>
              </a:p>
            </p:txBody>
          </p:sp>
        </mc:Fallback>
      </mc:AlternateContent>
      <p:sp>
        <p:nvSpPr>
          <p:cNvPr id="43" name="Slide Number Placeholder 42">
            <a:extLst>
              <a:ext uri="{FF2B5EF4-FFF2-40B4-BE49-F238E27FC236}">
                <a16:creationId xmlns:a16="http://schemas.microsoft.com/office/drawing/2014/main" id="{B7066ACB-7113-27EB-7CF1-3D08D1E5BB49}"/>
              </a:ext>
            </a:extLst>
          </p:cNvPr>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Our example: selecting</a:t>
            </a:r>
            <a:r>
              <a:rPr sz="4000" b="1" dirty="0">
                <a:solidFill>
                  <a:srgbClr val="0F2343"/>
                </a:solidFill>
                <a:latin typeface="Aptos Display"/>
              </a:rPr>
              <a:t> cargo for </a:t>
            </a:r>
            <a:r>
              <a:rPr lang="en-US" sz="4000" b="1" dirty="0">
                <a:solidFill>
                  <a:srgbClr val="0F2343"/>
                </a:solidFill>
                <a:latin typeface="Aptos Display"/>
              </a:rPr>
              <a:t>a</a:t>
            </a:r>
            <a:r>
              <a:rPr sz="4000" b="1" dirty="0">
                <a:solidFill>
                  <a:srgbClr val="0F2343"/>
                </a:solidFill>
                <a:latin typeface="Aptos Display"/>
              </a:rPr>
              <a:t> flight</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cargo-planner" descr="cargo planner"/>
          <p:cNvPicPr>
            <a:picLocks noChangeAspect="1"/>
          </p:cNvPicPr>
          <p:nvPr/>
        </p:nvPicPr>
        <p:blipFill>
          <a:blip r:embed="rId3"/>
          <a:srcRect t="14207" b="14207"/>
          <a:stretch>
            <a:fillRect/>
          </a:stretch>
        </p:blipFill>
        <p:spPr>
          <a:xfrm>
            <a:off x="521207" y="1746504"/>
            <a:ext cx="11155680" cy="4489704"/>
          </a:xfrm>
          <a:prstGeom prst="rect">
            <a:avLst/>
          </a:prstGeom>
        </p:spPr>
      </p:pic>
      <p:sp>
        <p:nvSpPr>
          <p:cNvPr id="11" name="Slide Number Placeholder 10">
            <a:extLst>
              <a:ext uri="{FF2B5EF4-FFF2-40B4-BE49-F238E27FC236}">
                <a16:creationId xmlns:a16="http://schemas.microsoft.com/office/drawing/2014/main" id="{73E86C11-132B-AADC-7F12-83AB0552E495}"/>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7DAD4-3697-20B9-EA62-E6E55DED5BB2}"/>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02F7972D-CE3B-EC1B-3C8E-04D4F2813CBC}"/>
              </a:ext>
            </a:extLst>
          </p:cNvPr>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Agenda for today</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BE0FD848-6CC1-36A1-4436-4DEBC44785B0}"/>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67615CE9-B78F-FE76-AB13-FCE941B0C439}"/>
              </a:ext>
            </a:extLst>
          </p:cNvPr>
          <p:cNvSpPr txBox="1"/>
          <p:nvPr/>
        </p:nvSpPr>
        <p:spPr>
          <a:xfrm>
            <a:off x="458724" y="1749871"/>
            <a:ext cx="11274552" cy="3807004"/>
          </a:xfrm>
          <a:prstGeom prst="rect">
            <a:avLst/>
          </a:prstGeom>
          <a:noFill/>
        </p:spPr>
        <p:txBody>
          <a:bodyPr wrap="square" tIns="0" rIns="45720" bIns="0">
            <a:spAutoFit/>
          </a:bodyPr>
          <a:lstStyle/>
          <a:p>
            <a:pPr marL="285750" indent="-285750" algn="l">
              <a:lnSpc>
                <a:spcPct val="200000"/>
              </a:lnSpc>
              <a:buFont typeface="Arial" panose="020B0604020202020204" pitchFamily="34" charset="0"/>
              <a:buChar char="•"/>
            </a:pPr>
            <a:r>
              <a:rPr lang="en-US" sz="3200" dirty="0">
                <a:solidFill>
                  <a:srgbClr val="0F2343"/>
                </a:solidFill>
                <a:latin typeface="Aptos"/>
              </a:rPr>
              <a:t>Part I – What is a decision-support system?</a:t>
            </a:r>
          </a:p>
          <a:p>
            <a:pPr marL="285750" indent="-285750" algn="l">
              <a:lnSpc>
                <a:spcPct val="200000"/>
              </a:lnSpc>
              <a:buFont typeface="Arial" panose="020B0604020202020204" pitchFamily="34" charset="0"/>
              <a:buChar char="•"/>
            </a:pPr>
            <a:r>
              <a:rPr lang="en-US" sz="3200" b="1" dirty="0">
                <a:solidFill>
                  <a:srgbClr val="0F2343"/>
                </a:solidFill>
                <a:latin typeface="Aptos"/>
              </a:rPr>
              <a:t>Part II – Are we solving the right problem?</a:t>
            </a:r>
          </a:p>
          <a:p>
            <a:pPr marL="285750" indent="-285750" algn="l">
              <a:lnSpc>
                <a:spcPct val="200000"/>
              </a:lnSpc>
              <a:buFont typeface="Arial" panose="020B0604020202020204" pitchFamily="34" charset="0"/>
              <a:buChar char="•"/>
            </a:pPr>
            <a:r>
              <a:rPr lang="en-US" sz="3200" dirty="0">
                <a:solidFill>
                  <a:srgbClr val="0F2343"/>
                </a:solidFill>
                <a:latin typeface="Aptos"/>
              </a:rPr>
              <a:t>Part III – Are we solving the problem right?</a:t>
            </a:r>
          </a:p>
          <a:p>
            <a:pPr marL="285750" indent="-285750">
              <a:lnSpc>
                <a:spcPct val="200000"/>
              </a:lnSpc>
              <a:buFont typeface="Arial" panose="020B0604020202020204" pitchFamily="34" charset="0"/>
              <a:buChar char="•"/>
            </a:pPr>
            <a:r>
              <a:rPr lang="en-US" sz="3200" dirty="0">
                <a:solidFill>
                  <a:srgbClr val="0F2343"/>
                </a:solidFill>
                <a:latin typeface="Aptos"/>
              </a:rPr>
              <a:t>Part IV – Closing &amp; conclusions</a:t>
            </a:r>
            <a:endParaRPr lang="en-US" sz="2800" dirty="0">
              <a:solidFill>
                <a:srgbClr val="0F2343"/>
              </a:solidFill>
              <a:latin typeface="Aptos"/>
            </a:endParaRPr>
          </a:p>
        </p:txBody>
      </p:sp>
      <p:sp>
        <p:nvSpPr>
          <p:cNvPr id="4" name="Slide Number Placeholder 3">
            <a:extLst>
              <a:ext uri="{FF2B5EF4-FFF2-40B4-BE49-F238E27FC236}">
                <a16:creationId xmlns:a16="http://schemas.microsoft.com/office/drawing/2014/main" id="{0A24F969-1D96-9837-03F2-055239A85D56}"/>
              </a:ext>
            </a:extLst>
          </p:cNvPr>
          <p:cNvSpPr>
            <a:spLocks noGrp="1"/>
          </p:cNvSpPr>
          <p:nvPr>
            <p:ph type="sldNum" sz="quarter" idx="12"/>
          </p:nvPr>
        </p:nvSpPr>
        <p:spPr/>
        <p:txBody>
          <a:bodyPr/>
          <a:lstStyle/>
          <a:p>
            <a:fld id="{C1FF6DA9-008F-8B48-92A6-B652298478BF}" type="slidenum">
              <a:rPr lang="en-US" smtClean="0"/>
              <a:t>11</a:t>
            </a:fld>
            <a:endParaRPr lang="en-US"/>
          </a:p>
        </p:txBody>
      </p:sp>
    </p:spTree>
    <p:extLst>
      <p:ext uri="{BB962C8B-B14F-4D97-AF65-F5344CB8AC3E}">
        <p14:creationId xmlns:p14="http://schemas.microsoft.com/office/powerpoint/2010/main" val="10040845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73434-F38A-A508-4E51-7BB77C1E8298}"/>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5AC68A64-2666-2259-15D9-47B1AF53F07A}"/>
              </a:ext>
            </a:extLst>
          </p:cNvPr>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Key elements to define an analytical problem</a:t>
            </a:r>
            <a:endParaRPr sz="4000" b="1" dirty="0">
              <a:solidFill>
                <a:srgbClr val="0F2343"/>
              </a:solidFill>
              <a:latin typeface="Aptos Display"/>
            </a:endParaRPr>
          </a:p>
        </p:txBody>
      </p:sp>
      <p:sp>
        <p:nvSpPr>
          <p:cNvPr id="9" name="Rectangle 8">
            <a:extLst>
              <a:ext uri="{FF2B5EF4-FFF2-40B4-BE49-F238E27FC236}">
                <a16:creationId xmlns:a16="http://schemas.microsoft.com/office/drawing/2014/main" id="{72CDE811-85DC-C5BE-E867-803C751464EA}"/>
              </a:ext>
            </a:extLst>
          </p:cNvPr>
          <p:cNvSpPr/>
          <p:nvPr/>
        </p:nvSpPr>
        <p:spPr>
          <a:xfrm>
            <a:off x="502920" y="1684103"/>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AAB11F7D-47FF-EF2C-9867-32C71970DA71}"/>
              </a:ext>
            </a:extLst>
          </p:cNvPr>
          <p:cNvSpPr txBox="1"/>
          <p:nvPr/>
        </p:nvSpPr>
        <p:spPr>
          <a:xfrm>
            <a:off x="365760" y="2074330"/>
            <a:ext cx="11567160" cy="4295278"/>
          </a:xfrm>
          <a:prstGeom prst="rect">
            <a:avLst/>
          </a:prstGeom>
          <a:noFill/>
        </p:spPr>
        <p:txBody>
          <a:bodyPr wrap="square" tIns="0" rIns="45720" bIns="0">
            <a:spAutoFit/>
          </a:bodyPr>
          <a:lstStyle/>
          <a:p>
            <a:pPr marL="285750" indent="-285750" algn="l">
              <a:lnSpc>
                <a:spcPct val="150000"/>
              </a:lnSpc>
              <a:buFont typeface="Arial" panose="020B0604020202020204" pitchFamily="34" charset="0"/>
              <a:buChar char="•"/>
            </a:pPr>
            <a:r>
              <a:rPr lang="en-US" sz="2400" b="1" dirty="0">
                <a:solidFill>
                  <a:srgbClr val="0F2343"/>
                </a:solidFill>
                <a:latin typeface="Aptos"/>
              </a:rPr>
              <a:t>Stakeholders</a:t>
            </a:r>
            <a:r>
              <a:rPr lang="en-US" sz="2400" b="0" dirty="0">
                <a:solidFill>
                  <a:srgbClr val="0F2343"/>
                </a:solidFill>
                <a:latin typeface="Aptos"/>
              </a:rPr>
              <a:t>: 		who cares?</a:t>
            </a:r>
          </a:p>
          <a:p>
            <a:pPr marL="285750" indent="-285750" algn="l">
              <a:lnSpc>
                <a:spcPct val="150000"/>
              </a:lnSpc>
              <a:buFont typeface="Arial" panose="020B0604020202020204" pitchFamily="34" charset="0"/>
              <a:buChar char="•"/>
            </a:pPr>
            <a:r>
              <a:rPr lang="en-US" sz="2400" b="1" dirty="0">
                <a:solidFill>
                  <a:srgbClr val="0F2343"/>
                </a:solidFill>
                <a:latin typeface="Aptos"/>
              </a:rPr>
              <a:t>Objectives</a:t>
            </a:r>
            <a:r>
              <a:rPr lang="en-US" sz="2400" dirty="0">
                <a:solidFill>
                  <a:srgbClr val="0F2343"/>
                </a:solidFill>
                <a:latin typeface="Aptos"/>
              </a:rPr>
              <a:t>: 		what do we want to achieve?</a:t>
            </a:r>
          </a:p>
          <a:p>
            <a:pPr marL="285750" indent="-285750" algn="l">
              <a:lnSpc>
                <a:spcPct val="150000"/>
              </a:lnSpc>
              <a:buFont typeface="Arial" panose="020B0604020202020204" pitchFamily="34" charset="0"/>
              <a:buChar char="•"/>
            </a:pPr>
            <a:r>
              <a:rPr lang="en-US" sz="2400" b="1" dirty="0">
                <a:solidFill>
                  <a:srgbClr val="0F2343"/>
                </a:solidFill>
                <a:latin typeface="Aptos"/>
              </a:rPr>
              <a:t>Decisions</a:t>
            </a:r>
            <a:r>
              <a:rPr lang="en-US" sz="2400" b="0" dirty="0">
                <a:solidFill>
                  <a:srgbClr val="0F2343"/>
                </a:solidFill>
                <a:latin typeface="Aptos"/>
              </a:rPr>
              <a:t>: 			what do we control?</a:t>
            </a:r>
          </a:p>
          <a:p>
            <a:pPr marL="285750" indent="-285750" algn="l">
              <a:lnSpc>
                <a:spcPct val="150000"/>
              </a:lnSpc>
              <a:buFont typeface="Arial" panose="020B0604020202020204" pitchFamily="34" charset="0"/>
              <a:buChar char="•"/>
            </a:pPr>
            <a:r>
              <a:rPr lang="en-US" sz="2400" b="1" dirty="0">
                <a:solidFill>
                  <a:srgbClr val="0F2343"/>
                </a:solidFill>
                <a:latin typeface="Aptos"/>
              </a:rPr>
              <a:t>Constraints</a:t>
            </a:r>
            <a:r>
              <a:rPr lang="en-US" sz="2400" dirty="0">
                <a:solidFill>
                  <a:srgbClr val="0F2343"/>
                </a:solidFill>
                <a:latin typeface="Aptos"/>
              </a:rPr>
              <a:t>: 		what can’t we do? (hard &amp; soft)</a:t>
            </a:r>
          </a:p>
          <a:p>
            <a:pPr marL="285750" indent="-285750" algn="l">
              <a:lnSpc>
                <a:spcPct val="150000"/>
              </a:lnSpc>
              <a:buFont typeface="Arial" panose="020B0604020202020204" pitchFamily="34" charset="0"/>
              <a:buChar char="•"/>
            </a:pPr>
            <a:r>
              <a:rPr lang="en-US" sz="2400" b="1" dirty="0">
                <a:solidFill>
                  <a:srgbClr val="0F2343"/>
                </a:solidFill>
                <a:latin typeface="Aptos"/>
              </a:rPr>
              <a:t>Data</a:t>
            </a:r>
            <a:r>
              <a:rPr lang="en-US" sz="2400" b="0" dirty="0">
                <a:solidFill>
                  <a:srgbClr val="0F2343"/>
                </a:solidFill>
                <a:latin typeface="Aptos"/>
              </a:rPr>
              <a:t>: 				what information is available?</a:t>
            </a:r>
          </a:p>
          <a:p>
            <a:pPr marL="285750" indent="-285750" algn="l">
              <a:lnSpc>
                <a:spcPct val="150000"/>
              </a:lnSpc>
              <a:buFont typeface="Arial" panose="020B0604020202020204" pitchFamily="34" charset="0"/>
              <a:buChar char="•"/>
            </a:pPr>
            <a:r>
              <a:rPr lang="en-US" sz="2400" b="1" dirty="0">
                <a:solidFill>
                  <a:srgbClr val="0F2343"/>
                </a:solidFill>
                <a:latin typeface="Aptos"/>
              </a:rPr>
              <a:t>Risk</a:t>
            </a:r>
            <a:r>
              <a:rPr lang="en-US" sz="2400" dirty="0">
                <a:solidFill>
                  <a:srgbClr val="0F2343"/>
                </a:solidFill>
                <a:latin typeface="Aptos"/>
              </a:rPr>
              <a:t>: 				what can go wrong?</a:t>
            </a:r>
            <a:endParaRPr lang="en-US" sz="2400" b="0" dirty="0">
              <a:solidFill>
                <a:srgbClr val="0F2343"/>
              </a:solidFill>
              <a:latin typeface="Aptos"/>
            </a:endParaRPr>
          </a:p>
          <a:p>
            <a:pPr marL="285750" indent="-285750" algn="l">
              <a:lnSpc>
                <a:spcPct val="150000"/>
              </a:lnSpc>
              <a:buFont typeface="Arial" panose="020B0604020202020204" pitchFamily="34" charset="0"/>
              <a:buChar char="•"/>
            </a:pPr>
            <a:r>
              <a:rPr lang="en-US" sz="2400" b="1" dirty="0">
                <a:solidFill>
                  <a:srgbClr val="0F2343"/>
                </a:solidFill>
                <a:latin typeface="Aptos"/>
              </a:rPr>
              <a:t>Scope</a:t>
            </a:r>
            <a:r>
              <a:rPr lang="en-US" sz="2400" dirty="0">
                <a:solidFill>
                  <a:srgbClr val="0F2343"/>
                </a:solidFill>
                <a:latin typeface="Aptos"/>
              </a:rPr>
              <a:t>: 				what do we omit?</a:t>
            </a:r>
            <a:endParaRPr lang="en-US" sz="2400" b="0" dirty="0">
              <a:solidFill>
                <a:srgbClr val="0F2343"/>
              </a:solidFill>
              <a:latin typeface="Aptos"/>
            </a:endParaRPr>
          </a:p>
          <a:p>
            <a:pPr marL="285750" indent="-285750" algn="l">
              <a:lnSpc>
                <a:spcPct val="150000"/>
              </a:lnSpc>
              <a:buFont typeface="Arial" panose="020B0604020202020204" pitchFamily="34" charset="0"/>
              <a:buChar char="•"/>
            </a:pPr>
            <a:endParaRPr lang="en-US" sz="2000" dirty="0">
              <a:solidFill>
                <a:srgbClr val="0F2343"/>
              </a:solidFill>
              <a:latin typeface="Aptos"/>
            </a:endParaRPr>
          </a:p>
        </p:txBody>
      </p:sp>
      <p:sp>
        <p:nvSpPr>
          <p:cNvPr id="4" name="TextBox 3">
            <a:extLst>
              <a:ext uri="{FF2B5EF4-FFF2-40B4-BE49-F238E27FC236}">
                <a16:creationId xmlns:a16="http://schemas.microsoft.com/office/drawing/2014/main" id="{D17DAF79-1E16-88D7-0B03-70EE943B740C}"/>
              </a:ext>
            </a:extLst>
          </p:cNvPr>
          <p:cNvSpPr txBox="1"/>
          <p:nvPr/>
        </p:nvSpPr>
        <p:spPr>
          <a:xfrm>
            <a:off x="365760" y="6366333"/>
            <a:ext cx="5899372" cy="246221"/>
          </a:xfrm>
          <a:prstGeom prst="rect">
            <a:avLst/>
          </a:prstGeom>
          <a:noFill/>
        </p:spPr>
        <p:txBody>
          <a:bodyPr wrap="none" rtlCol="0">
            <a:spAutoFit/>
          </a:bodyPr>
          <a:lstStyle/>
          <a:p>
            <a:r>
              <a:rPr lang="en-US" sz="1000" dirty="0"/>
              <a:t>Other sources: </a:t>
            </a:r>
            <a:r>
              <a:rPr lang="en-US" sz="1000" dirty="0">
                <a:hlinkClick r:id="rId3"/>
              </a:rPr>
              <a:t>https://www.informs.org/Professional-Development/INFORMS-Analytics-Framework/Explore</a:t>
            </a:r>
            <a:r>
              <a:rPr lang="en-US" sz="1000" dirty="0"/>
              <a:t>  </a:t>
            </a:r>
          </a:p>
        </p:txBody>
      </p:sp>
      <p:sp>
        <p:nvSpPr>
          <p:cNvPr id="10" name="Slide Number Placeholder 9">
            <a:extLst>
              <a:ext uri="{FF2B5EF4-FFF2-40B4-BE49-F238E27FC236}">
                <a16:creationId xmlns:a16="http://schemas.microsoft.com/office/drawing/2014/main" id="{D863E3CC-4941-3590-689D-6F8858A52625}"/>
              </a:ext>
            </a:extLst>
          </p:cNvPr>
          <p:cNvSpPr>
            <a:spLocks noGrp="1"/>
          </p:cNvSpPr>
          <p:nvPr>
            <p:ph type="sldNum" sz="quarter" idx="12"/>
          </p:nvPr>
        </p:nvSpPr>
        <p:spPr/>
        <p:txBody>
          <a:bodyPr/>
          <a:lstStyle/>
          <a:p>
            <a:fld id="{C1FF6DA9-008F-8B48-92A6-B652298478BF}" type="slidenum">
              <a:rPr lang="en-US" smtClean="0"/>
              <a:t>12</a:t>
            </a:fld>
            <a:endParaRPr lang="en-US"/>
          </a:p>
        </p:txBody>
      </p:sp>
    </p:spTree>
    <p:extLst>
      <p:ext uri="{BB962C8B-B14F-4D97-AF65-F5344CB8AC3E}">
        <p14:creationId xmlns:p14="http://schemas.microsoft.com/office/powerpoint/2010/main" val="3165635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Read the initial email of the problem and then interview the planner (me)</a:t>
            </a:r>
            <a:endParaRPr sz="4000" b="1" dirty="0">
              <a:solidFill>
                <a:srgbClr val="0F2343"/>
              </a:solidFill>
              <a:latin typeface="Aptos Display"/>
            </a:endParaRPr>
          </a:p>
        </p:txBody>
      </p:sp>
      <p:sp>
        <p:nvSpPr>
          <p:cNvPr id="3" name="Rectangle 2"/>
          <p:cNvSpPr/>
          <p:nvPr/>
        </p:nvSpPr>
        <p:spPr>
          <a:xfrm>
            <a:off x="523388" y="1781708"/>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595884" y="6062472"/>
            <a:ext cx="11000232" cy="45720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Pairs  ·  1 minute  ·  2 questions"/>
          <p:cNvSpPr txBox="1"/>
          <p:nvPr/>
        </p:nvSpPr>
        <p:spPr>
          <a:xfrm>
            <a:off x="723900" y="6099048"/>
            <a:ext cx="10744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200" b="1" dirty="0">
                <a:solidFill>
                  <a:srgbClr val="0F2343"/>
                </a:solidFill>
                <a:latin typeface="Aptos"/>
              </a:rPr>
              <a:t>Pairs </a:t>
            </a:r>
            <a:r>
              <a:rPr lang="en-US" sz="2200" b="1" dirty="0">
                <a:solidFill>
                  <a:srgbClr val="0F2343"/>
                </a:solidFill>
                <a:latin typeface="Aptos"/>
              </a:rPr>
              <a:t>-</a:t>
            </a:r>
            <a:r>
              <a:rPr sz="2200" b="1" dirty="0">
                <a:solidFill>
                  <a:srgbClr val="0F2343"/>
                </a:solidFill>
                <a:latin typeface="Aptos"/>
              </a:rPr>
              <a:t>  </a:t>
            </a:r>
            <a:r>
              <a:rPr lang="en-US" sz="2200" b="1" dirty="0">
                <a:solidFill>
                  <a:srgbClr val="0F2343"/>
                </a:solidFill>
                <a:latin typeface="Aptos"/>
              </a:rPr>
              <a:t>10</a:t>
            </a:r>
            <a:r>
              <a:rPr sz="2200" b="1" dirty="0">
                <a:solidFill>
                  <a:srgbClr val="0F2343"/>
                </a:solidFill>
                <a:latin typeface="Aptos"/>
              </a:rPr>
              <a:t> minute</a:t>
            </a:r>
            <a:r>
              <a:rPr lang="en-US" sz="2200" b="1" dirty="0">
                <a:solidFill>
                  <a:srgbClr val="0F2343"/>
                </a:solidFill>
                <a:latin typeface="Aptos"/>
              </a:rPr>
              <a:t>s</a:t>
            </a:r>
            <a:r>
              <a:rPr sz="2200" b="1" dirty="0">
                <a:solidFill>
                  <a:srgbClr val="0F2343"/>
                </a:solidFill>
                <a:latin typeface="Aptos"/>
              </a:rPr>
              <a:t>  </a:t>
            </a:r>
            <a:r>
              <a:rPr lang="en-US" sz="2200" b="1" dirty="0">
                <a:solidFill>
                  <a:srgbClr val="0F2343"/>
                </a:solidFill>
                <a:latin typeface="Aptos"/>
              </a:rPr>
              <a:t>+</a:t>
            </a:r>
            <a:r>
              <a:rPr sz="2200" b="1" dirty="0">
                <a:solidFill>
                  <a:srgbClr val="0F2343"/>
                </a:solidFill>
                <a:latin typeface="Aptos"/>
              </a:rPr>
              <a:t> questions</a:t>
            </a:r>
          </a:p>
        </p:txBody>
      </p:sp>
      <p:pic>
        <p:nvPicPr>
          <p:cNvPr id="43" name="cargo-planner" descr="cargo planner">
            <a:extLst>
              <a:ext uri="{FF2B5EF4-FFF2-40B4-BE49-F238E27FC236}">
                <a16:creationId xmlns:a16="http://schemas.microsoft.com/office/drawing/2014/main" id="{22D012DE-3CFA-4116-E3C6-D33064200884}"/>
              </a:ext>
            </a:extLst>
          </p:cNvPr>
          <p:cNvPicPr>
            <a:picLocks noChangeAspect="1"/>
          </p:cNvPicPr>
          <p:nvPr/>
        </p:nvPicPr>
        <p:blipFill>
          <a:blip r:embed="rId3"/>
          <a:srcRect t="14207" b="14207"/>
          <a:stretch>
            <a:fillRect/>
          </a:stretch>
        </p:blipFill>
        <p:spPr>
          <a:xfrm>
            <a:off x="914612" y="1972442"/>
            <a:ext cx="9813640" cy="3949588"/>
          </a:xfrm>
          <a:prstGeom prst="rect">
            <a:avLst/>
          </a:prstGeom>
        </p:spPr>
      </p:pic>
      <p:sp>
        <p:nvSpPr>
          <p:cNvPr id="44" name="Slide Number Placeholder 43">
            <a:extLst>
              <a:ext uri="{FF2B5EF4-FFF2-40B4-BE49-F238E27FC236}">
                <a16:creationId xmlns:a16="http://schemas.microsoft.com/office/drawing/2014/main" id="{837177A9-D2D9-4E05-C9D6-38AA6C7E60C9}"/>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These e</a:t>
            </a:r>
            <a:r>
              <a:rPr sz="4000" b="1" dirty="0">
                <a:solidFill>
                  <a:srgbClr val="0F2343"/>
                </a:solidFill>
                <a:latin typeface="Aptos Display"/>
              </a:rPr>
              <a:t>xamples show what the planner would do</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 Example 1"/>
          <p:cNvSpPr txBox="1"/>
          <p:nvPr/>
        </p:nvSpPr>
        <p:spPr>
          <a:xfrm>
            <a:off x="777240" y="1764792"/>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Example 1</a:t>
            </a:r>
          </a:p>
        </p:txBody>
      </p:sp>
      <p:sp>
        <p:nvSpPr>
          <p:cNvPr id="7" name="Text: 500 kg limit"/>
          <p:cNvSpPr txBox="1"/>
          <p:nvPr/>
        </p:nvSpPr>
        <p:spPr>
          <a:xfrm>
            <a:off x="777240" y="2212848"/>
            <a:ext cx="5029200" cy="310896"/>
          </a:xfrm>
          <a:prstGeom prst="rect">
            <a:avLst/>
          </a:prstGeom>
          <a:noFill/>
        </p:spPr>
        <p:txBody>
          <a:bodyPr wrap="square" lIns="0" tIns="0" rIns="0" bIns="0" anchor="ctr">
            <a:noAutofit/>
          </a:bodyPr>
          <a:lstStyle/>
          <a:p>
            <a:pPr algn="ctr">
              <a:lnSpc>
                <a:spcPct val="106000"/>
              </a:lnSpc>
              <a:spcBef>
                <a:spcPts val="0"/>
              </a:spcBef>
              <a:spcAft>
                <a:spcPts val="0"/>
              </a:spcAft>
            </a:pPr>
            <a:r>
              <a:rPr lang="en-US" sz="2100" b="1" dirty="0">
                <a:solidFill>
                  <a:srgbClr val="F97316"/>
                </a:solidFill>
                <a:latin typeface="Aptos"/>
              </a:rPr>
              <a:t>Aircraft </a:t>
            </a:r>
            <a:r>
              <a:rPr sz="2100" b="1" dirty="0">
                <a:solidFill>
                  <a:srgbClr val="F97316"/>
                </a:solidFill>
                <a:latin typeface="Aptos"/>
              </a:rPr>
              <a:t>500 kg limit</a:t>
            </a:r>
          </a:p>
        </p:txBody>
      </p:sp>
      <p:graphicFrame>
        <p:nvGraphicFramePr>
          <p:cNvPr id="8" name="Table 7"/>
          <p:cNvGraphicFramePr>
            <a:graphicFrameLocks noGrp="1"/>
          </p:cNvGraphicFramePr>
          <p:nvPr/>
        </p:nvGraphicFramePr>
        <p:xfrm>
          <a:off x="777240" y="2761488"/>
          <a:ext cx="5029198" cy="2286000"/>
        </p:xfrm>
        <a:graphic>
          <a:graphicData uri="http://schemas.openxmlformats.org/drawingml/2006/table">
            <a:tbl>
              <a:tblPr firstRow="1" bandRow="1">
                <a:tableStyleId>{5C22544A-7EE6-4342-B048-85BDC9FD1C3A}</a:tableStyleId>
              </a:tblPr>
              <a:tblGrid>
                <a:gridCol w="2414015">
                  <a:extLst>
                    <a:ext uri="{9D8B030D-6E8A-4147-A177-3AD203B41FA5}">
                      <a16:colId xmlns:a16="http://schemas.microsoft.com/office/drawing/2014/main" val="20000"/>
                    </a:ext>
                  </a:extLst>
                </a:gridCol>
                <a:gridCol w="1207007">
                  <a:extLst>
                    <a:ext uri="{9D8B030D-6E8A-4147-A177-3AD203B41FA5}">
                      <a16:colId xmlns:a16="http://schemas.microsoft.com/office/drawing/2014/main" val="20001"/>
                    </a:ext>
                  </a:extLst>
                </a:gridCol>
                <a:gridCol w="1408176">
                  <a:extLst>
                    <a:ext uri="{9D8B030D-6E8A-4147-A177-3AD203B41FA5}">
                      <a16:colId xmlns:a16="http://schemas.microsoft.com/office/drawing/2014/main" val="20002"/>
                    </a:ext>
                  </a:extLst>
                </a:gridCol>
              </a:tblGrid>
              <a:tr h="475488">
                <a:tc>
                  <a:txBody>
                    <a:bodyPr/>
                    <a:lstStyle/>
                    <a:p>
                      <a:pPr algn="l">
                        <a:spcBef>
                          <a:spcPts val="0"/>
                        </a:spcBef>
                        <a:spcAft>
                          <a:spcPts val="0"/>
                        </a:spcAft>
                      </a:pPr>
                      <a:r>
                        <a:rPr sz="1800" b="1">
                          <a:solidFill>
                            <a:srgbClr val="FFFFFF"/>
                          </a:solidFill>
                          <a:latin typeface="Aptos"/>
                        </a:rPr>
                        <a:t>Customer</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Weight</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Revenue</a:t>
                      </a:r>
                    </a:p>
                  </a:txBody>
                  <a:tcPr marL="128016" marR="109728" anchor="ctr">
                    <a:solidFill>
                      <a:srgbClr val="0F2343"/>
                    </a:solidFill>
                  </a:tcPr>
                </a:tc>
                <a:extLst>
                  <a:ext uri="{0D108BD9-81ED-4DB2-BD59-A6C34878D82A}">
                    <a16:rowId xmlns:a16="http://schemas.microsoft.com/office/drawing/2014/main" val="10000"/>
                  </a:ext>
                </a:extLst>
              </a:tr>
              <a:tr h="603504">
                <a:tc>
                  <a:txBody>
                    <a:bodyPr/>
                    <a:lstStyle/>
                    <a:p>
                      <a:pPr algn="l">
                        <a:spcBef>
                          <a:spcPts val="0"/>
                        </a:spcBef>
                        <a:spcAft>
                          <a:spcPts val="0"/>
                        </a:spcAft>
                      </a:pPr>
                      <a:r>
                        <a:rPr sz="2000" b="0">
                          <a:solidFill>
                            <a:srgbClr val="0F2343"/>
                          </a:solidFill>
                          <a:latin typeface="Aptos"/>
                        </a:rPr>
                        <a:t>Atlas Steel</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500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$3,000</a:t>
                      </a:r>
                    </a:p>
                  </a:txBody>
                  <a:tcPr marL="128016" marR="109728" anchor="ctr">
                    <a:solidFill>
                      <a:srgbClr val="FFFFFF"/>
                    </a:solidFill>
                  </a:tcPr>
                </a:tc>
                <a:extLst>
                  <a:ext uri="{0D108BD9-81ED-4DB2-BD59-A6C34878D82A}">
                    <a16:rowId xmlns:a16="http://schemas.microsoft.com/office/drawing/2014/main" val="10001"/>
                  </a:ext>
                </a:extLst>
              </a:tr>
              <a:tr h="603504">
                <a:tc>
                  <a:txBody>
                    <a:bodyPr/>
                    <a:lstStyle/>
                    <a:p>
                      <a:pPr algn="l">
                        <a:spcBef>
                          <a:spcPts val="0"/>
                        </a:spcBef>
                        <a:spcAft>
                          <a:spcPts val="0"/>
                        </a:spcAft>
                      </a:pPr>
                      <a:r>
                        <a:rPr sz="2000" b="1">
                          <a:solidFill>
                            <a:srgbClr val="0F2343"/>
                          </a:solidFill>
                          <a:latin typeface="Aptos"/>
                        </a:rPr>
                        <a:t>Bighorn Auto</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250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$2,000</a:t>
                      </a:r>
                    </a:p>
                  </a:txBody>
                  <a:tcPr marL="128016" marR="109728" anchor="ctr">
                    <a:solidFill>
                      <a:srgbClr val="FFF0E5"/>
                    </a:solidFill>
                  </a:tcPr>
                </a:tc>
                <a:extLst>
                  <a:ext uri="{0D108BD9-81ED-4DB2-BD59-A6C34878D82A}">
                    <a16:rowId xmlns:a16="http://schemas.microsoft.com/office/drawing/2014/main" val="10002"/>
                  </a:ext>
                </a:extLst>
              </a:tr>
              <a:tr h="603504">
                <a:tc>
                  <a:txBody>
                    <a:bodyPr/>
                    <a:lstStyle/>
                    <a:p>
                      <a:pPr algn="l">
                        <a:spcBef>
                          <a:spcPts val="0"/>
                        </a:spcBef>
                        <a:spcAft>
                          <a:spcPts val="0"/>
                        </a:spcAft>
                      </a:pPr>
                      <a:r>
                        <a:rPr sz="2000" b="1">
                          <a:solidFill>
                            <a:srgbClr val="0F2343"/>
                          </a:solidFill>
                          <a:latin typeface="Aptos"/>
                        </a:rPr>
                        <a:t>Cedar Pharma</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250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$1,800</a:t>
                      </a:r>
                    </a:p>
                  </a:txBody>
                  <a:tcPr marL="128016" marR="109728" anchor="ctr">
                    <a:solidFill>
                      <a:srgbClr val="FFF0E5"/>
                    </a:solidFill>
                  </a:tcPr>
                </a:tc>
                <a:extLst>
                  <a:ext uri="{0D108BD9-81ED-4DB2-BD59-A6C34878D82A}">
                    <a16:rowId xmlns:a16="http://schemas.microsoft.com/office/drawing/2014/main" val="10003"/>
                  </a:ext>
                </a:extLst>
              </a:tr>
            </a:tbl>
          </a:graphicData>
        </a:graphic>
      </p:graphicFrame>
      <p:sp>
        <p:nvSpPr>
          <p:cNvPr id="9" name="Rectangle 8"/>
          <p:cNvSpPr/>
          <p:nvPr/>
        </p:nvSpPr>
        <p:spPr>
          <a:xfrm>
            <a:off x="777240" y="3840480"/>
            <a:ext cx="502920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 ✓"/>
          <p:cNvSpPr txBox="1"/>
          <p:nvPr/>
        </p:nvSpPr>
        <p:spPr>
          <a:xfrm>
            <a:off x="402336" y="3922776"/>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11" name="Rectangle 10"/>
          <p:cNvSpPr/>
          <p:nvPr/>
        </p:nvSpPr>
        <p:spPr>
          <a:xfrm>
            <a:off x="777240" y="4443984"/>
            <a:ext cx="502920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 ✓"/>
          <p:cNvSpPr txBox="1"/>
          <p:nvPr/>
        </p:nvSpPr>
        <p:spPr>
          <a:xfrm>
            <a:off x="402336" y="4526280"/>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13" name="Text: Bighorn + Cedar"/>
          <p:cNvSpPr txBox="1"/>
          <p:nvPr/>
        </p:nvSpPr>
        <p:spPr>
          <a:xfrm>
            <a:off x="777240" y="5276088"/>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Bighorn + Cedar</a:t>
            </a:r>
          </a:p>
        </p:txBody>
      </p:sp>
      <p:sp>
        <p:nvSpPr>
          <p:cNvPr id="14" name="Text: $3,800  ·  500 kg"/>
          <p:cNvSpPr txBox="1"/>
          <p:nvPr/>
        </p:nvSpPr>
        <p:spPr>
          <a:xfrm>
            <a:off x="777240" y="5724144"/>
            <a:ext cx="5029200" cy="429768"/>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$3,800  ·  500 kg</a:t>
            </a:r>
          </a:p>
        </p:txBody>
      </p:sp>
      <p:sp>
        <p:nvSpPr>
          <p:cNvPr id="15" name="Text: Example 2"/>
          <p:cNvSpPr txBox="1"/>
          <p:nvPr/>
        </p:nvSpPr>
        <p:spPr>
          <a:xfrm>
            <a:off x="6355080" y="1764792"/>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Example 2</a:t>
            </a:r>
          </a:p>
        </p:txBody>
      </p:sp>
      <p:sp>
        <p:nvSpPr>
          <p:cNvPr id="16" name="Text: 500 kg limit"/>
          <p:cNvSpPr txBox="1"/>
          <p:nvPr/>
        </p:nvSpPr>
        <p:spPr>
          <a:xfrm>
            <a:off x="6355080" y="2212848"/>
            <a:ext cx="5029200" cy="310896"/>
          </a:xfrm>
          <a:prstGeom prst="rect">
            <a:avLst/>
          </a:prstGeom>
          <a:noFill/>
        </p:spPr>
        <p:txBody>
          <a:bodyPr wrap="square" lIns="0" tIns="0" rIns="0" bIns="0" anchor="ctr">
            <a:noAutofit/>
          </a:bodyPr>
          <a:lstStyle/>
          <a:p>
            <a:pPr algn="ctr">
              <a:lnSpc>
                <a:spcPct val="106000"/>
              </a:lnSpc>
              <a:spcBef>
                <a:spcPts val="0"/>
              </a:spcBef>
              <a:spcAft>
                <a:spcPts val="0"/>
              </a:spcAft>
            </a:pPr>
            <a:r>
              <a:rPr lang="en-US" sz="2100" b="1" dirty="0">
                <a:solidFill>
                  <a:srgbClr val="F97316"/>
                </a:solidFill>
                <a:latin typeface="Aptos"/>
              </a:rPr>
              <a:t>Aircraft </a:t>
            </a:r>
            <a:r>
              <a:rPr sz="2100" b="1" dirty="0">
                <a:solidFill>
                  <a:srgbClr val="F97316"/>
                </a:solidFill>
                <a:latin typeface="Aptos"/>
              </a:rPr>
              <a:t>500 kg limit</a:t>
            </a:r>
          </a:p>
        </p:txBody>
      </p:sp>
      <p:graphicFrame>
        <p:nvGraphicFramePr>
          <p:cNvPr id="17" name="Table 16"/>
          <p:cNvGraphicFramePr>
            <a:graphicFrameLocks noGrp="1"/>
          </p:cNvGraphicFramePr>
          <p:nvPr/>
        </p:nvGraphicFramePr>
        <p:xfrm>
          <a:off x="6355080" y="2761488"/>
          <a:ext cx="5029198" cy="2286000"/>
        </p:xfrm>
        <a:graphic>
          <a:graphicData uri="http://schemas.openxmlformats.org/drawingml/2006/table">
            <a:tbl>
              <a:tblPr firstRow="1" bandRow="1">
                <a:tableStyleId>{5C22544A-7EE6-4342-B048-85BDC9FD1C3A}</a:tableStyleId>
              </a:tblPr>
              <a:tblGrid>
                <a:gridCol w="2414015">
                  <a:extLst>
                    <a:ext uri="{9D8B030D-6E8A-4147-A177-3AD203B41FA5}">
                      <a16:colId xmlns:a16="http://schemas.microsoft.com/office/drawing/2014/main" val="20000"/>
                    </a:ext>
                  </a:extLst>
                </a:gridCol>
                <a:gridCol w="1207007">
                  <a:extLst>
                    <a:ext uri="{9D8B030D-6E8A-4147-A177-3AD203B41FA5}">
                      <a16:colId xmlns:a16="http://schemas.microsoft.com/office/drawing/2014/main" val="20001"/>
                    </a:ext>
                  </a:extLst>
                </a:gridCol>
                <a:gridCol w="1408176">
                  <a:extLst>
                    <a:ext uri="{9D8B030D-6E8A-4147-A177-3AD203B41FA5}">
                      <a16:colId xmlns:a16="http://schemas.microsoft.com/office/drawing/2014/main" val="20002"/>
                    </a:ext>
                  </a:extLst>
                </a:gridCol>
              </a:tblGrid>
              <a:tr h="475488">
                <a:tc>
                  <a:txBody>
                    <a:bodyPr/>
                    <a:lstStyle/>
                    <a:p>
                      <a:pPr algn="l">
                        <a:spcBef>
                          <a:spcPts val="0"/>
                        </a:spcBef>
                        <a:spcAft>
                          <a:spcPts val="0"/>
                        </a:spcAft>
                      </a:pPr>
                      <a:r>
                        <a:rPr sz="1800" b="1">
                          <a:solidFill>
                            <a:srgbClr val="FFFFFF"/>
                          </a:solidFill>
                          <a:latin typeface="Aptos"/>
                        </a:rPr>
                        <a:t>Customer</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Weight</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Revenue</a:t>
                      </a:r>
                    </a:p>
                  </a:txBody>
                  <a:tcPr marL="128016" marR="109728" anchor="ctr">
                    <a:solidFill>
                      <a:srgbClr val="0F2343"/>
                    </a:solidFill>
                  </a:tcPr>
                </a:tc>
                <a:extLst>
                  <a:ext uri="{0D108BD9-81ED-4DB2-BD59-A6C34878D82A}">
                    <a16:rowId xmlns:a16="http://schemas.microsoft.com/office/drawing/2014/main" val="10000"/>
                  </a:ext>
                </a:extLst>
              </a:tr>
              <a:tr h="603504">
                <a:tc>
                  <a:txBody>
                    <a:bodyPr/>
                    <a:lstStyle/>
                    <a:p>
                      <a:pPr algn="l">
                        <a:spcBef>
                          <a:spcPts val="0"/>
                        </a:spcBef>
                        <a:spcAft>
                          <a:spcPts val="0"/>
                        </a:spcAft>
                      </a:pPr>
                      <a:r>
                        <a:rPr sz="2000" b="1">
                          <a:solidFill>
                            <a:srgbClr val="0F2343"/>
                          </a:solidFill>
                          <a:latin typeface="Aptos"/>
                        </a:rPr>
                        <a:t>Atlas Steel</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$3,000</a:t>
                      </a:r>
                    </a:p>
                  </a:txBody>
                  <a:tcPr marL="128016" marR="109728" anchor="ctr">
                    <a:solidFill>
                      <a:srgbClr val="FFF0E5"/>
                    </a:solidFill>
                  </a:tcPr>
                </a:tc>
                <a:extLst>
                  <a:ext uri="{0D108BD9-81ED-4DB2-BD59-A6C34878D82A}">
                    <a16:rowId xmlns:a16="http://schemas.microsoft.com/office/drawing/2014/main" val="10001"/>
                  </a:ext>
                </a:extLst>
              </a:tr>
              <a:tr h="603504">
                <a:tc>
                  <a:txBody>
                    <a:bodyPr/>
                    <a:lstStyle/>
                    <a:p>
                      <a:pPr algn="l">
                        <a:spcBef>
                          <a:spcPts val="0"/>
                        </a:spcBef>
                        <a:spcAft>
                          <a:spcPts val="0"/>
                        </a:spcAft>
                      </a:pPr>
                      <a:r>
                        <a:rPr sz="2000" b="0">
                          <a:solidFill>
                            <a:srgbClr val="0F2343"/>
                          </a:solidFill>
                          <a:latin typeface="Aptos"/>
                        </a:rPr>
                        <a:t>Bighorn Auto</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$9,000</a:t>
                      </a:r>
                    </a:p>
                  </a:txBody>
                  <a:tcPr marL="128016" marR="109728" anchor="ctr">
                    <a:solidFill>
                      <a:srgbClr val="FFFFFF"/>
                    </a:solidFill>
                  </a:tcPr>
                </a:tc>
                <a:extLst>
                  <a:ext uri="{0D108BD9-81ED-4DB2-BD59-A6C34878D82A}">
                    <a16:rowId xmlns:a16="http://schemas.microsoft.com/office/drawing/2014/main" val="10002"/>
                  </a:ext>
                </a:extLst>
              </a:tr>
              <a:tr h="603504">
                <a:tc>
                  <a:txBody>
                    <a:bodyPr/>
                    <a:lstStyle/>
                    <a:p>
                      <a:pPr algn="l">
                        <a:spcBef>
                          <a:spcPts val="0"/>
                        </a:spcBef>
                        <a:spcAft>
                          <a:spcPts val="0"/>
                        </a:spcAft>
                      </a:pPr>
                      <a:r>
                        <a:rPr sz="2000" b="0">
                          <a:solidFill>
                            <a:srgbClr val="0F2343"/>
                          </a:solidFill>
                          <a:latin typeface="Aptos"/>
                        </a:rPr>
                        <a:t>Cedar Pharma</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300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$800</a:t>
                      </a:r>
                    </a:p>
                  </a:txBody>
                  <a:tcPr marL="128016" marR="109728" anchor="ctr">
                    <a:solidFill>
                      <a:srgbClr val="FFFFFF"/>
                    </a:solidFill>
                  </a:tcPr>
                </a:tc>
                <a:extLst>
                  <a:ext uri="{0D108BD9-81ED-4DB2-BD59-A6C34878D82A}">
                    <a16:rowId xmlns:a16="http://schemas.microsoft.com/office/drawing/2014/main" val="10003"/>
                  </a:ext>
                </a:extLst>
              </a:tr>
            </a:tbl>
          </a:graphicData>
        </a:graphic>
      </p:graphicFrame>
      <p:sp>
        <p:nvSpPr>
          <p:cNvPr id="18" name="Rectangle 17"/>
          <p:cNvSpPr/>
          <p:nvPr/>
        </p:nvSpPr>
        <p:spPr>
          <a:xfrm>
            <a:off x="6355080" y="3236976"/>
            <a:ext cx="502920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
          <p:cNvSpPr txBox="1"/>
          <p:nvPr/>
        </p:nvSpPr>
        <p:spPr>
          <a:xfrm>
            <a:off x="5980176" y="3319272"/>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20" name="Text: Atlas"/>
          <p:cNvSpPr txBox="1"/>
          <p:nvPr/>
        </p:nvSpPr>
        <p:spPr>
          <a:xfrm>
            <a:off x="6355080" y="5276088"/>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Atlas</a:t>
            </a:r>
          </a:p>
        </p:txBody>
      </p:sp>
      <p:sp>
        <p:nvSpPr>
          <p:cNvPr id="21" name="Text: $3,000  ·  300 kg"/>
          <p:cNvSpPr txBox="1"/>
          <p:nvPr/>
        </p:nvSpPr>
        <p:spPr>
          <a:xfrm>
            <a:off x="6355080" y="5724144"/>
            <a:ext cx="5029200" cy="429768"/>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$3,000  ·  300 kg</a:t>
            </a:r>
          </a:p>
        </p:txBody>
      </p:sp>
      <p:sp>
        <p:nvSpPr>
          <p:cNvPr id="22" name="Slide Number Placeholder 21">
            <a:extLst>
              <a:ext uri="{FF2B5EF4-FFF2-40B4-BE49-F238E27FC236}">
                <a16:creationId xmlns:a16="http://schemas.microsoft.com/office/drawing/2014/main" id="{6EEC4AB1-66E2-1627-22F5-EEE68A9B0BCC}"/>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462B5-0349-4C07-E66F-F5F6DA707A4D}"/>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9FA0DC58-9B25-183C-CA65-68634A09F71C}"/>
              </a:ext>
            </a:extLst>
          </p:cNvPr>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Now frame this problem as an optimization problem</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EF882DB2-CD7D-E6D0-3FE8-C8C78946E2BF}"/>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Slide Number Placeholder 21">
            <a:extLst>
              <a:ext uri="{FF2B5EF4-FFF2-40B4-BE49-F238E27FC236}">
                <a16:creationId xmlns:a16="http://schemas.microsoft.com/office/drawing/2014/main" id="{170C31AC-D465-3E87-C5C1-739B0C28F139}"/>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5" name="Rounded Rectangle 17">
            <a:extLst>
              <a:ext uri="{FF2B5EF4-FFF2-40B4-BE49-F238E27FC236}">
                <a16:creationId xmlns:a16="http://schemas.microsoft.com/office/drawing/2014/main" id="{98836785-A0D6-C070-957D-910CD57E7192}"/>
              </a:ext>
            </a:extLst>
          </p:cNvPr>
          <p:cNvSpPr/>
          <p:nvPr/>
        </p:nvSpPr>
        <p:spPr>
          <a:xfrm>
            <a:off x="1021936" y="3160349"/>
            <a:ext cx="10145080" cy="45720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800" b="1" dirty="0">
                <a:solidFill>
                  <a:srgbClr val="07142B"/>
                </a:solidFill>
                <a:latin typeface="Aptos" panose="020B0004020202020204" pitchFamily="34" charset="0"/>
              </a:rPr>
              <a:t>10 minutes</a:t>
            </a:r>
            <a:endParaRPr sz="2800" b="1" dirty="0">
              <a:solidFill>
                <a:srgbClr val="07142B"/>
              </a:solidFill>
              <a:latin typeface="Aptos" panose="020B0004020202020204" pitchFamily="34" charset="0"/>
            </a:endParaRPr>
          </a:p>
        </p:txBody>
      </p:sp>
    </p:spTree>
    <p:extLst>
      <p:ext uri="{BB962C8B-B14F-4D97-AF65-F5344CB8AC3E}">
        <p14:creationId xmlns:p14="http://schemas.microsoft.com/office/powerpoint/2010/main" val="38512931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The business </a:t>
            </a:r>
            <a:r>
              <a:rPr lang="en-US" sz="4000" b="1" dirty="0">
                <a:solidFill>
                  <a:srgbClr val="0F2343"/>
                </a:solidFill>
                <a:latin typeface="Aptos Display"/>
              </a:rPr>
              <a:t>problem</a:t>
            </a:r>
            <a:r>
              <a:rPr sz="4000" b="1" dirty="0">
                <a:solidFill>
                  <a:srgbClr val="0F2343"/>
                </a:solidFill>
                <a:latin typeface="Aptos Display"/>
              </a:rPr>
              <a:t> lead</a:t>
            </a:r>
            <a:r>
              <a:rPr lang="en-US" sz="4000" b="1" dirty="0">
                <a:solidFill>
                  <a:srgbClr val="0F2343"/>
                </a:solidFill>
                <a:latin typeface="Aptos Display"/>
              </a:rPr>
              <a:t>s</a:t>
            </a:r>
            <a:r>
              <a:rPr sz="4000" b="1" dirty="0">
                <a:solidFill>
                  <a:srgbClr val="0F2343"/>
                </a:solidFill>
                <a:latin typeface="Aptos Display"/>
              </a:rPr>
              <a:t> to a knapsack model</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 Each shipment flies whole or stays"/>
          <p:cNvSpPr txBox="1"/>
          <p:nvPr/>
        </p:nvSpPr>
        <p:spPr>
          <a:xfrm>
            <a:off x="749808" y="1965960"/>
            <a:ext cx="4709160" cy="932688"/>
          </a:xfrm>
          <a:prstGeom prst="rect">
            <a:avLst/>
          </a:prstGeom>
          <a:noFill/>
        </p:spPr>
        <p:txBody>
          <a:bodyPr wrap="square" lIns="0" tIns="0" rIns="0" bIns="0" anchor="ctr">
            <a:noAutofit/>
          </a:bodyPr>
          <a:lstStyle/>
          <a:p>
            <a:pPr algn="l">
              <a:lnSpc>
                <a:spcPct val="106000"/>
              </a:lnSpc>
              <a:spcBef>
                <a:spcPts val="0"/>
              </a:spcBef>
              <a:spcAft>
                <a:spcPts val="0"/>
              </a:spcAft>
            </a:pPr>
            <a:r>
              <a:rPr sz="2700" b="1" dirty="0">
                <a:solidFill>
                  <a:srgbClr val="0F2343"/>
                </a:solidFill>
                <a:latin typeface="Aptos"/>
              </a:rPr>
              <a:t>Each shipment flies</a:t>
            </a:r>
          </a:p>
          <a:p>
            <a:pPr algn="l">
              <a:lnSpc>
                <a:spcPct val="106000"/>
              </a:lnSpc>
              <a:spcBef>
                <a:spcPts val="0"/>
              </a:spcBef>
              <a:spcAft>
                <a:spcPts val="0"/>
              </a:spcAft>
            </a:pPr>
            <a:r>
              <a:rPr sz="2700" b="1" dirty="0">
                <a:solidFill>
                  <a:srgbClr val="0F2343"/>
                </a:solidFill>
                <a:latin typeface="Aptos"/>
              </a:rPr>
              <a:t>whole or stays</a:t>
            </a:r>
          </a:p>
        </p:txBody>
      </p:sp>
      <p:cxnSp>
        <p:nvCxnSpPr>
          <p:cNvPr id="7" name="Connector 6"/>
          <p:cNvCxnSpPr/>
          <p:nvPr/>
        </p:nvCxnSpPr>
        <p:spPr>
          <a:xfrm>
            <a:off x="5577840" y="2423160"/>
            <a:ext cx="530352"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 xᵢ ∈ {0, 1}"/>
          <p:cNvSpPr txBox="1"/>
          <p:nvPr/>
        </p:nvSpPr>
        <p:spPr>
          <a:xfrm>
            <a:off x="6492240" y="1975104"/>
            <a:ext cx="4937760" cy="886968"/>
          </a:xfrm>
          <a:prstGeom prst="rect">
            <a:avLst/>
          </a:prstGeom>
          <a:noFill/>
        </p:spPr>
        <p:txBody>
          <a:bodyPr wrap="square" lIns="0" tIns="0" rIns="0" bIns="0" anchor="ctr">
            <a:noAutofit/>
          </a:bodyPr>
          <a:lstStyle/>
          <a:p>
            <a:pPr algn="l">
              <a:lnSpc>
                <a:spcPct val="106000"/>
              </a:lnSpc>
              <a:spcBef>
                <a:spcPts val="0"/>
              </a:spcBef>
              <a:spcAft>
                <a:spcPts val="0"/>
              </a:spcAft>
            </a:pPr>
            <a:r>
              <a:rPr sz="3800" b="0">
                <a:solidFill>
                  <a:srgbClr val="0F2343"/>
                </a:solidFill>
                <a:latin typeface="Cambria Math"/>
              </a:rPr>
              <a:t>xᵢ ∈ {0, 1}</a:t>
            </a:r>
          </a:p>
        </p:txBody>
      </p:sp>
      <p:sp>
        <p:nvSpPr>
          <p:cNvPr id="9" name="Text: Earn the most revenue"/>
          <p:cNvSpPr txBox="1"/>
          <p:nvPr/>
        </p:nvSpPr>
        <p:spPr>
          <a:xfrm>
            <a:off x="749808" y="3227832"/>
            <a:ext cx="4709160" cy="932688"/>
          </a:xfrm>
          <a:prstGeom prst="rect">
            <a:avLst/>
          </a:prstGeom>
          <a:noFill/>
        </p:spPr>
        <p:txBody>
          <a:bodyPr wrap="square" lIns="0" tIns="0" rIns="0" bIns="0" anchor="ctr">
            <a:noAutofit/>
          </a:bodyPr>
          <a:lstStyle/>
          <a:p>
            <a:pPr algn="l">
              <a:lnSpc>
                <a:spcPct val="106000"/>
              </a:lnSpc>
              <a:spcBef>
                <a:spcPts val="0"/>
              </a:spcBef>
              <a:spcAft>
                <a:spcPts val="0"/>
              </a:spcAft>
            </a:pPr>
            <a:r>
              <a:rPr sz="2700" b="1">
                <a:solidFill>
                  <a:srgbClr val="0F2343"/>
                </a:solidFill>
                <a:latin typeface="Aptos"/>
              </a:rPr>
              <a:t>Earn the most revenue</a:t>
            </a:r>
          </a:p>
        </p:txBody>
      </p:sp>
      <p:cxnSp>
        <p:nvCxnSpPr>
          <p:cNvPr id="10" name="Connector 9"/>
          <p:cNvCxnSpPr/>
          <p:nvPr/>
        </p:nvCxnSpPr>
        <p:spPr>
          <a:xfrm>
            <a:off x="5577840" y="3685032"/>
            <a:ext cx="530352"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 max  ∑ᵢ rᵢ xᵢ"/>
          <p:cNvSpPr txBox="1"/>
          <p:nvPr/>
        </p:nvSpPr>
        <p:spPr>
          <a:xfrm>
            <a:off x="6492240" y="3236976"/>
            <a:ext cx="4937760" cy="886968"/>
          </a:xfrm>
          <a:prstGeom prst="rect">
            <a:avLst/>
          </a:prstGeom>
          <a:noFill/>
        </p:spPr>
        <p:txBody>
          <a:bodyPr wrap="square" lIns="0" tIns="0" rIns="0" bIns="0" anchor="ctr">
            <a:noAutofit/>
          </a:bodyPr>
          <a:lstStyle/>
          <a:p>
            <a:pPr algn="l">
              <a:lnSpc>
                <a:spcPct val="106000"/>
              </a:lnSpc>
              <a:spcBef>
                <a:spcPts val="0"/>
              </a:spcBef>
              <a:spcAft>
                <a:spcPts val="0"/>
              </a:spcAft>
            </a:pPr>
            <a:r>
              <a:rPr sz="3800" b="0" dirty="0">
                <a:solidFill>
                  <a:srgbClr val="0F2343"/>
                </a:solidFill>
                <a:latin typeface="Cambria Math"/>
              </a:rPr>
              <a:t>max  ∑ᵢ rᵢ xᵢ</a:t>
            </a:r>
          </a:p>
        </p:txBody>
      </p:sp>
      <p:sp>
        <p:nvSpPr>
          <p:cNvPr id="12" name="Text: Stay within the weight limit"/>
          <p:cNvSpPr txBox="1"/>
          <p:nvPr/>
        </p:nvSpPr>
        <p:spPr>
          <a:xfrm>
            <a:off x="749808" y="4489704"/>
            <a:ext cx="4709160" cy="932688"/>
          </a:xfrm>
          <a:prstGeom prst="rect">
            <a:avLst/>
          </a:prstGeom>
          <a:noFill/>
        </p:spPr>
        <p:txBody>
          <a:bodyPr wrap="square" lIns="0" tIns="0" rIns="0" bIns="0" anchor="ctr">
            <a:noAutofit/>
          </a:bodyPr>
          <a:lstStyle/>
          <a:p>
            <a:pPr algn="l">
              <a:lnSpc>
                <a:spcPct val="106000"/>
              </a:lnSpc>
              <a:spcBef>
                <a:spcPts val="0"/>
              </a:spcBef>
              <a:spcAft>
                <a:spcPts val="0"/>
              </a:spcAft>
            </a:pPr>
            <a:r>
              <a:rPr sz="2700" b="1">
                <a:solidFill>
                  <a:srgbClr val="0F2343"/>
                </a:solidFill>
                <a:latin typeface="Aptos"/>
              </a:rPr>
              <a:t>Stay within the weight limit</a:t>
            </a:r>
          </a:p>
        </p:txBody>
      </p:sp>
      <p:cxnSp>
        <p:nvCxnSpPr>
          <p:cNvPr id="13" name="Connector 12"/>
          <p:cNvCxnSpPr/>
          <p:nvPr/>
        </p:nvCxnSpPr>
        <p:spPr>
          <a:xfrm>
            <a:off x="5577840" y="4946904"/>
            <a:ext cx="530352"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 ∑ᵢ wᵢ xᵢ ≤ W"/>
          <p:cNvSpPr txBox="1"/>
          <p:nvPr/>
        </p:nvSpPr>
        <p:spPr>
          <a:xfrm>
            <a:off x="6492240" y="4498848"/>
            <a:ext cx="4937760" cy="886968"/>
          </a:xfrm>
          <a:prstGeom prst="rect">
            <a:avLst/>
          </a:prstGeom>
          <a:noFill/>
        </p:spPr>
        <p:txBody>
          <a:bodyPr wrap="square" lIns="0" tIns="0" rIns="0" bIns="0" anchor="ctr">
            <a:noAutofit/>
          </a:bodyPr>
          <a:lstStyle/>
          <a:p>
            <a:pPr algn="l">
              <a:lnSpc>
                <a:spcPct val="106000"/>
              </a:lnSpc>
              <a:spcBef>
                <a:spcPts val="0"/>
              </a:spcBef>
              <a:spcAft>
                <a:spcPts val="0"/>
              </a:spcAft>
            </a:pPr>
            <a:r>
              <a:rPr sz="3800" b="0">
                <a:solidFill>
                  <a:srgbClr val="0F2343"/>
                </a:solidFill>
                <a:latin typeface="Cambria Math"/>
              </a:rPr>
              <a:t>∑ᵢ wᵢ xᵢ ≤ W</a:t>
            </a:r>
          </a:p>
        </p:txBody>
      </p:sp>
      <p:sp>
        <p:nvSpPr>
          <p:cNvPr id="15" name="Text: i: shipment   ·   xᵢ: fly / stay   ·   rᵢ: revenue   ·   wᵢ: weig"/>
          <p:cNvSpPr txBox="1"/>
          <p:nvPr/>
        </p:nvSpPr>
        <p:spPr>
          <a:xfrm>
            <a:off x="676656" y="5879592"/>
            <a:ext cx="10835640" cy="438912"/>
          </a:xfrm>
          <a:prstGeom prst="rect">
            <a:avLst/>
          </a:prstGeom>
          <a:noFill/>
        </p:spPr>
        <p:txBody>
          <a:bodyPr wrap="square" lIns="0" tIns="0" rIns="0" bIns="0" anchor="ctr">
            <a:noAutofit/>
          </a:bodyPr>
          <a:lstStyle/>
          <a:p>
            <a:pPr algn="ctr">
              <a:lnSpc>
                <a:spcPct val="106000"/>
              </a:lnSpc>
              <a:spcBef>
                <a:spcPts val="0"/>
              </a:spcBef>
              <a:spcAft>
                <a:spcPts val="0"/>
              </a:spcAft>
            </a:pPr>
            <a:r>
              <a:rPr sz="2400" b="0" dirty="0">
                <a:solidFill>
                  <a:srgbClr val="0F2343"/>
                </a:solidFill>
                <a:latin typeface="Aptos"/>
              </a:rPr>
              <a:t>i: shipment   ·   xᵢ: fly / stay   ·   rᵢ: revenue   ·   wᵢ: weight   ·   W: weight limit</a:t>
            </a:r>
          </a:p>
        </p:txBody>
      </p:sp>
      <p:sp>
        <p:nvSpPr>
          <p:cNvPr id="16" name="Slide Number Placeholder 15">
            <a:extLst>
              <a:ext uri="{FF2B5EF4-FFF2-40B4-BE49-F238E27FC236}">
                <a16:creationId xmlns:a16="http://schemas.microsoft.com/office/drawing/2014/main" id="{D608C344-1BC5-550D-36A6-975178BB1838}"/>
              </a:ext>
            </a:extLst>
          </p:cNvPr>
          <p:cNvSpPr>
            <a:spLocks noGrp="1"/>
          </p:cNvSpPr>
          <p:nvPr>
            <p:ph type="sldNum" sz="quarter" idx="12"/>
          </p:nvPr>
        </p:nvSpPr>
        <p:spPr/>
        <p:txBody>
          <a:bodyPr/>
          <a:lstStyle/>
          <a:p>
            <a:fld id="{C1FF6DA9-008F-8B48-92A6-B652298478BF}" type="slidenum">
              <a:rPr lang="en-US" smtClean="0"/>
              <a:t>16</a:t>
            </a:fld>
            <a:endParaRPr lang="en-US"/>
          </a:p>
        </p:txBody>
      </p:sp>
      <p:sp>
        <p:nvSpPr>
          <p:cNvPr id="18" name="Text: Each shipment flies whole or stays">
            <a:extLst>
              <a:ext uri="{FF2B5EF4-FFF2-40B4-BE49-F238E27FC236}">
                <a16:creationId xmlns:a16="http://schemas.microsoft.com/office/drawing/2014/main" id="{52AFF7A3-EE4E-D48C-5593-B5F5D7E6E49D}"/>
              </a:ext>
            </a:extLst>
          </p:cNvPr>
          <p:cNvSpPr txBox="1"/>
          <p:nvPr/>
        </p:nvSpPr>
        <p:spPr>
          <a:xfrm>
            <a:off x="9839201" y="2140449"/>
            <a:ext cx="1846831" cy="602751"/>
          </a:xfrm>
          <a:prstGeom prst="rect">
            <a:avLst/>
          </a:prstGeom>
          <a:noFill/>
        </p:spPr>
        <p:txBody>
          <a:bodyPr wrap="square" lIns="0" tIns="0" rIns="0" bIns="0" anchor="ctr">
            <a:noAutofit/>
          </a:bodyPr>
          <a:lstStyle/>
          <a:p>
            <a:pPr algn="l">
              <a:lnSpc>
                <a:spcPct val="106000"/>
              </a:lnSpc>
              <a:spcBef>
                <a:spcPts val="0"/>
              </a:spcBef>
              <a:spcAft>
                <a:spcPts val="0"/>
              </a:spcAft>
            </a:pPr>
            <a:r>
              <a:rPr lang="en-US" sz="2700" b="1" dirty="0">
                <a:solidFill>
                  <a:srgbClr val="0F2343"/>
                </a:solidFill>
                <a:latin typeface="Aptos"/>
              </a:rPr>
              <a:t>Decisions</a:t>
            </a:r>
            <a:endParaRPr sz="2700" b="1" dirty="0">
              <a:solidFill>
                <a:srgbClr val="0F2343"/>
              </a:solidFill>
              <a:latin typeface="Aptos"/>
            </a:endParaRPr>
          </a:p>
        </p:txBody>
      </p:sp>
      <p:sp>
        <p:nvSpPr>
          <p:cNvPr id="19" name="Text: Each shipment flies whole or stays">
            <a:extLst>
              <a:ext uri="{FF2B5EF4-FFF2-40B4-BE49-F238E27FC236}">
                <a16:creationId xmlns:a16="http://schemas.microsoft.com/office/drawing/2014/main" id="{F1ACD765-AB22-152D-B4B8-DB202A8FC89B}"/>
              </a:ext>
            </a:extLst>
          </p:cNvPr>
          <p:cNvSpPr txBox="1"/>
          <p:nvPr/>
        </p:nvSpPr>
        <p:spPr>
          <a:xfrm>
            <a:off x="9839200" y="4654672"/>
            <a:ext cx="1846831" cy="602751"/>
          </a:xfrm>
          <a:prstGeom prst="rect">
            <a:avLst/>
          </a:prstGeom>
          <a:noFill/>
        </p:spPr>
        <p:txBody>
          <a:bodyPr wrap="square" lIns="0" tIns="0" rIns="0" bIns="0" anchor="ctr">
            <a:noAutofit/>
          </a:bodyPr>
          <a:lstStyle/>
          <a:p>
            <a:pPr algn="l">
              <a:lnSpc>
                <a:spcPct val="106000"/>
              </a:lnSpc>
              <a:spcBef>
                <a:spcPts val="0"/>
              </a:spcBef>
              <a:spcAft>
                <a:spcPts val="0"/>
              </a:spcAft>
            </a:pPr>
            <a:r>
              <a:rPr lang="en-US" sz="2700" b="1" dirty="0">
                <a:solidFill>
                  <a:srgbClr val="0F2343"/>
                </a:solidFill>
                <a:latin typeface="Aptos"/>
              </a:rPr>
              <a:t>Constraints</a:t>
            </a:r>
            <a:endParaRPr sz="2700" b="1" dirty="0">
              <a:solidFill>
                <a:srgbClr val="0F2343"/>
              </a:solidFill>
              <a:latin typeface="Aptos"/>
            </a:endParaRPr>
          </a:p>
        </p:txBody>
      </p:sp>
      <p:sp>
        <p:nvSpPr>
          <p:cNvPr id="20" name="Text: Each shipment flies whole or stays">
            <a:extLst>
              <a:ext uri="{FF2B5EF4-FFF2-40B4-BE49-F238E27FC236}">
                <a16:creationId xmlns:a16="http://schemas.microsoft.com/office/drawing/2014/main" id="{D4F98E5B-0697-5879-C51C-CB1A038C7DB5}"/>
              </a:ext>
            </a:extLst>
          </p:cNvPr>
          <p:cNvSpPr txBox="1"/>
          <p:nvPr/>
        </p:nvSpPr>
        <p:spPr>
          <a:xfrm>
            <a:off x="9839325" y="3413827"/>
            <a:ext cx="1846831" cy="602751"/>
          </a:xfrm>
          <a:prstGeom prst="rect">
            <a:avLst/>
          </a:prstGeom>
          <a:noFill/>
        </p:spPr>
        <p:txBody>
          <a:bodyPr wrap="square" lIns="0" tIns="0" rIns="0" bIns="0" anchor="ctr">
            <a:noAutofit/>
          </a:bodyPr>
          <a:lstStyle/>
          <a:p>
            <a:pPr algn="l">
              <a:lnSpc>
                <a:spcPct val="106000"/>
              </a:lnSpc>
              <a:spcBef>
                <a:spcPts val="0"/>
              </a:spcBef>
              <a:spcAft>
                <a:spcPts val="0"/>
              </a:spcAft>
            </a:pPr>
            <a:r>
              <a:rPr lang="en-US" sz="2700" b="1" dirty="0">
                <a:solidFill>
                  <a:srgbClr val="0F2343"/>
                </a:solidFill>
                <a:latin typeface="Aptos"/>
              </a:rPr>
              <a:t>Objective</a:t>
            </a:r>
            <a:endParaRPr sz="2700" b="1" dirty="0">
              <a:solidFill>
                <a:srgbClr val="0F2343"/>
              </a:solidFill>
              <a:latin typeface="Apto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7BA0-CE2F-AFA8-BFD4-9834059E4E7D}"/>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5287EE04-5C81-78EF-F20E-850D2906BDAF}"/>
              </a:ext>
            </a:extLst>
          </p:cNvPr>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Agenda for today</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56C53D3D-DCD1-2E33-1F86-BA5A057EB8E1}"/>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BE7A3188-008F-CA72-70D1-8DA4481E5DDD}"/>
              </a:ext>
            </a:extLst>
          </p:cNvPr>
          <p:cNvSpPr txBox="1"/>
          <p:nvPr/>
        </p:nvSpPr>
        <p:spPr>
          <a:xfrm>
            <a:off x="458724" y="1749871"/>
            <a:ext cx="11274552" cy="3807004"/>
          </a:xfrm>
          <a:prstGeom prst="rect">
            <a:avLst/>
          </a:prstGeom>
          <a:noFill/>
        </p:spPr>
        <p:txBody>
          <a:bodyPr wrap="square" tIns="0" rIns="45720" bIns="0">
            <a:spAutoFit/>
          </a:bodyPr>
          <a:lstStyle/>
          <a:p>
            <a:pPr marL="285750" indent="-285750" algn="l">
              <a:lnSpc>
                <a:spcPct val="200000"/>
              </a:lnSpc>
              <a:buFont typeface="Arial" panose="020B0604020202020204" pitchFamily="34" charset="0"/>
              <a:buChar char="•"/>
            </a:pPr>
            <a:r>
              <a:rPr lang="en-US" sz="3200" dirty="0">
                <a:solidFill>
                  <a:srgbClr val="0F2343"/>
                </a:solidFill>
                <a:latin typeface="Aptos"/>
              </a:rPr>
              <a:t>Part I – What is a decision-support system?</a:t>
            </a:r>
          </a:p>
          <a:p>
            <a:pPr marL="285750" indent="-285750" algn="l">
              <a:lnSpc>
                <a:spcPct val="200000"/>
              </a:lnSpc>
              <a:buFont typeface="Arial" panose="020B0604020202020204" pitchFamily="34" charset="0"/>
              <a:buChar char="•"/>
            </a:pPr>
            <a:r>
              <a:rPr lang="en-US" sz="3200" dirty="0">
                <a:solidFill>
                  <a:srgbClr val="0F2343"/>
                </a:solidFill>
                <a:latin typeface="Aptos"/>
              </a:rPr>
              <a:t>Part II – Are we solving the right problem?</a:t>
            </a:r>
          </a:p>
          <a:p>
            <a:pPr marL="285750" indent="-285750" algn="l">
              <a:lnSpc>
                <a:spcPct val="200000"/>
              </a:lnSpc>
              <a:buFont typeface="Arial" panose="020B0604020202020204" pitchFamily="34" charset="0"/>
              <a:buChar char="•"/>
            </a:pPr>
            <a:r>
              <a:rPr lang="en-US" sz="3200" b="1" dirty="0">
                <a:solidFill>
                  <a:srgbClr val="0F2343"/>
                </a:solidFill>
                <a:latin typeface="Aptos"/>
              </a:rPr>
              <a:t>Part III – Are we solving the problem right?</a:t>
            </a:r>
          </a:p>
          <a:p>
            <a:pPr marL="285750" indent="-285750">
              <a:lnSpc>
                <a:spcPct val="200000"/>
              </a:lnSpc>
              <a:buFont typeface="Arial" panose="020B0604020202020204" pitchFamily="34" charset="0"/>
              <a:buChar char="•"/>
            </a:pPr>
            <a:r>
              <a:rPr lang="en-US" sz="3200" dirty="0">
                <a:solidFill>
                  <a:srgbClr val="0F2343"/>
                </a:solidFill>
                <a:latin typeface="Aptos"/>
              </a:rPr>
              <a:t>Part IV – Closing &amp; conclusions</a:t>
            </a:r>
            <a:endParaRPr lang="en-US" sz="2800" dirty="0">
              <a:solidFill>
                <a:srgbClr val="0F2343"/>
              </a:solidFill>
              <a:latin typeface="Aptos"/>
            </a:endParaRPr>
          </a:p>
        </p:txBody>
      </p:sp>
      <p:sp>
        <p:nvSpPr>
          <p:cNvPr id="4" name="Slide Number Placeholder 3">
            <a:extLst>
              <a:ext uri="{FF2B5EF4-FFF2-40B4-BE49-F238E27FC236}">
                <a16:creationId xmlns:a16="http://schemas.microsoft.com/office/drawing/2014/main" id="{2CA063C8-25EE-DF9F-6458-6BE6CB6D7E04}"/>
              </a:ext>
            </a:extLst>
          </p:cNvPr>
          <p:cNvSpPr>
            <a:spLocks noGrp="1"/>
          </p:cNvSpPr>
          <p:nvPr>
            <p:ph type="sldNum" sz="quarter" idx="12"/>
          </p:nvPr>
        </p:nvSpPr>
        <p:spPr/>
        <p:txBody>
          <a:bodyPr/>
          <a:lstStyle/>
          <a:p>
            <a:fld id="{C1FF6DA9-008F-8B48-92A6-B652298478BF}" type="slidenum">
              <a:rPr lang="en-US" smtClean="0"/>
              <a:t>17</a:t>
            </a:fld>
            <a:endParaRPr lang="en-US"/>
          </a:p>
        </p:txBody>
      </p:sp>
    </p:spTree>
    <p:extLst>
      <p:ext uri="{BB962C8B-B14F-4D97-AF65-F5344CB8AC3E}">
        <p14:creationId xmlns:p14="http://schemas.microsoft.com/office/powerpoint/2010/main" val="40848361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Software is a different kind of engineering</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 Civil engineering"/>
          <p:cNvSpPr txBox="1"/>
          <p:nvPr/>
        </p:nvSpPr>
        <p:spPr>
          <a:xfrm>
            <a:off x="713232" y="1801368"/>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Civil engineering</a:t>
            </a:r>
          </a:p>
        </p:txBody>
      </p:sp>
      <p:pic>
        <p:nvPicPr>
          <p:cNvPr id="7" name="civil-engineering" descr="civil engineering"/>
          <p:cNvPicPr>
            <a:picLocks noChangeAspect="1"/>
          </p:cNvPicPr>
          <p:nvPr/>
        </p:nvPicPr>
        <p:blipFill>
          <a:blip r:embed="rId3"/>
          <a:srcRect t="14424" b="14424"/>
          <a:stretch>
            <a:fillRect/>
          </a:stretch>
        </p:blipFill>
        <p:spPr>
          <a:xfrm>
            <a:off x="713232" y="2359152"/>
            <a:ext cx="5120640" cy="2432304"/>
          </a:xfrm>
          <a:prstGeom prst="rect">
            <a:avLst/>
          </a:prstGeom>
        </p:spPr>
      </p:pic>
      <p:sp>
        <p:nvSpPr>
          <p:cNvPr id="10" name="Text: Software engineering"/>
          <p:cNvSpPr txBox="1"/>
          <p:nvPr/>
        </p:nvSpPr>
        <p:spPr>
          <a:xfrm>
            <a:off x="6355080" y="1801368"/>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Software engineering</a:t>
            </a:r>
          </a:p>
        </p:txBody>
      </p:sp>
      <p:pic>
        <p:nvPicPr>
          <p:cNvPr id="11" name="software-engineering" descr="software engineering"/>
          <p:cNvPicPr>
            <a:picLocks noChangeAspect="1"/>
          </p:cNvPicPr>
          <p:nvPr/>
        </p:nvPicPr>
        <p:blipFill>
          <a:blip r:embed="rId4"/>
          <a:srcRect t="7778" b="7778"/>
          <a:stretch>
            <a:fillRect/>
          </a:stretch>
        </p:blipFill>
        <p:spPr>
          <a:xfrm>
            <a:off x="6355080" y="2359152"/>
            <a:ext cx="5120640" cy="2432304"/>
          </a:xfrm>
          <a:prstGeom prst="rect">
            <a:avLst/>
          </a:prstGeom>
        </p:spPr>
      </p:pic>
      <p:sp>
        <p:nvSpPr>
          <p:cNvPr id="15" name="Slide Number Placeholder 14">
            <a:extLst>
              <a:ext uri="{FF2B5EF4-FFF2-40B4-BE49-F238E27FC236}">
                <a16:creationId xmlns:a16="http://schemas.microsoft.com/office/drawing/2014/main" id="{6C9D0050-9EE5-77ED-65AE-093A78860422}"/>
              </a:ext>
            </a:extLst>
          </p:cNvPr>
          <p:cNvSpPr>
            <a:spLocks noGrp="1"/>
          </p:cNvSpPr>
          <p:nvPr>
            <p:ph type="sldNum" sz="quarter" idx="12"/>
          </p:nvPr>
        </p:nvSpPr>
        <p:spPr/>
        <p:txBody>
          <a:bodyPr/>
          <a:lstStyle/>
          <a:p>
            <a:fld id="{C1FF6DA9-008F-8B48-92A6-B652298478BF}" type="slidenum">
              <a:rPr lang="en-US" smtClean="0"/>
              <a:t>18</a:t>
            </a:fld>
            <a:endParaRPr lang="en-US" dirty="0"/>
          </a:p>
        </p:txBody>
      </p:sp>
      <p:sp>
        <p:nvSpPr>
          <p:cNvPr id="18" name="Speech Bubble: Rectangle 17">
            <a:extLst>
              <a:ext uri="{FF2B5EF4-FFF2-40B4-BE49-F238E27FC236}">
                <a16:creationId xmlns:a16="http://schemas.microsoft.com/office/drawing/2014/main" id="{099075E6-B028-523A-65BD-5BBCFBD769A4}"/>
              </a:ext>
            </a:extLst>
          </p:cNvPr>
          <p:cNvSpPr/>
          <p:nvPr/>
        </p:nvSpPr>
        <p:spPr>
          <a:xfrm>
            <a:off x="1322832" y="4937760"/>
            <a:ext cx="3901440" cy="1349495"/>
          </a:xfrm>
          <a:prstGeom prst="wedgeRectCallout">
            <a:avLst>
              <a:gd name="adj1" fmla="val -19884"/>
              <a:gd name="adj2" fmla="val -68139"/>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600" dirty="0">
                <a:solidFill>
                  <a:schemeClr val="tx1"/>
                </a:solidFill>
              </a:rPr>
              <a:t>Constructions are </a:t>
            </a:r>
            <a:r>
              <a:rPr lang="en-US" sz="1600" b="1" dirty="0">
                <a:solidFill>
                  <a:schemeClr val="tx1"/>
                </a:solidFill>
              </a:rPr>
              <a:t>robust to tiny errors.</a:t>
            </a:r>
          </a:p>
          <a:p>
            <a:pPr marL="342900" indent="-342900">
              <a:buFont typeface="+mj-lt"/>
              <a:buAutoNum type="arabicPeriod"/>
            </a:pPr>
            <a:endParaRPr lang="en-US" sz="1600" dirty="0">
              <a:solidFill>
                <a:schemeClr val="tx1"/>
              </a:solidFill>
            </a:endParaRPr>
          </a:p>
          <a:p>
            <a:pPr marL="342900" indent="-342900">
              <a:buFont typeface="+mj-lt"/>
              <a:buAutoNum type="arabicPeriod"/>
            </a:pPr>
            <a:r>
              <a:rPr lang="en-US" sz="1600" dirty="0">
                <a:solidFill>
                  <a:schemeClr val="tx1"/>
                </a:solidFill>
              </a:rPr>
              <a:t>When designing, the </a:t>
            </a:r>
            <a:r>
              <a:rPr lang="en-US" sz="1600" b="1" dirty="0">
                <a:solidFill>
                  <a:schemeClr val="tx1"/>
                </a:solidFill>
              </a:rPr>
              <a:t>requirements are known reasonably well</a:t>
            </a:r>
            <a:r>
              <a:rPr lang="en-US" sz="1600" dirty="0">
                <a:solidFill>
                  <a:schemeClr val="tx1"/>
                </a:solidFill>
              </a:rPr>
              <a:t>.</a:t>
            </a:r>
          </a:p>
        </p:txBody>
      </p:sp>
      <p:sp>
        <p:nvSpPr>
          <p:cNvPr id="19" name="Speech Bubble: Rectangle 18">
            <a:extLst>
              <a:ext uri="{FF2B5EF4-FFF2-40B4-BE49-F238E27FC236}">
                <a16:creationId xmlns:a16="http://schemas.microsoft.com/office/drawing/2014/main" id="{B1C07DA1-7FB4-9CA8-B312-CD7866542885}"/>
              </a:ext>
            </a:extLst>
          </p:cNvPr>
          <p:cNvSpPr/>
          <p:nvPr/>
        </p:nvSpPr>
        <p:spPr>
          <a:xfrm>
            <a:off x="7230177" y="4899155"/>
            <a:ext cx="3901440" cy="1349495"/>
          </a:xfrm>
          <a:prstGeom prst="wedgeRectCallout">
            <a:avLst>
              <a:gd name="adj1" fmla="val -21704"/>
              <a:gd name="adj2" fmla="val -72535"/>
            </a:avLst>
          </a:prstGeom>
          <a:solidFill>
            <a:schemeClr val="accent5">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600" dirty="0">
                <a:solidFill>
                  <a:schemeClr val="tx1"/>
                </a:solidFill>
              </a:rPr>
              <a:t>Software is </a:t>
            </a:r>
            <a:r>
              <a:rPr lang="en-US" sz="1600" b="1" dirty="0">
                <a:solidFill>
                  <a:schemeClr val="tx1"/>
                </a:solidFill>
              </a:rPr>
              <a:t>incredible flexible and fragile </a:t>
            </a:r>
            <a:r>
              <a:rPr lang="en-US" sz="1600" dirty="0">
                <a:solidFill>
                  <a:schemeClr val="tx1"/>
                </a:solidFill>
              </a:rPr>
              <a:t>at the same time.</a:t>
            </a:r>
          </a:p>
          <a:p>
            <a:pPr marL="342900" indent="-342900">
              <a:buFont typeface="+mj-lt"/>
              <a:buAutoNum type="arabicPeriod"/>
            </a:pPr>
            <a:endParaRPr lang="en-US" sz="1600" dirty="0">
              <a:solidFill>
                <a:schemeClr val="tx1"/>
              </a:solidFill>
            </a:endParaRPr>
          </a:p>
          <a:p>
            <a:pPr marL="342900" indent="-342900">
              <a:buFont typeface="+mj-lt"/>
              <a:buAutoNum type="arabicPeriod"/>
            </a:pPr>
            <a:r>
              <a:rPr lang="en-US" sz="1600" dirty="0">
                <a:solidFill>
                  <a:schemeClr val="tx1"/>
                </a:solidFill>
              </a:rPr>
              <a:t>SE lives in a world of highly </a:t>
            </a:r>
            <a:r>
              <a:rPr lang="en-US" sz="1600" b="1" dirty="0">
                <a:solidFill>
                  <a:schemeClr val="tx1"/>
                </a:solidFill>
              </a:rPr>
              <a:t>imperfect information.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AC47-B3B3-0FDD-277C-6B79A256FDD6}"/>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95716A72-5AF9-6813-2256-79CE34816B8E}"/>
              </a:ext>
            </a:extLst>
          </p:cNvPr>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Software </a:t>
            </a:r>
            <a:r>
              <a:rPr lang="en-US" sz="4000" b="1" dirty="0">
                <a:solidFill>
                  <a:srgbClr val="0F2343"/>
                </a:solidFill>
                <a:latin typeface="Aptos Display"/>
              </a:rPr>
              <a:t>engineering is a discovery process</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FFF6D07C-CA1E-9A95-9F94-F12BAEDE4DE4}"/>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lide Number Placeholder 14">
            <a:extLst>
              <a:ext uri="{FF2B5EF4-FFF2-40B4-BE49-F238E27FC236}">
                <a16:creationId xmlns:a16="http://schemas.microsoft.com/office/drawing/2014/main" id="{AAB787C3-CEB7-FC6C-8968-BAE901CC231F}"/>
              </a:ext>
            </a:extLst>
          </p:cNvPr>
          <p:cNvSpPr>
            <a:spLocks noGrp="1"/>
          </p:cNvSpPr>
          <p:nvPr>
            <p:ph type="sldNum" sz="quarter" idx="12"/>
          </p:nvPr>
        </p:nvSpPr>
        <p:spPr/>
        <p:txBody>
          <a:bodyPr/>
          <a:lstStyle/>
          <a:p>
            <a:fld id="{C1FF6DA9-008F-8B48-92A6-B652298478BF}" type="slidenum">
              <a:rPr lang="en-US" smtClean="0"/>
              <a:t>19</a:t>
            </a:fld>
            <a:endParaRPr lang="en-US" dirty="0"/>
          </a:p>
        </p:txBody>
      </p:sp>
      <p:pic>
        <p:nvPicPr>
          <p:cNvPr id="4" name="Graphic 3" descr="Questions with solid fill">
            <a:extLst>
              <a:ext uri="{FF2B5EF4-FFF2-40B4-BE49-F238E27FC236}">
                <a16:creationId xmlns:a16="http://schemas.microsoft.com/office/drawing/2014/main" id="{9626693D-D325-6491-CB8E-2E989ACAF7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2640" y="1810511"/>
            <a:ext cx="2275840" cy="2275840"/>
          </a:xfrm>
          <a:prstGeom prst="rect">
            <a:avLst/>
          </a:prstGeom>
        </p:spPr>
      </p:pic>
      <p:pic>
        <p:nvPicPr>
          <p:cNvPr id="5" name="Graphic 4" descr="Users with solid fill">
            <a:extLst>
              <a:ext uri="{FF2B5EF4-FFF2-40B4-BE49-F238E27FC236}">
                <a16:creationId xmlns:a16="http://schemas.microsoft.com/office/drawing/2014/main" id="{D116F651-F278-4E99-C44F-667ED5ABAC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03520" y="2534919"/>
            <a:ext cx="1849120" cy="1849120"/>
          </a:xfrm>
          <a:prstGeom prst="rect">
            <a:avLst/>
          </a:prstGeom>
        </p:spPr>
      </p:pic>
      <p:pic>
        <p:nvPicPr>
          <p:cNvPr id="8" name="Graphic 7" descr="Transfer with solid fill">
            <a:extLst>
              <a:ext uri="{FF2B5EF4-FFF2-40B4-BE49-F238E27FC236}">
                <a16:creationId xmlns:a16="http://schemas.microsoft.com/office/drawing/2014/main" id="{4CB32C21-A00C-9C78-3FD1-418487DB1E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71388" y="1856690"/>
            <a:ext cx="913384" cy="913384"/>
          </a:xfrm>
          <a:prstGeom prst="rect">
            <a:avLst/>
          </a:prstGeom>
        </p:spPr>
      </p:pic>
      <p:pic>
        <p:nvPicPr>
          <p:cNvPr id="9" name="Graphic 8" descr="Help with solid fill">
            <a:extLst>
              <a:ext uri="{FF2B5EF4-FFF2-40B4-BE49-F238E27FC236}">
                <a16:creationId xmlns:a16="http://schemas.microsoft.com/office/drawing/2014/main" id="{14DE821F-00EE-A93A-042B-7657FD0FE2D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92310" y="2094482"/>
            <a:ext cx="1771652" cy="1771652"/>
          </a:xfrm>
          <a:prstGeom prst="rect">
            <a:avLst/>
          </a:prstGeom>
        </p:spPr>
      </p:pic>
      <p:sp>
        <p:nvSpPr>
          <p:cNvPr id="12" name="TextBox 11">
            <a:extLst>
              <a:ext uri="{FF2B5EF4-FFF2-40B4-BE49-F238E27FC236}">
                <a16:creationId xmlns:a16="http://schemas.microsoft.com/office/drawing/2014/main" id="{C77BDE93-2110-F132-7F12-8E877092B784}"/>
              </a:ext>
            </a:extLst>
          </p:cNvPr>
          <p:cNvSpPr txBox="1"/>
          <p:nvPr/>
        </p:nvSpPr>
        <p:spPr>
          <a:xfrm>
            <a:off x="731520" y="4270810"/>
            <a:ext cx="2885440" cy="1323632"/>
          </a:xfrm>
          <a:prstGeom prst="rect">
            <a:avLst/>
          </a:prstGeom>
          <a:noFill/>
        </p:spPr>
        <p:txBody>
          <a:bodyPr wrap="square">
            <a:spAutoFit/>
          </a:bodyPr>
          <a:lstStyle/>
          <a:p>
            <a:pPr algn="l"/>
            <a:r>
              <a:rPr lang="en-US" sz="2667" dirty="0">
                <a:solidFill>
                  <a:srgbClr val="2D3748"/>
                </a:solidFill>
                <a:latin typeface="Calibri"/>
              </a:rPr>
              <a:t>Users </a:t>
            </a:r>
            <a:r>
              <a:rPr lang="en-US" sz="2667" b="1" dirty="0">
                <a:solidFill>
                  <a:srgbClr val="2D3748"/>
                </a:solidFill>
                <a:latin typeface="Calibri"/>
              </a:rPr>
              <a:t>don’t fully know </a:t>
            </a:r>
            <a:r>
              <a:rPr lang="en-US" sz="2667" dirty="0">
                <a:solidFill>
                  <a:srgbClr val="2D3748"/>
                </a:solidFill>
                <a:latin typeface="Calibri"/>
              </a:rPr>
              <a:t>what they want.</a:t>
            </a:r>
          </a:p>
        </p:txBody>
      </p:sp>
      <p:sp>
        <p:nvSpPr>
          <p:cNvPr id="13" name="TextBox 12">
            <a:extLst>
              <a:ext uri="{FF2B5EF4-FFF2-40B4-BE49-F238E27FC236}">
                <a16:creationId xmlns:a16="http://schemas.microsoft.com/office/drawing/2014/main" id="{A535F219-3707-97E6-5203-5AF3B26C8983}"/>
              </a:ext>
            </a:extLst>
          </p:cNvPr>
          <p:cNvSpPr txBox="1"/>
          <p:nvPr/>
        </p:nvSpPr>
        <p:spPr>
          <a:xfrm>
            <a:off x="4815840" y="4356050"/>
            <a:ext cx="2590800" cy="830997"/>
          </a:xfrm>
          <a:prstGeom prst="rect">
            <a:avLst/>
          </a:prstGeom>
          <a:noFill/>
        </p:spPr>
        <p:txBody>
          <a:bodyPr wrap="square">
            <a:spAutoFit/>
          </a:bodyPr>
          <a:lstStyle/>
          <a:p>
            <a:pPr algn="ctr"/>
            <a:r>
              <a:rPr lang="en-US" sz="2400" dirty="0">
                <a:solidFill>
                  <a:srgbClr val="2D3748"/>
                </a:solidFill>
                <a:latin typeface="Calibri"/>
              </a:rPr>
              <a:t>Users </a:t>
            </a:r>
            <a:r>
              <a:rPr lang="en-US" sz="2400" b="1" dirty="0">
                <a:solidFill>
                  <a:srgbClr val="2D3748"/>
                </a:solidFill>
                <a:latin typeface="Calibri"/>
              </a:rPr>
              <a:t>will change </a:t>
            </a:r>
            <a:r>
              <a:rPr lang="en-US" sz="2400" dirty="0">
                <a:solidFill>
                  <a:srgbClr val="2D3748"/>
                </a:solidFill>
                <a:latin typeface="Calibri"/>
              </a:rPr>
              <a:t>their mind.</a:t>
            </a:r>
          </a:p>
        </p:txBody>
      </p:sp>
      <p:sp>
        <p:nvSpPr>
          <p:cNvPr id="16" name="TextBox 15">
            <a:extLst>
              <a:ext uri="{FF2B5EF4-FFF2-40B4-BE49-F238E27FC236}">
                <a16:creationId xmlns:a16="http://schemas.microsoft.com/office/drawing/2014/main" id="{9D6E7C34-9326-039A-963A-CBF96F66FF95}"/>
              </a:ext>
            </a:extLst>
          </p:cNvPr>
          <p:cNvSpPr txBox="1"/>
          <p:nvPr/>
        </p:nvSpPr>
        <p:spPr>
          <a:xfrm>
            <a:off x="8605520" y="4200026"/>
            <a:ext cx="3322320" cy="1200329"/>
          </a:xfrm>
          <a:prstGeom prst="rect">
            <a:avLst/>
          </a:prstGeom>
          <a:noFill/>
        </p:spPr>
        <p:txBody>
          <a:bodyPr wrap="square">
            <a:spAutoFit/>
          </a:bodyPr>
          <a:lstStyle/>
          <a:p>
            <a:pPr algn="l"/>
            <a:r>
              <a:rPr lang="en-US" sz="2400" dirty="0">
                <a:solidFill>
                  <a:srgbClr val="2D3748"/>
                </a:solidFill>
                <a:latin typeface="Calibri"/>
              </a:rPr>
              <a:t>Building the software </a:t>
            </a:r>
            <a:r>
              <a:rPr lang="en-US" sz="2400" b="1" dirty="0">
                <a:solidFill>
                  <a:srgbClr val="2D3748"/>
                </a:solidFill>
                <a:latin typeface="Calibri"/>
              </a:rPr>
              <a:t>reveals unknown challenges </a:t>
            </a:r>
            <a:r>
              <a:rPr lang="en-US" sz="2400" dirty="0">
                <a:solidFill>
                  <a:srgbClr val="2D3748"/>
                </a:solidFill>
                <a:latin typeface="Calibri"/>
              </a:rPr>
              <a:t>over time.</a:t>
            </a:r>
            <a:endParaRPr lang="en-US" sz="2400" dirty="0"/>
          </a:p>
        </p:txBody>
      </p:sp>
      <p:sp>
        <p:nvSpPr>
          <p:cNvPr id="17" name="Speech Bubble: Rectangle 16">
            <a:extLst>
              <a:ext uri="{FF2B5EF4-FFF2-40B4-BE49-F238E27FC236}">
                <a16:creationId xmlns:a16="http://schemas.microsoft.com/office/drawing/2014/main" id="{B4A53602-993B-7C07-DF98-E43AD49C10B3}"/>
              </a:ext>
            </a:extLst>
          </p:cNvPr>
          <p:cNvSpPr/>
          <p:nvPr/>
        </p:nvSpPr>
        <p:spPr>
          <a:xfrm>
            <a:off x="2353912" y="5696716"/>
            <a:ext cx="7748336" cy="687503"/>
          </a:xfrm>
          <a:prstGeom prst="wedgeRectCallout">
            <a:avLst>
              <a:gd name="adj1" fmla="val -21401"/>
              <a:gd name="adj2" fmla="val -86856"/>
            </a:avLst>
          </a:prstGeom>
          <a:solidFill>
            <a:schemeClr val="bg1">
              <a:lumMod val="95000"/>
            </a:schemeClr>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3200" b="1" dirty="0">
                <a:solidFill>
                  <a:schemeClr val="tx1"/>
                </a:solidFill>
                <a:latin typeface="Aptos" panose="020B0004020202020204" pitchFamily="34" charset="0"/>
              </a:rPr>
              <a:t>How would you plan your vacations?</a:t>
            </a:r>
          </a:p>
        </p:txBody>
      </p:sp>
    </p:spTree>
    <p:extLst>
      <p:ext uri="{BB962C8B-B14F-4D97-AF65-F5344CB8AC3E}">
        <p14:creationId xmlns:p14="http://schemas.microsoft.com/office/powerpoint/2010/main" val="2927586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48D78-AC58-E099-276E-0C08DC365FE6}"/>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280881EA-80A1-85CF-3048-1E5B70BF7B14}"/>
              </a:ext>
            </a:extLst>
          </p:cNvPr>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The most important abilities in software</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10084FE6-B647-D425-122E-55D5ED2E74BA}"/>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lide Number Placeholder 14">
            <a:extLst>
              <a:ext uri="{FF2B5EF4-FFF2-40B4-BE49-F238E27FC236}">
                <a16:creationId xmlns:a16="http://schemas.microsoft.com/office/drawing/2014/main" id="{7238F794-B90C-98BE-486F-CB2A295C2F6F}"/>
              </a:ext>
            </a:extLst>
          </p:cNvPr>
          <p:cNvSpPr>
            <a:spLocks noGrp="1"/>
          </p:cNvSpPr>
          <p:nvPr>
            <p:ph type="sldNum" sz="quarter" idx="12"/>
          </p:nvPr>
        </p:nvSpPr>
        <p:spPr/>
        <p:txBody>
          <a:bodyPr/>
          <a:lstStyle/>
          <a:p>
            <a:fld id="{C1FF6DA9-008F-8B48-92A6-B652298478BF}" type="slidenum">
              <a:rPr lang="en-US" smtClean="0"/>
              <a:t>20</a:t>
            </a:fld>
            <a:endParaRPr lang="en-US" dirty="0"/>
          </a:p>
        </p:txBody>
      </p:sp>
      <p:graphicFrame>
        <p:nvGraphicFramePr>
          <p:cNvPr id="7" name="Diagram 6">
            <a:extLst>
              <a:ext uri="{FF2B5EF4-FFF2-40B4-BE49-F238E27FC236}">
                <a16:creationId xmlns:a16="http://schemas.microsoft.com/office/drawing/2014/main" id="{4D7D2695-2C75-210B-7BEA-386A822CE1A9}"/>
              </a:ext>
            </a:extLst>
          </p:cNvPr>
          <p:cNvGraphicFramePr/>
          <p:nvPr>
            <p:extLst>
              <p:ext uri="{D42A27DB-BD31-4B8C-83A1-F6EECF244321}">
                <p14:modId xmlns:p14="http://schemas.microsoft.com/office/powerpoint/2010/main" val="2124269929"/>
              </p:ext>
            </p:extLst>
          </p:nvPr>
        </p:nvGraphicFramePr>
        <p:xfrm>
          <a:off x="2386652" y="1818259"/>
          <a:ext cx="6096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Speech Bubble: Rectangle 10">
            <a:extLst>
              <a:ext uri="{FF2B5EF4-FFF2-40B4-BE49-F238E27FC236}">
                <a16:creationId xmlns:a16="http://schemas.microsoft.com/office/drawing/2014/main" id="{AA083681-0C74-FACD-4AA5-38D0709BBB28}"/>
              </a:ext>
            </a:extLst>
          </p:cNvPr>
          <p:cNvSpPr/>
          <p:nvPr/>
        </p:nvSpPr>
        <p:spPr>
          <a:xfrm>
            <a:off x="8807337" y="3184058"/>
            <a:ext cx="2480423" cy="1051559"/>
          </a:xfrm>
          <a:prstGeom prst="wedgeRectCallout">
            <a:avLst>
              <a:gd name="adj1" fmla="val -58659"/>
              <a:gd name="adj2" fmla="val 19505"/>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rPr>
              <a:t>The faster you can do this, the better.</a:t>
            </a:r>
          </a:p>
        </p:txBody>
      </p:sp>
    </p:spTree>
    <p:extLst>
      <p:ext uri="{BB962C8B-B14F-4D97-AF65-F5344CB8AC3E}">
        <p14:creationId xmlns:p14="http://schemas.microsoft.com/office/powerpoint/2010/main" val="8286274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B7958-BB6E-59C0-1943-89AB57830CEB}"/>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70F37E31-C77A-0CD1-F896-DCFA3ABBA798}"/>
              </a:ext>
            </a:extLst>
          </p:cNvPr>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Learning and adapting quickly</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72B58FFD-F487-A5FD-5716-5546B10A6713}"/>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lide Number Placeholder 14">
            <a:extLst>
              <a:ext uri="{FF2B5EF4-FFF2-40B4-BE49-F238E27FC236}">
                <a16:creationId xmlns:a16="http://schemas.microsoft.com/office/drawing/2014/main" id="{2C8D8FE8-0C77-F099-AD22-0E99ABE1657C}"/>
              </a:ext>
            </a:extLst>
          </p:cNvPr>
          <p:cNvSpPr>
            <a:spLocks noGrp="1"/>
          </p:cNvSpPr>
          <p:nvPr>
            <p:ph type="sldNum" sz="quarter" idx="12"/>
          </p:nvPr>
        </p:nvSpPr>
        <p:spPr/>
        <p:txBody>
          <a:bodyPr/>
          <a:lstStyle/>
          <a:p>
            <a:fld id="{C1FF6DA9-008F-8B48-92A6-B652298478BF}" type="slidenum">
              <a:rPr lang="en-US" smtClean="0"/>
              <a:t>21</a:t>
            </a:fld>
            <a:endParaRPr lang="en-US" dirty="0"/>
          </a:p>
        </p:txBody>
      </p:sp>
      <p:sp>
        <p:nvSpPr>
          <p:cNvPr id="5" name="TextBox 4">
            <a:extLst>
              <a:ext uri="{FF2B5EF4-FFF2-40B4-BE49-F238E27FC236}">
                <a16:creationId xmlns:a16="http://schemas.microsoft.com/office/drawing/2014/main" id="{A12D7C7C-321D-BB5F-176B-FE3ACACFDFC0}"/>
              </a:ext>
            </a:extLst>
          </p:cNvPr>
          <p:cNvSpPr txBox="1"/>
          <p:nvPr/>
        </p:nvSpPr>
        <p:spPr>
          <a:xfrm>
            <a:off x="2093762" y="2041234"/>
            <a:ext cx="2373598" cy="523220"/>
          </a:xfrm>
          <a:prstGeom prst="rect">
            <a:avLst/>
          </a:prstGeom>
          <a:noFill/>
        </p:spPr>
        <p:txBody>
          <a:bodyPr wrap="none" rtlCol="0">
            <a:spAutoFit/>
          </a:bodyPr>
          <a:lstStyle/>
          <a:p>
            <a:r>
              <a:rPr lang="en-US" sz="2800" b="1" dirty="0">
                <a:latin typeface="Aptos" panose="020B0004020202020204" pitchFamily="34" charset="0"/>
              </a:rPr>
              <a:t>Learn quickly</a:t>
            </a:r>
          </a:p>
        </p:txBody>
      </p:sp>
      <p:sp>
        <p:nvSpPr>
          <p:cNvPr id="8" name="TextBox 7">
            <a:extLst>
              <a:ext uri="{FF2B5EF4-FFF2-40B4-BE49-F238E27FC236}">
                <a16:creationId xmlns:a16="http://schemas.microsoft.com/office/drawing/2014/main" id="{16FEFB00-E16A-F0AE-1FF9-6FE5131F9018}"/>
              </a:ext>
            </a:extLst>
          </p:cNvPr>
          <p:cNvSpPr txBox="1"/>
          <p:nvPr/>
        </p:nvSpPr>
        <p:spPr>
          <a:xfrm>
            <a:off x="7261168" y="2068627"/>
            <a:ext cx="2416046" cy="523220"/>
          </a:xfrm>
          <a:prstGeom prst="rect">
            <a:avLst/>
          </a:prstGeom>
          <a:noFill/>
        </p:spPr>
        <p:txBody>
          <a:bodyPr wrap="none" rtlCol="0">
            <a:spAutoFit/>
          </a:bodyPr>
          <a:lstStyle/>
          <a:p>
            <a:r>
              <a:rPr lang="en-US" sz="2800" b="1" dirty="0">
                <a:latin typeface="Aptos" panose="020B0004020202020204" pitchFamily="34" charset="0"/>
              </a:rPr>
              <a:t>Adapt quickly</a:t>
            </a:r>
          </a:p>
        </p:txBody>
      </p:sp>
      <p:pic>
        <p:nvPicPr>
          <p:cNvPr id="10" name="Graphic 9" descr="Lightbulb with solid fill">
            <a:extLst>
              <a:ext uri="{FF2B5EF4-FFF2-40B4-BE49-F238E27FC236}">
                <a16:creationId xmlns:a16="http://schemas.microsoft.com/office/drawing/2014/main" id="{535C694C-924F-012B-E360-5C13102529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1873037"/>
            <a:ext cx="914400" cy="914400"/>
          </a:xfrm>
          <a:prstGeom prst="rect">
            <a:avLst/>
          </a:prstGeom>
        </p:spPr>
      </p:pic>
      <p:pic>
        <p:nvPicPr>
          <p:cNvPr id="13" name="Picture 12" descr="6,100+ Adapt Icon Stock Illustrations, Royalty-Free Vector ...">
            <a:extLst>
              <a:ext uri="{FF2B5EF4-FFF2-40B4-BE49-F238E27FC236}">
                <a16:creationId xmlns:a16="http://schemas.microsoft.com/office/drawing/2014/main" id="{F9978EBE-0553-08E4-D59F-A46D36BBBCD6}"/>
              </a:ext>
            </a:extLst>
          </p:cNvPr>
          <p:cNvPicPr>
            <a:picLocks noChangeAspect="1"/>
          </p:cNvPicPr>
          <p:nvPr/>
        </p:nvPicPr>
        <p:blipFill>
          <a:blip r:embed="rId4"/>
          <a:stretch>
            <a:fillRect/>
          </a:stretch>
        </p:blipFill>
        <p:spPr>
          <a:xfrm>
            <a:off x="5861058" y="1821221"/>
            <a:ext cx="1214435" cy="1214435"/>
          </a:xfrm>
          <a:prstGeom prst="rect">
            <a:avLst/>
          </a:prstGeom>
        </p:spPr>
      </p:pic>
      <p:sp>
        <p:nvSpPr>
          <p:cNvPr id="16" name="Rectangle 15">
            <a:extLst>
              <a:ext uri="{FF2B5EF4-FFF2-40B4-BE49-F238E27FC236}">
                <a16:creationId xmlns:a16="http://schemas.microsoft.com/office/drawing/2014/main" id="{74346844-0893-290D-2D6E-AB58D8B868A3}"/>
              </a:ext>
            </a:extLst>
          </p:cNvPr>
          <p:cNvSpPr/>
          <p:nvPr/>
        </p:nvSpPr>
        <p:spPr>
          <a:xfrm>
            <a:off x="5912015" y="2787437"/>
            <a:ext cx="1112520" cy="455137"/>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latin typeface="Aptos" panose="020B0004020202020204" pitchFamily="34" charset="0"/>
            </a:endParaRPr>
          </a:p>
        </p:txBody>
      </p:sp>
      <p:sp>
        <p:nvSpPr>
          <p:cNvPr id="18" name="TextBox 17">
            <a:extLst>
              <a:ext uri="{FF2B5EF4-FFF2-40B4-BE49-F238E27FC236}">
                <a16:creationId xmlns:a16="http://schemas.microsoft.com/office/drawing/2014/main" id="{EABEE257-F2C6-69E5-255E-4E38160E4561}"/>
              </a:ext>
            </a:extLst>
          </p:cNvPr>
          <p:cNvSpPr txBox="1"/>
          <p:nvPr/>
        </p:nvSpPr>
        <p:spPr>
          <a:xfrm>
            <a:off x="960659" y="3324051"/>
            <a:ext cx="4200621" cy="1938992"/>
          </a:xfrm>
          <a:prstGeom prst="rect">
            <a:avLst/>
          </a:prstGeom>
          <a:noFill/>
        </p:spPr>
        <p:txBody>
          <a:bodyPr wrap="square">
            <a:spAutoFit/>
          </a:bodyPr>
          <a:lstStyle/>
          <a:p>
            <a:pPr marL="342900" indent="-342900" algn="l">
              <a:buFont typeface="Arial" panose="020B0604020202020204" pitchFamily="34" charset="0"/>
              <a:buChar char="•"/>
            </a:pPr>
            <a:r>
              <a:rPr lang="en-US" sz="2000" b="1" dirty="0">
                <a:solidFill>
                  <a:srgbClr val="2D3748"/>
                </a:solidFill>
                <a:latin typeface="Aptos" panose="020B0004020202020204" pitchFamily="34" charset="0"/>
              </a:rPr>
              <a:t>Agile</a:t>
            </a:r>
            <a:r>
              <a:rPr lang="en-US" sz="2000" dirty="0">
                <a:solidFill>
                  <a:srgbClr val="2D3748"/>
                </a:solidFill>
                <a:latin typeface="Aptos" panose="020B0004020202020204" pitchFamily="34" charset="0"/>
              </a:rPr>
              <a:t> to have quick feedback loops.</a:t>
            </a:r>
          </a:p>
          <a:p>
            <a:pPr marL="342900" indent="-342900" algn="l">
              <a:buFont typeface="Arial" panose="020B0604020202020204" pitchFamily="34" charset="0"/>
              <a:buChar char="•"/>
            </a:pPr>
            <a:endParaRPr lang="en-US" sz="2000" dirty="0">
              <a:solidFill>
                <a:srgbClr val="2D3748"/>
              </a:solidFill>
              <a:latin typeface="Aptos" panose="020B0004020202020204" pitchFamily="34" charset="0"/>
            </a:endParaRPr>
          </a:p>
          <a:p>
            <a:pPr marL="342900" indent="-342900" algn="l">
              <a:buFont typeface="Arial" panose="020B0604020202020204" pitchFamily="34" charset="0"/>
              <a:buChar char="•"/>
            </a:pPr>
            <a:endParaRPr lang="en-US" sz="2000" b="0" dirty="0">
              <a:solidFill>
                <a:srgbClr val="2D3748"/>
              </a:solidFill>
              <a:latin typeface="Aptos" panose="020B0004020202020204" pitchFamily="34" charset="0"/>
            </a:endParaRPr>
          </a:p>
          <a:p>
            <a:pPr marL="342900" indent="-342900" algn="l">
              <a:buFont typeface="Arial" panose="020B0604020202020204" pitchFamily="34" charset="0"/>
              <a:buChar char="•"/>
            </a:pPr>
            <a:r>
              <a:rPr lang="en-US" sz="2000" dirty="0">
                <a:solidFill>
                  <a:srgbClr val="2D3748"/>
                </a:solidFill>
                <a:latin typeface="Aptos" panose="020B0004020202020204" pitchFamily="34" charset="0"/>
              </a:rPr>
              <a:t>The </a:t>
            </a:r>
            <a:r>
              <a:rPr lang="en-US" sz="2000" b="1" dirty="0">
                <a:solidFill>
                  <a:srgbClr val="2D3748"/>
                </a:solidFill>
                <a:latin typeface="Aptos" panose="020B0004020202020204" pitchFamily="34" charset="0"/>
              </a:rPr>
              <a:t>scientific method </a:t>
            </a:r>
            <a:r>
              <a:rPr lang="en-US" sz="2000" dirty="0">
                <a:solidFill>
                  <a:srgbClr val="2D3748"/>
                </a:solidFill>
                <a:latin typeface="Aptos" panose="020B0004020202020204" pitchFamily="34" charset="0"/>
              </a:rPr>
              <a:t>to learn effectively on those loops.</a:t>
            </a:r>
            <a:endParaRPr sz="2000" b="0" dirty="0">
              <a:solidFill>
                <a:srgbClr val="2D3748"/>
              </a:solidFill>
              <a:latin typeface="Aptos" panose="020B0004020202020204" pitchFamily="34" charset="0"/>
            </a:endParaRPr>
          </a:p>
        </p:txBody>
      </p:sp>
      <p:sp>
        <p:nvSpPr>
          <p:cNvPr id="20" name="TextBox 19">
            <a:extLst>
              <a:ext uri="{FF2B5EF4-FFF2-40B4-BE49-F238E27FC236}">
                <a16:creationId xmlns:a16="http://schemas.microsoft.com/office/drawing/2014/main" id="{A4D1A57A-D9FA-883D-15F1-413F128CCD0E}"/>
              </a:ext>
            </a:extLst>
          </p:cNvPr>
          <p:cNvSpPr txBox="1"/>
          <p:nvPr/>
        </p:nvSpPr>
        <p:spPr>
          <a:xfrm>
            <a:off x="5912015" y="3317840"/>
            <a:ext cx="5528145" cy="2554545"/>
          </a:xfrm>
          <a:prstGeom prst="rect">
            <a:avLst/>
          </a:prstGeom>
          <a:noFill/>
        </p:spPr>
        <p:txBody>
          <a:bodyPr wrap="square">
            <a:spAutoFit/>
          </a:bodyPr>
          <a:lstStyle/>
          <a:p>
            <a:pPr marL="342900" indent="-342900" algn="l">
              <a:buFont typeface="Arial" panose="020B0604020202020204" pitchFamily="34" charset="0"/>
              <a:buChar char="•"/>
            </a:pPr>
            <a:r>
              <a:rPr lang="en-US" sz="2000" dirty="0">
                <a:solidFill>
                  <a:srgbClr val="2D3748"/>
                </a:solidFill>
                <a:latin typeface="Aptos" panose="020B0004020202020204" pitchFamily="34" charset="0"/>
              </a:rPr>
              <a:t>Keep </a:t>
            </a:r>
            <a:r>
              <a:rPr lang="en-US" sz="2000" b="1" dirty="0">
                <a:solidFill>
                  <a:srgbClr val="2D3748"/>
                </a:solidFill>
                <a:latin typeface="Aptos" panose="020B0004020202020204" pitchFamily="34" charset="0"/>
              </a:rPr>
              <a:t>code complexity </a:t>
            </a:r>
            <a:r>
              <a:rPr lang="en-US" sz="2000" dirty="0">
                <a:solidFill>
                  <a:srgbClr val="2D3748"/>
                </a:solidFill>
                <a:latin typeface="Aptos" panose="020B0004020202020204" pitchFamily="34" charset="0"/>
              </a:rPr>
              <a:t>low</a:t>
            </a:r>
          </a:p>
          <a:p>
            <a:pPr marL="342900" indent="-342900" algn="l">
              <a:buFont typeface="Arial" panose="020B0604020202020204" pitchFamily="34" charset="0"/>
              <a:buChar char="•"/>
            </a:pPr>
            <a:endParaRPr lang="en-US" sz="2000" dirty="0">
              <a:solidFill>
                <a:srgbClr val="2D3748"/>
              </a:solidFill>
              <a:latin typeface="Aptos" panose="020B0004020202020204" pitchFamily="34" charset="0"/>
            </a:endParaRPr>
          </a:p>
          <a:p>
            <a:pPr marL="342900" indent="-342900" algn="l">
              <a:buFont typeface="Arial" panose="020B0604020202020204" pitchFamily="34" charset="0"/>
              <a:buChar char="•"/>
            </a:pPr>
            <a:endParaRPr lang="en-US" sz="2000" dirty="0">
              <a:solidFill>
                <a:srgbClr val="2D3748"/>
              </a:solidFill>
              <a:latin typeface="Aptos" panose="020B0004020202020204" pitchFamily="34" charset="0"/>
            </a:endParaRPr>
          </a:p>
          <a:p>
            <a:pPr marL="342900" indent="-342900">
              <a:buFont typeface="Arial" panose="020B0604020202020204" pitchFamily="34" charset="0"/>
              <a:buChar char="•"/>
            </a:pPr>
            <a:r>
              <a:rPr lang="en-US" sz="2000" b="1" dirty="0">
                <a:solidFill>
                  <a:srgbClr val="2D3748"/>
                </a:solidFill>
                <a:latin typeface="Aptos" panose="020B0004020202020204" pitchFamily="34" charset="0"/>
              </a:rPr>
              <a:t>Modularity</a:t>
            </a:r>
            <a:r>
              <a:rPr lang="en-US" sz="2000" dirty="0">
                <a:solidFill>
                  <a:srgbClr val="2D3748"/>
                </a:solidFill>
                <a:latin typeface="Aptos" panose="020B0004020202020204" pitchFamily="34" charset="0"/>
              </a:rPr>
              <a:t> &amp; isolation of changes</a:t>
            </a:r>
          </a:p>
          <a:p>
            <a:pPr marL="342900" indent="-342900" algn="l">
              <a:buFont typeface="Arial" panose="020B0604020202020204" pitchFamily="34" charset="0"/>
              <a:buChar char="•"/>
            </a:pPr>
            <a:endParaRPr lang="en-US" sz="2000" b="0" dirty="0">
              <a:solidFill>
                <a:srgbClr val="2D3748"/>
              </a:solidFill>
              <a:latin typeface="Aptos" panose="020B0004020202020204" pitchFamily="34" charset="0"/>
            </a:endParaRPr>
          </a:p>
          <a:p>
            <a:pPr marL="342900" indent="-342900" algn="l">
              <a:buFont typeface="Arial" panose="020B0604020202020204" pitchFamily="34" charset="0"/>
              <a:buChar char="•"/>
            </a:pPr>
            <a:endParaRPr lang="en-US" sz="2000" b="0" dirty="0">
              <a:solidFill>
                <a:srgbClr val="2D3748"/>
              </a:solidFill>
              <a:latin typeface="Aptos" panose="020B0004020202020204" pitchFamily="34" charset="0"/>
            </a:endParaRPr>
          </a:p>
          <a:p>
            <a:pPr marL="342900" indent="-342900" algn="l">
              <a:buFont typeface="Arial" panose="020B0604020202020204" pitchFamily="34" charset="0"/>
              <a:buChar char="•"/>
            </a:pPr>
            <a:r>
              <a:rPr lang="en-US" sz="2000" b="1" dirty="0">
                <a:solidFill>
                  <a:srgbClr val="2D3748"/>
                </a:solidFill>
                <a:latin typeface="Aptos" panose="020B0004020202020204" pitchFamily="34" charset="0"/>
              </a:rPr>
              <a:t>Automated testing </a:t>
            </a:r>
            <a:r>
              <a:rPr lang="en-US" sz="2000" dirty="0">
                <a:solidFill>
                  <a:srgbClr val="2D3748"/>
                </a:solidFill>
                <a:latin typeface="Aptos" panose="020B0004020202020204" pitchFamily="34" charset="0"/>
              </a:rPr>
              <a:t>as a safety mechanism for changes</a:t>
            </a:r>
            <a:endParaRPr sz="2000" b="0" dirty="0">
              <a:solidFill>
                <a:srgbClr val="2D3748"/>
              </a:solidFill>
              <a:latin typeface="Aptos" panose="020B0004020202020204" pitchFamily="34" charset="0"/>
            </a:endParaRPr>
          </a:p>
        </p:txBody>
      </p:sp>
    </p:spTree>
    <p:extLst>
      <p:ext uri="{BB962C8B-B14F-4D97-AF65-F5344CB8AC3E}">
        <p14:creationId xmlns:p14="http://schemas.microsoft.com/office/powerpoint/2010/main" val="2655398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A typical workflow in a decision-support system</a:t>
            </a:r>
            <a:endParaRPr sz="4000" b="1" dirty="0">
              <a:solidFill>
                <a:srgbClr val="0F2343"/>
              </a:solidFill>
              <a:latin typeface="Aptos Display"/>
            </a:endParaRP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Freeform 5"/>
          <p:cNvSpPr/>
          <p:nvPr/>
        </p:nvSpPr>
        <p:spPr>
          <a:xfrm>
            <a:off x="7281367" y="2450592"/>
            <a:ext cx="475488" cy="72238"/>
          </a:xfrm>
          <a:custGeom>
            <a:avLst/>
            <a:gdLst/>
            <a:ahLst/>
            <a:cxnLst/>
            <a:rect l="l" t="t" r="r" b="b"/>
            <a:pathLst>
              <a:path w="520" h="79">
                <a:moveTo>
                  <a:pt x="0" y="0"/>
                </a:moveTo>
                <a:lnTo>
                  <a:pt x="16" y="2"/>
                </a:lnTo>
                <a:lnTo>
                  <a:pt x="33" y="4"/>
                </a:lnTo>
                <a:lnTo>
                  <a:pt x="49" y="6"/>
                </a:lnTo>
                <a:lnTo>
                  <a:pt x="66" y="8"/>
                </a:lnTo>
                <a:lnTo>
                  <a:pt x="82" y="10"/>
                </a:lnTo>
                <a:lnTo>
                  <a:pt x="99" y="13"/>
                </a:lnTo>
                <a:lnTo>
                  <a:pt x="115" y="15"/>
                </a:lnTo>
                <a:lnTo>
                  <a:pt x="132" y="17"/>
                </a:lnTo>
                <a:lnTo>
                  <a:pt x="148" y="19"/>
                </a:lnTo>
                <a:lnTo>
                  <a:pt x="165" y="22"/>
                </a:lnTo>
                <a:lnTo>
                  <a:pt x="181" y="24"/>
                </a:lnTo>
                <a:lnTo>
                  <a:pt x="198" y="26"/>
                </a:lnTo>
                <a:lnTo>
                  <a:pt x="214" y="29"/>
                </a:lnTo>
                <a:lnTo>
                  <a:pt x="230" y="31"/>
                </a:lnTo>
                <a:lnTo>
                  <a:pt x="247" y="34"/>
                </a:lnTo>
                <a:lnTo>
                  <a:pt x="263" y="36"/>
                </a:lnTo>
                <a:lnTo>
                  <a:pt x="279" y="39"/>
                </a:lnTo>
                <a:lnTo>
                  <a:pt x="295" y="41"/>
                </a:lnTo>
                <a:lnTo>
                  <a:pt x="312" y="44"/>
                </a:lnTo>
                <a:lnTo>
                  <a:pt x="328" y="46"/>
                </a:lnTo>
                <a:lnTo>
                  <a:pt x="344" y="49"/>
                </a:lnTo>
                <a:lnTo>
                  <a:pt x="360" y="52"/>
                </a:lnTo>
                <a:lnTo>
                  <a:pt x="376" y="54"/>
                </a:lnTo>
                <a:lnTo>
                  <a:pt x="392" y="57"/>
                </a:lnTo>
                <a:lnTo>
                  <a:pt x="408" y="60"/>
                </a:lnTo>
                <a:lnTo>
                  <a:pt x="424" y="62"/>
                </a:lnTo>
                <a:lnTo>
                  <a:pt x="440" y="65"/>
                </a:lnTo>
                <a:lnTo>
                  <a:pt x="456" y="68"/>
                </a:lnTo>
                <a:lnTo>
                  <a:pt x="472" y="71"/>
                </a:lnTo>
                <a:lnTo>
                  <a:pt x="488" y="74"/>
                </a:lnTo>
                <a:lnTo>
                  <a:pt x="504" y="77"/>
                </a:lnTo>
                <a:lnTo>
                  <a:pt x="52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Freeform 6"/>
          <p:cNvSpPr/>
          <p:nvPr/>
        </p:nvSpPr>
        <p:spPr>
          <a:xfrm>
            <a:off x="9669780" y="3253435"/>
            <a:ext cx="351130" cy="373075"/>
          </a:xfrm>
          <a:custGeom>
            <a:avLst/>
            <a:gdLst/>
            <a:ahLst/>
            <a:cxnLst/>
            <a:rect l="l" t="t" r="r" b="b"/>
            <a:pathLst>
              <a:path w="384" h="408">
                <a:moveTo>
                  <a:pt x="0" y="0"/>
                </a:moveTo>
                <a:lnTo>
                  <a:pt x="8" y="6"/>
                </a:lnTo>
                <a:lnTo>
                  <a:pt x="16" y="12"/>
                </a:lnTo>
                <a:lnTo>
                  <a:pt x="24" y="19"/>
                </a:lnTo>
                <a:lnTo>
                  <a:pt x="32" y="25"/>
                </a:lnTo>
                <a:lnTo>
                  <a:pt x="40" y="31"/>
                </a:lnTo>
                <a:lnTo>
                  <a:pt x="48" y="37"/>
                </a:lnTo>
                <a:lnTo>
                  <a:pt x="56" y="44"/>
                </a:lnTo>
                <a:lnTo>
                  <a:pt x="63" y="50"/>
                </a:lnTo>
                <a:lnTo>
                  <a:pt x="71" y="56"/>
                </a:lnTo>
                <a:lnTo>
                  <a:pt x="78" y="63"/>
                </a:lnTo>
                <a:lnTo>
                  <a:pt x="86" y="69"/>
                </a:lnTo>
                <a:lnTo>
                  <a:pt x="93" y="76"/>
                </a:lnTo>
                <a:lnTo>
                  <a:pt x="101" y="82"/>
                </a:lnTo>
                <a:lnTo>
                  <a:pt x="108" y="88"/>
                </a:lnTo>
                <a:lnTo>
                  <a:pt x="115" y="95"/>
                </a:lnTo>
                <a:lnTo>
                  <a:pt x="123" y="101"/>
                </a:lnTo>
                <a:lnTo>
                  <a:pt x="130" y="108"/>
                </a:lnTo>
                <a:lnTo>
                  <a:pt x="137" y="114"/>
                </a:lnTo>
                <a:lnTo>
                  <a:pt x="144" y="121"/>
                </a:lnTo>
                <a:lnTo>
                  <a:pt x="151" y="127"/>
                </a:lnTo>
                <a:lnTo>
                  <a:pt x="158" y="134"/>
                </a:lnTo>
                <a:lnTo>
                  <a:pt x="164" y="140"/>
                </a:lnTo>
                <a:lnTo>
                  <a:pt x="171" y="147"/>
                </a:lnTo>
                <a:lnTo>
                  <a:pt x="178" y="153"/>
                </a:lnTo>
                <a:lnTo>
                  <a:pt x="184" y="160"/>
                </a:lnTo>
                <a:lnTo>
                  <a:pt x="191" y="166"/>
                </a:lnTo>
                <a:lnTo>
                  <a:pt x="197" y="173"/>
                </a:lnTo>
                <a:lnTo>
                  <a:pt x="204" y="179"/>
                </a:lnTo>
                <a:lnTo>
                  <a:pt x="210" y="186"/>
                </a:lnTo>
                <a:lnTo>
                  <a:pt x="217" y="193"/>
                </a:lnTo>
                <a:lnTo>
                  <a:pt x="223" y="199"/>
                </a:lnTo>
                <a:lnTo>
                  <a:pt x="229" y="206"/>
                </a:lnTo>
                <a:lnTo>
                  <a:pt x="235" y="212"/>
                </a:lnTo>
                <a:lnTo>
                  <a:pt x="241" y="219"/>
                </a:lnTo>
                <a:lnTo>
                  <a:pt x="247" y="226"/>
                </a:lnTo>
                <a:lnTo>
                  <a:pt x="253" y="232"/>
                </a:lnTo>
                <a:lnTo>
                  <a:pt x="259" y="239"/>
                </a:lnTo>
                <a:lnTo>
                  <a:pt x="265" y="246"/>
                </a:lnTo>
                <a:lnTo>
                  <a:pt x="270" y="252"/>
                </a:lnTo>
                <a:lnTo>
                  <a:pt x="276" y="259"/>
                </a:lnTo>
                <a:lnTo>
                  <a:pt x="282" y="266"/>
                </a:lnTo>
                <a:lnTo>
                  <a:pt x="287" y="272"/>
                </a:lnTo>
                <a:lnTo>
                  <a:pt x="293" y="279"/>
                </a:lnTo>
                <a:lnTo>
                  <a:pt x="298" y="286"/>
                </a:lnTo>
                <a:lnTo>
                  <a:pt x="304" y="292"/>
                </a:lnTo>
                <a:lnTo>
                  <a:pt x="309" y="299"/>
                </a:lnTo>
                <a:lnTo>
                  <a:pt x="314" y="306"/>
                </a:lnTo>
                <a:lnTo>
                  <a:pt x="319" y="313"/>
                </a:lnTo>
                <a:lnTo>
                  <a:pt x="324" y="319"/>
                </a:lnTo>
                <a:lnTo>
                  <a:pt x="329" y="326"/>
                </a:lnTo>
                <a:lnTo>
                  <a:pt x="334" y="333"/>
                </a:lnTo>
                <a:lnTo>
                  <a:pt x="339" y="340"/>
                </a:lnTo>
                <a:lnTo>
                  <a:pt x="344" y="347"/>
                </a:lnTo>
                <a:lnTo>
                  <a:pt x="349" y="353"/>
                </a:lnTo>
                <a:lnTo>
                  <a:pt x="353" y="360"/>
                </a:lnTo>
                <a:lnTo>
                  <a:pt x="358" y="367"/>
                </a:lnTo>
                <a:lnTo>
                  <a:pt x="363" y="374"/>
                </a:lnTo>
                <a:lnTo>
                  <a:pt x="367" y="381"/>
                </a:lnTo>
                <a:lnTo>
                  <a:pt x="371" y="388"/>
                </a:lnTo>
                <a:lnTo>
                  <a:pt x="376" y="394"/>
                </a:lnTo>
                <a:lnTo>
                  <a:pt x="380" y="401"/>
                </a:lnTo>
                <a:lnTo>
                  <a:pt x="384"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reeform 7"/>
          <p:cNvSpPr/>
          <p:nvPr/>
        </p:nvSpPr>
        <p:spPr>
          <a:xfrm>
            <a:off x="9669780" y="4420210"/>
            <a:ext cx="351130" cy="373075"/>
          </a:xfrm>
          <a:custGeom>
            <a:avLst/>
            <a:gdLst/>
            <a:ahLst/>
            <a:cxnLst/>
            <a:rect l="l" t="t" r="r" b="b"/>
            <a:pathLst>
              <a:path w="384" h="408">
                <a:moveTo>
                  <a:pt x="384" y="0"/>
                </a:moveTo>
                <a:lnTo>
                  <a:pt x="380" y="7"/>
                </a:lnTo>
                <a:lnTo>
                  <a:pt x="376" y="14"/>
                </a:lnTo>
                <a:lnTo>
                  <a:pt x="371" y="20"/>
                </a:lnTo>
                <a:lnTo>
                  <a:pt x="367" y="27"/>
                </a:lnTo>
                <a:lnTo>
                  <a:pt x="363" y="34"/>
                </a:lnTo>
                <a:lnTo>
                  <a:pt x="358" y="41"/>
                </a:lnTo>
                <a:lnTo>
                  <a:pt x="353" y="48"/>
                </a:lnTo>
                <a:lnTo>
                  <a:pt x="349" y="55"/>
                </a:lnTo>
                <a:lnTo>
                  <a:pt x="344" y="61"/>
                </a:lnTo>
                <a:lnTo>
                  <a:pt x="339" y="68"/>
                </a:lnTo>
                <a:lnTo>
                  <a:pt x="334" y="75"/>
                </a:lnTo>
                <a:lnTo>
                  <a:pt x="329" y="82"/>
                </a:lnTo>
                <a:lnTo>
                  <a:pt x="324" y="89"/>
                </a:lnTo>
                <a:lnTo>
                  <a:pt x="319" y="95"/>
                </a:lnTo>
                <a:lnTo>
                  <a:pt x="314" y="102"/>
                </a:lnTo>
                <a:lnTo>
                  <a:pt x="309" y="109"/>
                </a:lnTo>
                <a:lnTo>
                  <a:pt x="304" y="116"/>
                </a:lnTo>
                <a:lnTo>
                  <a:pt x="298" y="122"/>
                </a:lnTo>
                <a:lnTo>
                  <a:pt x="293" y="129"/>
                </a:lnTo>
                <a:lnTo>
                  <a:pt x="287" y="136"/>
                </a:lnTo>
                <a:lnTo>
                  <a:pt x="282" y="142"/>
                </a:lnTo>
                <a:lnTo>
                  <a:pt x="276" y="149"/>
                </a:lnTo>
                <a:lnTo>
                  <a:pt x="270" y="156"/>
                </a:lnTo>
                <a:lnTo>
                  <a:pt x="265" y="162"/>
                </a:lnTo>
                <a:lnTo>
                  <a:pt x="259" y="169"/>
                </a:lnTo>
                <a:lnTo>
                  <a:pt x="253" y="176"/>
                </a:lnTo>
                <a:lnTo>
                  <a:pt x="247" y="182"/>
                </a:lnTo>
                <a:lnTo>
                  <a:pt x="241" y="189"/>
                </a:lnTo>
                <a:lnTo>
                  <a:pt x="235" y="196"/>
                </a:lnTo>
                <a:lnTo>
                  <a:pt x="229" y="202"/>
                </a:lnTo>
                <a:lnTo>
                  <a:pt x="223" y="209"/>
                </a:lnTo>
                <a:lnTo>
                  <a:pt x="217" y="215"/>
                </a:lnTo>
                <a:lnTo>
                  <a:pt x="210" y="222"/>
                </a:lnTo>
                <a:lnTo>
                  <a:pt x="204" y="229"/>
                </a:lnTo>
                <a:lnTo>
                  <a:pt x="197" y="235"/>
                </a:lnTo>
                <a:lnTo>
                  <a:pt x="191" y="242"/>
                </a:lnTo>
                <a:lnTo>
                  <a:pt x="184" y="248"/>
                </a:lnTo>
                <a:lnTo>
                  <a:pt x="178" y="255"/>
                </a:lnTo>
                <a:lnTo>
                  <a:pt x="171" y="261"/>
                </a:lnTo>
                <a:lnTo>
                  <a:pt x="164" y="268"/>
                </a:lnTo>
                <a:lnTo>
                  <a:pt x="158" y="274"/>
                </a:lnTo>
                <a:lnTo>
                  <a:pt x="151" y="281"/>
                </a:lnTo>
                <a:lnTo>
                  <a:pt x="144" y="287"/>
                </a:lnTo>
                <a:lnTo>
                  <a:pt x="137" y="294"/>
                </a:lnTo>
                <a:lnTo>
                  <a:pt x="130" y="300"/>
                </a:lnTo>
                <a:lnTo>
                  <a:pt x="123" y="307"/>
                </a:lnTo>
                <a:lnTo>
                  <a:pt x="115" y="313"/>
                </a:lnTo>
                <a:lnTo>
                  <a:pt x="108" y="320"/>
                </a:lnTo>
                <a:lnTo>
                  <a:pt x="101" y="326"/>
                </a:lnTo>
                <a:lnTo>
                  <a:pt x="93" y="332"/>
                </a:lnTo>
                <a:lnTo>
                  <a:pt x="86" y="339"/>
                </a:lnTo>
                <a:lnTo>
                  <a:pt x="78" y="345"/>
                </a:lnTo>
                <a:lnTo>
                  <a:pt x="71" y="352"/>
                </a:lnTo>
                <a:lnTo>
                  <a:pt x="63" y="358"/>
                </a:lnTo>
                <a:lnTo>
                  <a:pt x="56" y="364"/>
                </a:lnTo>
                <a:lnTo>
                  <a:pt x="48" y="371"/>
                </a:lnTo>
                <a:lnTo>
                  <a:pt x="40" y="377"/>
                </a:lnTo>
                <a:lnTo>
                  <a:pt x="32" y="383"/>
                </a:lnTo>
                <a:lnTo>
                  <a:pt x="24" y="389"/>
                </a:lnTo>
                <a:lnTo>
                  <a:pt x="16" y="396"/>
                </a:lnTo>
                <a:lnTo>
                  <a:pt x="8" y="402"/>
                </a:lnTo>
                <a:lnTo>
                  <a:pt x="0"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Freeform 8"/>
          <p:cNvSpPr/>
          <p:nvPr/>
        </p:nvSpPr>
        <p:spPr>
          <a:xfrm>
            <a:off x="7281367" y="5523890"/>
            <a:ext cx="475488" cy="72238"/>
          </a:xfrm>
          <a:custGeom>
            <a:avLst/>
            <a:gdLst/>
            <a:ahLst/>
            <a:cxnLst/>
            <a:rect l="l" t="t" r="r" b="b"/>
            <a:pathLst>
              <a:path w="520" h="79">
                <a:moveTo>
                  <a:pt x="520" y="0"/>
                </a:moveTo>
                <a:lnTo>
                  <a:pt x="504" y="2"/>
                </a:lnTo>
                <a:lnTo>
                  <a:pt x="488" y="5"/>
                </a:lnTo>
                <a:lnTo>
                  <a:pt x="472" y="8"/>
                </a:lnTo>
                <a:lnTo>
                  <a:pt x="456" y="11"/>
                </a:lnTo>
                <a:lnTo>
                  <a:pt x="440" y="14"/>
                </a:lnTo>
                <a:lnTo>
                  <a:pt x="424" y="17"/>
                </a:lnTo>
                <a:lnTo>
                  <a:pt x="408" y="19"/>
                </a:lnTo>
                <a:lnTo>
                  <a:pt x="392" y="22"/>
                </a:lnTo>
                <a:lnTo>
                  <a:pt x="376" y="25"/>
                </a:lnTo>
                <a:lnTo>
                  <a:pt x="360" y="27"/>
                </a:lnTo>
                <a:lnTo>
                  <a:pt x="344" y="30"/>
                </a:lnTo>
                <a:lnTo>
                  <a:pt x="328" y="33"/>
                </a:lnTo>
                <a:lnTo>
                  <a:pt x="312" y="35"/>
                </a:lnTo>
                <a:lnTo>
                  <a:pt x="295" y="38"/>
                </a:lnTo>
                <a:lnTo>
                  <a:pt x="279" y="40"/>
                </a:lnTo>
                <a:lnTo>
                  <a:pt x="263" y="43"/>
                </a:lnTo>
                <a:lnTo>
                  <a:pt x="247" y="45"/>
                </a:lnTo>
                <a:lnTo>
                  <a:pt x="230" y="48"/>
                </a:lnTo>
                <a:lnTo>
                  <a:pt x="214" y="50"/>
                </a:lnTo>
                <a:lnTo>
                  <a:pt x="198" y="53"/>
                </a:lnTo>
                <a:lnTo>
                  <a:pt x="181" y="55"/>
                </a:lnTo>
                <a:lnTo>
                  <a:pt x="165" y="57"/>
                </a:lnTo>
                <a:lnTo>
                  <a:pt x="148" y="60"/>
                </a:lnTo>
                <a:lnTo>
                  <a:pt x="132" y="62"/>
                </a:lnTo>
                <a:lnTo>
                  <a:pt x="115" y="64"/>
                </a:lnTo>
                <a:lnTo>
                  <a:pt x="99" y="66"/>
                </a:lnTo>
                <a:lnTo>
                  <a:pt x="82" y="69"/>
                </a:lnTo>
                <a:lnTo>
                  <a:pt x="66" y="71"/>
                </a:lnTo>
                <a:lnTo>
                  <a:pt x="49" y="73"/>
                </a:lnTo>
                <a:lnTo>
                  <a:pt x="33" y="75"/>
                </a:lnTo>
                <a:lnTo>
                  <a:pt x="16" y="77"/>
                </a:lnTo>
                <a:lnTo>
                  <a:pt x="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Freeform 9"/>
          <p:cNvSpPr/>
          <p:nvPr/>
        </p:nvSpPr>
        <p:spPr>
          <a:xfrm>
            <a:off x="4422953" y="5523890"/>
            <a:ext cx="475488" cy="72238"/>
          </a:xfrm>
          <a:custGeom>
            <a:avLst/>
            <a:gdLst/>
            <a:ahLst/>
            <a:cxnLst/>
            <a:rect l="l" t="t" r="r" b="b"/>
            <a:pathLst>
              <a:path w="520" h="79">
                <a:moveTo>
                  <a:pt x="520" y="79"/>
                </a:moveTo>
                <a:lnTo>
                  <a:pt x="504" y="77"/>
                </a:lnTo>
                <a:lnTo>
                  <a:pt x="487" y="75"/>
                </a:lnTo>
                <a:lnTo>
                  <a:pt x="471" y="73"/>
                </a:lnTo>
                <a:lnTo>
                  <a:pt x="454" y="71"/>
                </a:lnTo>
                <a:lnTo>
                  <a:pt x="438" y="69"/>
                </a:lnTo>
                <a:lnTo>
                  <a:pt x="421" y="66"/>
                </a:lnTo>
                <a:lnTo>
                  <a:pt x="405" y="64"/>
                </a:lnTo>
                <a:lnTo>
                  <a:pt x="388" y="62"/>
                </a:lnTo>
                <a:lnTo>
                  <a:pt x="372" y="60"/>
                </a:lnTo>
                <a:lnTo>
                  <a:pt x="355" y="57"/>
                </a:lnTo>
                <a:lnTo>
                  <a:pt x="339" y="55"/>
                </a:lnTo>
                <a:lnTo>
                  <a:pt x="322" y="53"/>
                </a:lnTo>
                <a:lnTo>
                  <a:pt x="306" y="50"/>
                </a:lnTo>
                <a:lnTo>
                  <a:pt x="290" y="48"/>
                </a:lnTo>
                <a:lnTo>
                  <a:pt x="273" y="45"/>
                </a:lnTo>
                <a:lnTo>
                  <a:pt x="257" y="43"/>
                </a:lnTo>
                <a:lnTo>
                  <a:pt x="241" y="40"/>
                </a:lnTo>
                <a:lnTo>
                  <a:pt x="225" y="38"/>
                </a:lnTo>
                <a:lnTo>
                  <a:pt x="208" y="35"/>
                </a:lnTo>
                <a:lnTo>
                  <a:pt x="192" y="33"/>
                </a:lnTo>
                <a:lnTo>
                  <a:pt x="176" y="30"/>
                </a:lnTo>
                <a:lnTo>
                  <a:pt x="160" y="27"/>
                </a:lnTo>
                <a:lnTo>
                  <a:pt x="144" y="25"/>
                </a:lnTo>
                <a:lnTo>
                  <a:pt x="128" y="22"/>
                </a:lnTo>
                <a:lnTo>
                  <a:pt x="112" y="19"/>
                </a:lnTo>
                <a:lnTo>
                  <a:pt x="96" y="17"/>
                </a:lnTo>
                <a:lnTo>
                  <a:pt x="80" y="14"/>
                </a:lnTo>
                <a:lnTo>
                  <a:pt x="64" y="11"/>
                </a:lnTo>
                <a:lnTo>
                  <a:pt x="48" y="8"/>
                </a:lnTo>
                <a:lnTo>
                  <a:pt x="32" y="5"/>
                </a:lnTo>
                <a:lnTo>
                  <a:pt x="16" y="2"/>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Freeform 10"/>
          <p:cNvSpPr/>
          <p:nvPr/>
        </p:nvSpPr>
        <p:spPr>
          <a:xfrm>
            <a:off x="2158898" y="4420210"/>
            <a:ext cx="351130" cy="373075"/>
          </a:xfrm>
          <a:custGeom>
            <a:avLst/>
            <a:gdLst/>
            <a:ahLst/>
            <a:cxnLst/>
            <a:rect l="l" t="t" r="r" b="b"/>
            <a:pathLst>
              <a:path w="384" h="408">
                <a:moveTo>
                  <a:pt x="384" y="408"/>
                </a:moveTo>
                <a:lnTo>
                  <a:pt x="376" y="402"/>
                </a:lnTo>
                <a:lnTo>
                  <a:pt x="368" y="396"/>
                </a:lnTo>
                <a:lnTo>
                  <a:pt x="360" y="389"/>
                </a:lnTo>
                <a:lnTo>
                  <a:pt x="352" y="383"/>
                </a:lnTo>
                <a:lnTo>
                  <a:pt x="344" y="377"/>
                </a:lnTo>
                <a:lnTo>
                  <a:pt x="336" y="371"/>
                </a:lnTo>
                <a:lnTo>
                  <a:pt x="328" y="364"/>
                </a:lnTo>
                <a:lnTo>
                  <a:pt x="321" y="358"/>
                </a:lnTo>
                <a:lnTo>
                  <a:pt x="313" y="352"/>
                </a:lnTo>
                <a:lnTo>
                  <a:pt x="306" y="345"/>
                </a:lnTo>
                <a:lnTo>
                  <a:pt x="298" y="339"/>
                </a:lnTo>
                <a:lnTo>
                  <a:pt x="291" y="332"/>
                </a:lnTo>
                <a:lnTo>
                  <a:pt x="283" y="326"/>
                </a:lnTo>
                <a:lnTo>
                  <a:pt x="276" y="320"/>
                </a:lnTo>
                <a:lnTo>
                  <a:pt x="269" y="313"/>
                </a:lnTo>
                <a:lnTo>
                  <a:pt x="261" y="307"/>
                </a:lnTo>
                <a:lnTo>
                  <a:pt x="254" y="300"/>
                </a:lnTo>
                <a:lnTo>
                  <a:pt x="247" y="294"/>
                </a:lnTo>
                <a:lnTo>
                  <a:pt x="240" y="287"/>
                </a:lnTo>
                <a:lnTo>
                  <a:pt x="233" y="281"/>
                </a:lnTo>
                <a:lnTo>
                  <a:pt x="226" y="274"/>
                </a:lnTo>
                <a:lnTo>
                  <a:pt x="220" y="268"/>
                </a:lnTo>
                <a:lnTo>
                  <a:pt x="213" y="261"/>
                </a:lnTo>
                <a:lnTo>
                  <a:pt x="206" y="255"/>
                </a:lnTo>
                <a:lnTo>
                  <a:pt x="200" y="248"/>
                </a:lnTo>
                <a:lnTo>
                  <a:pt x="193" y="242"/>
                </a:lnTo>
                <a:lnTo>
                  <a:pt x="187" y="235"/>
                </a:lnTo>
                <a:lnTo>
                  <a:pt x="180" y="229"/>
                </a:lnTo>
                <a:lnTo>
                  <a:pt x="174" y="222"/>
                </a:lnTo>
                <a:lnTo>
                  <a:pt x="167" y="215"/>
                </a:lnTo>
                <a:lnTo>
                  <a:pt x="161" y="209"/>
                </a:lnTo>
                <a:lnTo>
                  <a:pt x="155" y="202"/>
                </a:lnTo>
                <a:lnTo>
                  <a:pt x="149" y="196"/>
                </a:lnTo>
                <a:lnTo>
                  <a:pt x="143" y="189"/>
                </a:lnTo>
                <a:lnTo>
                  <a:pt x="137" y="182"/>
                </a:lnTo>
                <a:lnTo>
                  <a:pt x="131" y="176"/>
                </a:lnTo>
                <a:lnTo>
                  <a:pt x="125" y="169"/>
                </a:lnTo>
                <a:lnTo>
                  <a:pt x="119" y="162"/>
                </a:lnTo>
                <a:lnTo>
                  <a:pt x="114" y="156"/>
                </a:lnTo>
                <a:lnTo>
                  <a:pt x="108" y="149"/>
                </a:lnTo>
                <a:lnTo>
                  <a:pt x="102" y="142"/>
                </a:lnTo>
                <a:lnTo>
                  <a:pt x="97" y="136"/>
                </a:lnTo>
                <a:lnTo>
                  <a:pt x="91" y="129"/>
                </a:lnTo>
                <a:lnTo>
                  <a:pt x="86" y="122"/>
                </a:lnTo>
                <a:lnTo>
                  <a:pt x="80" y="116"/>
                </a:lnTo>
                <a:lnTo>
                  <a:pt x="75" y="109"/>
                </a:lnTo>
                <a:lnTo>
                  <a:pt x="70" y="102"/>
                </a:lnTo>
                <a:lnTo>
                  <a:pt x="65" y="95"/>
                </a:lnTo>
                <a:lnTo>
                  <a:pt x="60" y="89"/>
                </a:lnTo>
                <a:lnTo>
                  <a:pt x="55" y="82"/>
                </a:lnTo>
                <a:lnTo>
                  <a:pt x="50" y="75"/>
                </a:lnTo>
                <a:lnTo>
                  <a:pt x="45" y="68"/>
                </a:lnTo>
                <a:lnTo>
                  <a:pt x="40" y="61"/>
                </a:lnTo>
                <a:lnTo>
                  <a:pt x="35" y="55"/>
                </a:lnTo>
                <a:lnTo>
                  <a:pt x="31" y="48"/>
                </a:lnTo>
                <a:lnTo>
                  <a:pt x="26" y="41"/>
                </a:lnTo>
                <a:lnTo>
                  <a:pt x="21" y="34"/>
                </a:lnTo>
                <a:lnTo>
                  <a:pt x="17" y="27"/>
                </a:lnTo>
                <a:lnTo>
                  <a:pt x="13" y="20"/>
                </a:lnTo>
                <a:lnTo>
                  <a:pt x="8" y="14"/>
                </a:lnTo>
                <a:lnTo>
                  <a:pt x="4" y="7"/>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Freeform 11"/>
          <p:cNvSpPr/>
          <p:nvPr/>
        </p:nvSpPr>
        <p:spPr>
          <a:xfrm>
            <a:off x="2158898" y="3253435"/>
            <a:ext cx="351130" cy="373075"/>
          </a:xfrm>
          <a:custGeom>
            <a:avLst/>
            <a:gdLst/>
            <a:ahLst/>
            <a:cxnLst/>
            <a:rect l="l" t="t" r="r" b="b"/>
            <a:pathLst>
              <a:path w="384" h="408">
                <a:moveTo>
                  <a:pt x="0" y="408"/>
                </a:moveTo>
                <a:lnTo>
                  <a:pt x="4" y="401"/>
                </a:lnTo>
                <a:lnTo>
                  <a:pt x="8" y="394"/>
                </a:lnTo>
                <a:lnTo>
                  <a:pt x="13" y="388"/>
                </a:lnTo>
                <a:lnTo>
                  <a:pt x="17" y="381"/>
                </a:lnTo>
                <a:lnTo>
                  <a:pt x="21" y="374"/>
                </a:lnTo>
                <a:lnTo>
                  <a:pt x="26" y="367"/>
                </a:lnTo>
                <a:lnTo>
                  <a:pt x="31" y="360"/>
                </a:lnTo>
                <a:lnTo>
                  <a:pt x="35" y="353"/>
                </a:lnTo>
                <a:lnTo>
                  <a:pt x="40" y="347"/>
                </a:lnTo>
                <a:lnTo>
                  <a:pt x="45" y="340"/>
                </a:lnTo>
                <a:lnTo>
                  <a:pt x="50" y="333"/>
                </a:lnTo>
                <a:lnTo>
                  <a:pt x="55" y="326"/>
                </a:lnTo>
                <a:lnTo>
                  <a:pt x="60" y="319"/>
                </a:lnTo>
                <a:lnTo>
                  <a:pt x="65" y="313"/>
                </a:lnTo>
                <a:lnTo>
                  <a:pt x="70" y="306"/>
                </a:lnTo>
                <a:lnTo>
                  <a:pt x="75" y="299"/>
                </a:lnTo>
                <a:lnTo>
                  <a:pt x="80" y="292"/>
                </a:lnTo>
                <a:lnTo>
                  <a:pt x="86" y="286"/>
                </a:lnTo>
                <a:lnTo>
                  <a:pt x="91" y="279"/>
                </a:lnTo>
                <a:lnTo>
                  <a:pt x="97" y="272"/>
                </a:lnTo>
                <a:lnTo>
                  <a:pt x="102" y="266"/>
                </a:lnTo>
                <a:lnTo>
                  <a:pt x="108" y="259"/>
                </a:lnTo>
                <a:lnTo>
                  <a:pt x="114" y="252"/>
                </a:lnTo>
                <a:lnTo>
                  <a:pt x="119" y="246"/>
                </a:lnTo>
                <a:lnTo>
                  <a:pt x="125" y="239"/>
                </a:lnTo>
                <a:lnTo>
                  <a:pt x="131" y="232"/>
                </a:lnTo>
                <a:lnTo>
                  <a:pt x="137" y="226"/>
                </a:lnTo>
                <a:lnTo>
                  <a:pt x="143" y="219"/>
                </a:lnTo>
                <a:lnTo>
                  <a:pt x="149" y="212"/>
                </a:lnTo>
                <a:lnTo>
                  <a:pt x="155" y="206"/>
                </a:lnTo>
                <a:lnTo>
                  <a:pt x="161" y="199"/>
                </a:lnTo>
                <a:lnTo>
                  <a:pt x="167" y="193"/>
                </a:lnTo>
                <a:lnTo>
                  <a:pt x="174" y="186"/>
                </a:lnTo>
                <a:lnTo>
                  <a:pt x="180" y="179"/>
                </a:lnTo>
                <a:lnTo>
                  <a:pt x="187" y="173"/>
                </a:lnTo>
                <a:lnTo>
                  <a:pt x="193" y="166"/>
                </a:lnTo>
                <a:lnTo>
                  <a:pt x="200" y="160"/>
                </a:lnTo>
                <a:lnTo>
                  <a:pt x="206" y="153"/>
                </a:lnTo>
                <a:lnTo>
                  <a:pt x="213" y="147"/>
                </a:lnTo>
                <a:lnTo>
                  <a:pt x="220" y="140"/>
                </a:lnTo>
                <a:lnTo>
                  <a:pt x="226" y="134"/>
                </a:lnTo>
                <a:lnTo>
                  <a:pt x="233" y="127"/>
                </a:lnTo>
                <a:lnTo>
                  <a:pt x="240" y="121"/>
                </a:lnTo>
                <a:lnTo>
                  <a:pt x="247" y="114"/>
                </a:lnTo>
                <a:lnTo>
                  <a:pt x="254" y="108"/>
                </a:lnTo>
                <a:lnTo>
                  <a:pt x="261" y="101"/>
                </a:lnTo>
                <a:lnTo>
                  <a:pt x="269" y="95"/>
                </a:lnTo>
                <a:lnTo>
                  <a:pt x="276" y="88"/>
                </a:lnTo>
                <a:lnTo>
                  <a:pt x="283" y="82"/>
                </a:lnTo>
                <a:lnTo>
                  <a:pt x="291" y="76"/>
                </a:lnTo>
                <a:lnTo>
                  <a:pt x="298" y="69"/>
                </a:lnTo>
                <a:lnTo>
                  <a:pt x="306" y="63"/>
                </a:lnTo>
                <a:lnTo>
                  <a:pt x="313" y="56"/>
                </a:lnTo>
                <a:lnTo>
                  <a:pt x="321" y="50"/>
                </a:lnTo>
                <a:lnTo>
                  <a:pt x="328" y="44"/>
                </a:lnTo>
                <a:lnTo>
                  <a:pt x="336" y="37"/>
                </a:lnTo>
                <a:lnTo>
                  <a:pt x="344" y="31"/>
                </a:lnTo>
                <a:lnTo>
                  <a:pt x="352" y="25"/>
                </a:lnTo>
                <a:lnTo>
                  <a:pt x="360" y="19"/>
                </a:lnTo>
                <a:lnTo>
                  <a:pt x="368" y="12"/>
                </a:lnTo>
                <a:lnTo>
                  <a:pt x="376" y="6"/>
                </a:lnTo>
                <a:lnTo>
                  <a:pt x="384"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reeform 12"/>
          <p:cNvSpPr/>
          <p:nvPr/>
        </p:nvSpPr>
        <p:spPr>
          <a:xfrm>
            <a:off x="4422953" y="2450592"/>
            <a:ext cx="475488" cy="72238"/>
          </a:xfrm>
          <a:custGeom>
            <a:avLst/>
            <a:gdLst/>
            <a:ahLst/>
            <a:cxnLst/>
            <a:rect l="l" t="t" r="r" b="b"/>
            <a:pathLst>
              <a:path w="520" h="79">
                <a:moveTo>
                  <a:pt x="0" y="79"/>
                </a:moveTo>
                <a:lnTo>
                  <a:pt x="16" y="77"/>
                </a:lnTo>
                <a:lnTo>
                  <a:pt x="32" y="74"/>
                </a:lnTo>
                <a:lnTo>
                  <a:pt x="48" y="71"/>
                </a:lnTo>
                <a:lnTo>
                  <a:pt x="64" y="68"/>
                </a:lnTo>
                <a:lnTo>
                  <a:pt x="80" y="65"/>
                </a:lnTo>
                <a:lnTo>
                  <a:pt x="96" y="62"/>
                </a:lnTo>
                <a:lnTo>
                  <a:pt x="112" y="60"/>
                </a:lnTo>
                <a:lnTo>
                  <a:pt x="128" y="57"/>
                </a:lnTo>
                <a:lnTo>
                  <a:pt x="144" y="54"/>
                </a:lnTo>
                <a:lnTo>
                  <a:pt x="160" y="52"/>
                </a:lnTo>
                <a:lnTo>
                  <a:pt x="176" y="49"/>
                </a:lnTo>
                <a:lnTo>
                  <a:pt x="192" y="46"/>
                </a:lnTo>
                <a:lnTo>
                  <a:pt x="208" y="44"/>
                </a:lnTo>
                <a:lnTo>
                  <a:pt x="225" y="41"/>
                </a:lnTo>
                <a:lnTo>
                  <a:pt x="241" y="39"/>
                </a:lnTo>
                <a:lnTo>
                  <a:pt x="257" y="36"/>
                </a:lnTo>
                <a:lnTo>
                  <a:pt x="273" y="34"/>
                </a:lnTo>
                <a:lnTo>
                  <a:pt x="290" y="31"/>
                </a:lnTo>
                <a:lnTo>
                  <a:pt x="306" y="29"/>
                </a:lnTo>
                <a:lnTo>
                  <a:pt x="322" y="26"/>
                </a:lnTo>
                <a:lnTo>
                  <a:pt x="339" y="24"/>
                </a:lnTo>
                <a:lnTo>
                  <a:pt x="355" y="22"/>
                </a:lnTo>
                <a:lnTo>
                  <a:pt x="372" y="19"/>
                </a:lnTo>
                <a:lnTo>
                  <a:pt x="388" y="17"/>
                </a:lnTo>
                <a:lnTo>
                  <a:pt x="405" y="15"/>
                </a:lnTo>
                <a:lnTo>
                  <a:pt x="421" y="13"/>
                </a:lnTo>
                <a:lnTo>
                  <a:pt x="438" y="10"/>
                </a:lnTo>
                <a:lnTo>
                  <a:pt x="454" y="8"/>
                </a:lnTo>
                <a:lnTo>
                  <a:pt x="471" y="6"/>
                </a:lnTo>
                <a:lnTo>
                  <a:pt x="487" y="4"/>
                </a:lnTo>
                <a:lnTo>
                  <a:pt x="504" y="2"/>
                </a:lnTo>
                <a:lnTo>
                  <a:pt x="520" y="0"/>
                </a:lnTo>
              </a:path>
            </a:pathLst>
          </a:custGeom>
          <a:noFill/>
          <a:ln w="31750">
            <a:solidFill>
              <a:srgbClr val="F97316"/>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ifecycle: Request"/>
          <p:cNvSpPr/>
          <p:nvPr/>
        </p:nvSpPr>
        <p:spPr>
          <a:xfrm>
            <a:off x="4946904" y="202996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66507" y="2206264"/>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5134904" y="2447665"/>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134904" y="2447665"/>
            <a:ext cx="84491"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136916"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225430"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313944"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Request"/>
          <p:cNvSpPr txBox="1"/>
          <p:nvPr/>
        </p:nvSpPr>
        <p:spPr>
          <a:xfrm>
            <a:off x="5504688" y="210312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Request</a:t>
            </a:r>
          </a:p>
        </p:txBody>
      </p:sp>
      <p:sp>
        <p:nvSpPr>
          <p:cNvPr id="22" name="Lifecycle: Requirements"/>
          <p:cNvSpPr/>
          <p:nvPr/>
        </p:nvSpPr>
        <p:spPr>
          <a:xfrm>
            <a:off x="7811246"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979130" y="2668226"/>
            <a:ext cx="249448" cy="34600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8027410" y="2776857"/>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027410" y="2841230"/>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027410" y="2909627"/>
            <a:ext cx="104608"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7" name="Text: Requirements"/>
          <p:cNvSpPr txBox="1"/>
          <p:nvPr/>
        </p:nvSpPr>
        <p:spPr>
          <a:xfrm>
            <a:off x="8369030"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Requirements</a:t>
            </a:r>
          </a:p>
        </p:txBody>
      </p:sp>
      <p:sp>
        <p:nvSpPr>
          <p:cNvPr id="28" name="Lifecycle: Model"/>
          <p:cNvSpPr/>
          <p:nvPr/>
        </p:nvSpPr>
        <p:spPr>
          <a:xfrm>
            <a:off x="8997696"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
          <p:cNvSpPr txBox="1"/>
          <p:nvPr/>
        </p:nvSpPr>
        <p:spPr>
          <a:xfrm>
            <a:off x="9089136" y="3803904"/>
            <a:ext cx="402336" cy="402336"/>
          </a:xfrm>
          <a:prstGeom prst="rect">
            <a:avLst/>
          </a:prstGeom>
          <a:noFill/>
        </p:spPr>
        <p:txBody>
          <a:bodyPr wrap="square" lIns="0" tIns="0" rIns="0" bIns="0" anchor="ctr">
            <a:noAutofit/>
          </a:bodyPr>
          <a:lstStyle/>
          <a:p>
            <a:pPr algn="ctr">
              <a:lnSpc>
                <a:spcPct val="106000"/>
              </a:lnSpc>
              <a:spcBef>
                <a:spcPts val="0"/>
              </a:spcBef>
              <a:spcAft>
                <a:spcPts val="0"/>
              </a:spcAft>
            </a:pPr>
            <a:r>
              <a:rPr sz="2023" b="0">
                <a:solidFill>
                  <a:srgbClr val="0F2343"/>
                </a:solidFill>
                <a:latin typeface="Cambria Math"/>
              </a:rPr>
              <a:t>∑</a:t>
            </a:r>
          </a:p>
        </p:txBody>
      </p:sp>
      <p:sp>
        <p:nvSpPr>
          <p:cNvPr id="30" name="Text: Model"/>
          <p:cNvSpPr txBox="1"/>
          <p:nvPr/>
        </p:nvSpPr>
        <p:spPr>
          <a:xfrm>
            <a:off x="9555480"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Model</a:t>
            </a:r>
          </a:p>
        </p:txBody>
      </p:sp>
      <p:sp>
        <p:nvSpPr>
          <p:cNvPr id="31" name="Lifecycle: Design &amp; code"/>
          <p:cNvSpPr/>
          <p:nvPr/>
        </p:nvSpPr>
        <p:spPr>
          <a:xfrm>
            <a:off x="7811246"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2" name="Connector 31"/>
          <p:cNvCxnSpPr/>
          <p:nvPr/>
        </p:nvCxnSpPr>
        <p:spPr>
          <a:xfrm flipH="1">
            <a:off x="7942920"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42920"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184321"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8184321"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8071667" y="5028095"/>
            <a:ext cx="68397" cy="281635"/>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7" name="Text: Design &amp; code"/>
          <p:cNvSpPr txBox="1"/>
          <p:nvPr/>
        </p:nvSpPr>
        <p:spPr>
          <a:xfrm>
            <a:off x="8369030"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Design &amp; code</a:t>
            </a:r>
          </a:p>
        </p:txBody>
      </p:sp>
      <p:sp>
        <p:nvSpPr>
          <p:cNvPr id="38" name="Lifecycle: Tests"/>
          <p:cNvSpPr/>
          <p:nvPr/>
        </p:nvSpPr>
        <p:spPr>
          <a:xfrm>
            <a:off x="4946904" y="532180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090647" y="5490057"/>
            <a:ext cx="297728" cy="32186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0" name="Connector 39"/>
          <p:cNvCxnSpPr/>
          <p:nvPr/>
        </p:nvCxnSpPr>
        <p:spPr>
          <a:xfrm>
            <a:off x="5150998" y="5646968"/>
            <a:ext cx="64373" cy="6437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215371" y="5570524"/>
            <a:ext cx="116678" cy="140818"/>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2" name="Text: Tests"/>
          <p:cNvSpPr txBox="1"/>
          <p:nvPr/>
        </p:nvSpPr>
        <p:spPr>
          <a:xfrm>
            <a:off x="5504688" y="539496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Tests</a:t>
            </a:r>
          </a:p>
        </p:txBody>
      </p:sp>
      <p:sp>
        <p:nvSpPr>
          <p:cNvPr id="43" name="Lifecycle: Deploy"/>
          <p:cNvSpPr/>
          <p:nvPr/>
        </p:nvSpPr>
        <p:spPr>
          <a:xfrm>
            <a:off x="2082561"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2226305" y="5168913"/>
            <a:ext cx="297728" cy="16093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5" name="Connector 44"/>
          <p:cNvCxnSpPr/>
          <p:nvPr/>
        </p:nvCxnSpPr>
        <p:spPr>
          <a:xfrm>
            <a:off x="2375169" y="5007978"/>
            <a:ext cx="0" cy="217262"/>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286655"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375169"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8" name="Text: Deploy"/>
          <p:cNvSpPr txBox="1"/>
          <p:nvPr/>
        </p:nvSpPr>
        <p:spPr>
          <a:xfrm>
            <a:off x="2640345"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Deploy</a:t>
            </a:r>
          </a:p>
        </p:txBody>
      </p:sp>
      <p:sp>
        <p:nvSpPr>
          <p:cNvPr id="49" name="Lifecycle: Use"/>
          <p:cNvSpPr/>
          <p:nvPr/>
        </p:nvSpPr>
        <p:spPr>
          <a:xfrm>
            <a:off x="896112"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124346" y="3824020"/>
            <a:ext cx="128747" cy="128747"/>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084112" y="3988978"/>
            <a:ext cx="209214" cy="197144"/>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 Use"/>
          <p:cNvSpPr txBox="1"/>
          <p:nvPr/>
        </p:nvSpPr>
        <p:spPr>
          <a:xfrm>
            <a:off x="1453896"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Use</a:t>
            </a:r>
          </a:p>
        </p:txBody>
      </p:sp>
      <p:sp>
        <p:nvSpPr>
          <p:cNvPr id="53" name="Lifecycle: Feedback"/>
          <p:cNvSpPr/>
          <p:nvPr/>
        </p:nvSpPr>
        <p:spPr>
          <a:xfrm>
            <a:off x="2082561"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2202165" y="2688343"/>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5" name="Connector 54"/>
          <p:cNvCxnSpPr/>
          <p:nvPr/>
        </p:nvCxnSpPr>
        <p:spPr>
          <a:xfrm>
            <a:off x="2270562" y="2929744"/>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2270562" y="2929744"/>
            <a:ext cx="8449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2272573"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361087"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449601"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 Feedback"/>
          <p:cNvSpPr txBox="1"/>
          <p:nvPr/>
        </p:nvSpPr>
        <p:spPr>
          <a:xfrm>
            <a:off x="2640345"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Feedback</a:t>
            </a:r>
          </a:p>
        </p:txBody>
      </p:sp>
      <p:sp>
        <p:nvSpPr>
          <p:cNvPr id="61" name="Text: Validation"/>
          <p:cNvSpPr txBox="1"/>
          <p:nvPr/>
        </p:nvSpPr>
        <p:spPr>
          <a:xfrm>
            <a:off x="7955279" y="1901952"/>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Validation</a:t>
            </a:r>
          </a:p>
        </p:txBody>
      </p:sp>
      <p:sp>
        <p:nvSpPr>
          <p:cNvPr id="62" name="Text: Verification"/>
          <p:cNvSpPr txBox="1"/>
          <p:nvPr/>
        </p:nvSpPr>
        <p:spPr>
          <a:xfrm>
            <a:off x="7955279" y="5806440"/>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Verification</a:t>
            </a:r>
          </a:p>
        </p:txBody>
      </p:sp>
      <p:cxnSp>
        <p:nvCxnSpPr>
          <p:cNvPr id="63" name="Connector 62"/>
          <p:cNvCxnSpPr/>
          <p:nvPr/>
        </p:nvCxnSpPr>
        <p:spPr>
          <a:xfrm>
            <a:off x="7772400" y="2295144"/>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772400"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262872"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772400" y="5669280"/>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772400"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262872"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69" name="Slide Number Placeholder 68">
            <a:extLst>
              <a:ext uri="{FF2B5EF4-FFF2-40B4-BE49-F238E27FC236}">
                <a16:creationId xmlns:a16="http://schemas.microsoft.com/office/drawing/2014/main" id="{DF2130AD-D3E8-928D-0456-089424FA114E}"/>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Design </a:t>
            </a:r>
            <a:r>
              <a:rPr lang="en-US" sz="4000" b="1" dirty="0">
                <a:solidFill>
                  <a:srgbClr val="0F2343"/>
                </a:solidFill>
                <a:latin typeface="Aptos Display"/>
              </a:rPr>
              <a:t>helps to modularize your code</a:t>
            </a:r>
            <a:endParaRPr sz="4000" b="1" dirty="0">
              <a:solidFill>
                <a:srgbClr val="0F2343"/>
              </a:solidFill>
              <a:latin typeface="Aptos Display"/>
            </a:endParaRPr>
          </a:p>
        </p:txBody>
      </p:sp>
      <p:sp>
        <p:nvSpPr>
          <p:cNvPr id="3" name="Rectangle 2"/>
          <p:cNvSpPr/>
          <p:nvPr/>
        </p:nvSpPr>
        <p:spPr>
          <a:xfrm>
            <a:off x="530352" y="1754571"/>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1453895" y="2761488"/>
            <a:ext cx="2075689" cy="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453895" y="2761488"/>
            <a:ext cx="3520441"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53895" y="2761488"/>
            <a:ext cx="2075689"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453895" y="2761488"/>
            <a:ext cx="0"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088136" y="2761488"/>
            <a:ext cx="365759"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29584" y="2761488"/>
            <a:ext cx="1444752"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529584" y="2761488"/>
            <a:ext cx="0"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453895" y="2761488"/>
            <a:ext cx="2075689"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088136" y="2761488"/>
            <a:ext cx="2441448"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529584" y="3858768"/>
            <a:ext cx="1444752"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453895" y="3858768"/>
            <a:ext cx="3520441"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1088136" y="3858768"/>
            <a:ext cx="3886200" cy="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453895" y="5029200"/>
            <a:ext cx="2075689" cy="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1088136" y="3858768"/>
            <a:ext cx="2441448"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1088136" y="3858768"/>
            <a:ext cx="365759"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059168" y="2880360"/>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695944" y="2880360"/>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059168" y="2880360"/>
            <a:ext cx="0" cy="1682496"/>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5944" y="2880360"/>
            <a:ext cx="0" cy="1682496"/>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332720" y="2880360"/>
            <a:ext cx="0" cy="1682496"/>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059168" y="4562856"/>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695944" y="4562856"/>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78992" y="2487168"/>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A"/>
          <p:cNvSpPr txBox="1"/>
          <p:nvPr/>
        </p:nvSpPr>
        <p:spPr>
          <a:xfrm>
            <a:off x="1078992" y="253288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A</a:t>
            </a:r>
          </a:p>
        </p:txBody>
      </p:sp>
      <p:sp>
        <p:nvSpPr>
          <p:cNvPr id="30" name="Rounded Rectangle 29"/>
          <p:cNvSpPr/>
          <p:nvPr/>
        </p:nvSpPr>
        <p:spPr>
          <a:xfrm>
            <a:off x="3154680" y="2487168"/>
            <a:ext cx="749808" cy="548640"/>
          </a:xfrm>
          <a:prstGeom prst="roundRect">
            <a:avLst>
              <a:gd name="adj" fmla="val 12000"/>
            </a:avLst>
          </a:prstGeom>
          <a:solidFill>
            <a:srgbClr val="F97316"/>
          </a:solidFill>
          <a:ln w="2159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B"/>
          <p:cNvSpPr txBox="1"/>
          <p:nvPr/>
        </p:nvSpPr>
        <p:spPr>
          <a:xfrm>
            <a:off x="3154680" y="253288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FFFFFF"/>
                </a:solidFill>
                <a:latin typeface="Aptos"/>
              </a:rPr>
              <a:t>B</a:t>
            </a:r>
          </a:p>
        </p:txBody>
      </p:sp>
      <p:sp>
        <p:nvSpPr>
          <p:cNvPr id="32" name="Rounded Rectangle 31"/>
          <p:cNvSpPr/>
          <p:nvPr/>
        </p:nvSpPr>
        <p:spPr>
          <a:xfrm>
            <a:off x="4599432" y="3584448"/>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C"/>
          <p:cNvSpPr txBox="1"/>
          <p:nvPr/>
        </p:nvSpPr>
        <p:spPr>
          <a:xfrm>
            <a:off x="4599432" y="363016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a:t>
            </a:r>
          </a:p>
        </p:txBody>
      </p:sp>
      <p:sp>
        <p:nvSpPr>
          <p:cNvPr id="34" name="Rounded Rectangle 33"/>
          <p:cNvSpPr/>
          <p:nvPr/>
        </p:nvSpPr>
        <p:spPr>
          <a:xfrm>
            <a:off x="3154680" y="475488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D"/>
          <p:cNvSpPr txBox="1"/>
          <p:nvPr/>
        </p:nvSpPr>
        <p:spPr>
          <a:xfrm>
            <a:off x="3154680" y="480060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D</a:t>
            </a:r>
          </a:p>
        </p:txBody>
      </p:sp>
      <p:sp>
        <p:nvSpPr>
          <p:cNvPr id="36" name="Rounded Rectangle 35"/>
          <p:cNvSpPr/>
          <p:nvPr/>
        </p:nvSpPr>
        <p:spPr>
          <a:xfrm>
            <a:off x="1078992" y="475488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E"/>
          <p:cNvSpPr txBox="1"/>
          <p:nvPr/>
        </p:nvSpPr>
        <p:spPr>
          <a:xfrm>
            <a:off x="1078992" y="480060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E</a:t>
            </a:r>
          </a:p>
        </p:txBody>
      </p:sp>
      <p:sp>
        <p:nvSpPr>
          <p:cNvPr id="38" name="Rounded Rectangle 37"/>
          <p:cNvSpPr/>
          <p:nvPr/>
        </p:nvSpPr>
        <p:spPr>
          <a:xfrm>
            <a:off x="713232" y="3584448"/>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F"/>
          <p:cNvSpPr txBox="1"/>
          <p:nvPr/>
        </p:nvSpPr>
        <p:spPr>
          <a:xfrm>
            <a:off x="713232" y="363016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F</a:t>
            </a:r>
          </a:p>
        </p:txBody>
      </p:sp>
      <p:sp>
        <p:nvSpPr>
          <p:cNvPr id="40" name="Rounded Rectangle 39"/>
          <p:cNvSpPr/>
          <p:nvPr/>
        </p:nvSpPr>
        <p:spPr>
          <a:xfrm>
            <a:off x="6684264" y="260604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 A"/>
          <p:cNvSpPr txBox="1"/>
          <p:nvPr/>
        </p:nvSpPr>
        <p:spPr>
          <a:xfrm>
            <a:off x="6684264" y="265176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A</a:t>
            </a:r>
          </a:p>
        </p:txBody>
      </p:sp>
      <p:cxnSp>
        <p:nvCxnSpPr>
          <p:cNvPr id="42" name="Connector 41"/>
          <p:cNvCxnSpPr/>
          <p:nvPr/>
        </p:nvCxnSpPr>
        <p:spPr>
          <a:xfrm>
            <a:off x="7059168" y="3154680"/>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757416" y="3538728"/>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 ✓"/>
          <p:cNvSpPr txBox="1"/>
          <p:nvPr/>
        </p:nvSpPr>
        <p:spPr>
          <a:xfrm>
            <a:off x="6821424" y="3547872"/>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45" name="Rounded Rectangle 44"/>
          <p:cNvSpPr/>
          <p:nvPr/>
        </p:nvSpPr>
        <p:spPr>
          <a:xfrm>
            <a:off x="8321040" y="2606040"/>
            <a:ext cx="749808" cy="548640"/>
          </a:xfrm>
          <a:prstGeom prst="roundRect">
            <a:avLst>
              <a:gd name="adj" fmla="val 12000"/>
            </a:avLst>
          </a:prstGeom>
          <a:solidFill>
            <a:srgbClr val="F97316"/>
          </a:solidFill>
          <a:ln w="2159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 B"/>
          <p:cNvSpPr txBox="1"/>
          <p:nvPr/>
        </p:nvSpPr>
        <p:spPr>
          <a:xfrm>
            <a:off x="8321040" y="265176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FFFFFF"/>
                </a:solidFill>
                <a:latin typeface="Aptos"/>
              </a:rPr>
              <a:t>B</a:t>
            </a:r>
          </a:p>
        </p:txBody>
      </p:sp>
      <p:cxnSp>
        <p:nvCxnSpPr>
          <p:cNvPr id="47" name="Connector 46"/>
          <p:cNvCxnSpPr/>
          <p:nvPr/>
        </p:nvCxnSpPr>
        <p:spPr>
          <a:xfrm>
            <a:off x="8695944" y="3154680"/>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394192" y="3538728"/>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 ✓"/>
          <p:cNvSpPr txBox="1"/>
          <p:nvPr/>
        </p:nvSpPr>
        <p:spPr>
          <a:xfrm>
            <a:off x="8458200" y="3547872"/>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50" name="Rounded Rectangle 49"/>
          <p:cNvSpPr/>
          <p:nvPr/>
        </p:nvSpPr>
        <p:spPr>
          <a:xfrm>
            <a:off x="9957816" y="260604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 C"/>
          <p:cNvSpPr txBox="1"/>
          <p:nvPr/>
        </p:nvSpPr>
        <p:spPr>
          <a:xfrm>
            <a:off x="9957816" y="265176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a:t>
            </a:r>
          </a:p>
        </p:txBody>
      </p:sp>
      <p:cxnSp>
        <p:nvCxnSpPr>
          <p:cNvPr id="52" name="Connector 51"/>
          <p:cNvCxnSpPr/>
          <p:nvPr/>
        </p:nvCxnSpPr>
        <p:spPr>
          <a:xfrm>
            <a:off x="10332720" y="3154680"/>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10030968" y="3538728"/>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 ✓"/>
          <p:cNvSpPr txBox="1"/>
          <p:nvPr/>
        </p:nvSpPr>
        <p:spPr>
          <a:xfrm>
            <a:off x="10094976" y="3547872"/>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55" name="Rounded Rectangle 54"/>
          <p:cNvSpPr/>
          <p:nvPr/>
        </p:nvSpPr>
        <p:spPr>
          <a:xfrm>
            <a:off x="6684264" y="4288536"/>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 D"/>
          <p:cNvSpPr txBox="1"/>
          <p:nvPr/>
        </p:nvSpPr>
        <p:spPr>
          <a:xfrm>
            <a:off x="6684264" y="4334256"/>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D</a:t>
            </a:r>
          </a:p>
        </p:txBody>
      </p:sp>
      <p:cxnSp>
        <p:nvCxnSpPr>
          <p:cNvPr id="57" name="Connector 56"/>
          <p:cNvCxnSpPr/>
          <p:nvPr/>
        </p:nvCxnSpPr>
        <p:spPr>
          <a:xfrm>
            <a:off x="7059168" y="4837176"/>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6757416" y="5221224"/>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 ✓"/>
          <p:cNvSpPr txBox="1"/>
          <p:nvPr/>
        </p:nvSpPr>
        <p:spPr>
          <a:xfrm>
            <a:off x="6821424" y="5230368"/>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60" name="Rounded Rectangle 59"/>
          <p:cNvSpPr/>
          <p:nvPr/>
        </p:nvSpPr>
        <p:spPr>
          <a:xfrm>
            <a:off x="8321040" y="4288536"/>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 E"/>
          <p:cNvSpPr txBox="1"/>
          <p:nvPr/>
        </p:nvSpPr>
        <p:spPr>
          <a:xfrm>
            <a:off x="8321040" y="4334256"/>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E</a:t>
            </a:r>
          </a:p>
        </p:txBody>
      </p:sp>
      <p:cxnSp>
        <p:nvCxnSpPr>
          <p:cNvPr id="62" name="Connector 61"/>
          <p:cNvCxnSpPr/>
          <p:nvPr/>
        </p:nvCxnSpPr>
        <p:spPr>
          <a:xfrm>
            <a:off x="8695944" y="4837176"/>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8394192" y="5221224"/>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 ✓"/>
          <p:cNvSpPr txBox="1"/>
          <p:nvPr/>
        </p:nvSpPr>
        <p:spPr>
          <a:xfrm>
            <a:off x="8458200" y="5230368"/>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65" name="Rounded Rectangle 64"/>
          <p:cNvSpPr/>
          <p:nvPr/>
        </p:nvSpPr>
        <p:spPr>
          <a:xfrm>
            <a:off x="9957816" y="4288536"/>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 F"/>
          <p:cNvSpPr txBox="1"/>
          <p:nvPr/>
        </p:nvSpPr>
        <p:spPr>
          <a:xfrm>
            <a:off x="9957816" y="4334256"/>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F</a:t>
            </a:r>
          </a:p>
        </p:txBody>
      </p:sp>
      <p:cxnSp>
        <p:nvCxnSpPr>
          <p:cNvPr id="67" name="Connector 66"/>
          <p:cNvCxnSpPr/>
          <p:nvPr/>
        </p:nvCxnSpPr>
        <p:spPr>
          <a:xfrm>
            <a:off x="10332720" y="4837176"/>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10030968" y="5221224"/>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 ✓"/>
          <p:cNvSpPr txBox="1"/>
          <p:nvPr/>
        </p:nvSpPr>
        <p:spPr>
          <a:xfrm>
            <a:off x="10094976" y="5230368"/>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71" name="Text: Changes spread"/>
          <p:cNvSpPr txBox="1"/>
          <p:nvPr/>
        </p:nvSpPr>
        <p:spPr>
          <a:xfrm>
            <a:off x="649224" y="5833872"/>
            <a:ext cx="5148072" cy="438912"/>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Changes spread</a:t>
            </a:r>
          </a:p>
        </p:txBody>
      </p:sp>
      <p:sp>
        <p:nvSpPr>
          <p:cNvPr id="72" name="Text: Changes stay manageable"/>
          <p:cNvSpPr txBox="1"/>
          <p:nvPr/>
        </p:nvSpPr>
        <p:spPr>
          <a:xfrm>
            <a:off x="6263640" y="5833872"/>
            <a:ext cx="5212080" cy="438912"/>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Changes stay manageable</a:t>
            </a:r>
          </a:p>
        </p:txBody>
      </p:sp>
      <p:sp>
        <p:nvSpPr>
          <p:cNvPr id="73" name="Slide Number Placeholder 72">
            <a:extLst>
              <a:ext uri="{FF2B5EF4-FFF2-40B4-BE49-F238E27FC236}">
                <a16:creationId xmlns:a16="http://schemas.microsoft.com/office/drawing/2014/main" id="{7933BDDC-39BF-E63A-F9C0-3B5B2B34D052}"/>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a:solidFill>
                  <a:srgbClr val="0F2343"/>
                </a:solidFill>
                <a:latin typeface="Aptos Display"/>
              </a:rPr>
              <a:t>A DSS example design</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45778" y="2813791"/>
            <a:ext cx="544250" cy="75492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351117" y="3050804"/>
            <a:ext cx="3335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51117" y="3191256"/>
            <a:ext cx="3335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51117" y="3340486"/>
            <a:ext cx="228234"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11" name="Text: Read data"/>
          <p:cNvSpPr txBox="1"/>
          <p:nvPr/>
        </p:nvSpPr>
        <p:spPr>
          <a:xfrm>
            <a:off x="603503"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 data</a:t>
            </a:r>
          </a:p>
        </p:txBody>
      </p:sp>
      <p:cxnSp>
        <p:nvCxnSpPr>
          <p:cNvPr id="12" name="Connector 11"/>
          <p:cNvCxnSpPr/>
          <p:nvPr/>
        </p:nvCxnSpPr>
        <p:spPr>
          <a:xfrm>
            <a:off x="2560320" y="3547872"/>
            <a:ext cx="24688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72159"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946184"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709172" y="3296594"/>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a:off x="3612611"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086636"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2611" y="3200034"/>
            <a:ext cx="474025"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849624" y="3200034"/>
            <a:ext cx="0" cy="965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1" name="Text: Preprocess"/>
          <p:cNvSpPr txBox="1"/>
          <p:nvPr/>
        </p:nvSpPr>
        <p:spPr>
          <a:xfrm>
            <a:off x="2935224"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Preprocess</a:t>
            </a:r>
          </a:p>
        </p:txBody>
      </p:sp>
      <p:cxnSp>
        <p:nvCxnSpPr>
          <p:cNvPr id="22" name="Connector 21"/>
          <p:cNvCxnSpPr/>
          <p:nvPr/>
        </p:nvCxnSpPr>
        <p:spPr>
          <a:xfrm>
            <a:off x="4892040" y="3547872"/>
            <a:ext cx="24688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2079"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 ∑"/>
          <p:cNvSpPr txBox="1"/>
          <p:nvPr/>
        </p:nvSpPr>
        <p:spPr>
          <a:xfrm>
            <a:off x="5742431" y="2752344"/>
            <a:ext cx="877824" cy="877824"/>
          </a:xfrm>
          <a:prstGeom prst="rect">
            <a:avLst/>
          </a:prstGeom>
          <a:noFill/>
        </p:spPr>
        <p:txBody>
          <a:bodyPr wrap="square" lIns="0" tIns="0" rIns="0" bIns="0" anchor="ctr">
            <a:noAutofit/>
          </a:bodyPr>
          <a:lstStyle/>
          <a:p>
            <a:pPr algn="ctr">
              <a:lnSpc>
                <a:spcPct val="106000"/>
              </a:lnSpc>
              <a:spcBef>
                <a:spcPts val="0"/>
              </a:spcBef>
              <a:spcAft>
                <a:spcPts val="0"/>
              </a:spcAft>
            </a:pPr>
            <a:r>
              <a:rPr sz="4416" b="0">
                <a:solidFill>
                  <a:srgbClr val="0F2343"/>
                </a:solidFill>
                <a:latin typeface="Cambria Math"/>
              </a:rPr>
              <a:t>∑</a:t>
            </a:r>
          </a:p>
        </p:txBody>
      </p:sp>
      <p:sp>
        <p:nvSpPr>
          <p:cNvPr id="25" name="Text: Solve"/>
          <p:cNvSpPr txBox="1"/>
          <p:nvPr/>
        </p:nvSpPr>
        <p:spPr>
          <a:xfrm>
            <a:off x="5266943"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Solve</a:t>
            </a:r>
          </a:p>
        </p:txBody>
      </p:sp>
      <p:cxnSp>
        <p:nvCxnSpPr>
          <p:cNvPr id="26" name="Connector 25"/>
          <p:cNvCxnSpPr/>
          <p:nvPr/>
        </p:nvCxnSpPr>
        <p:spPr>
          <a:xfrm>
            <a:off x="7223759" y="3547872"/>
            <a:ext cx="246889"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543800"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135599"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8609624"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372612" y="3296594"/>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a:off x="8276051"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750076"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276051" y="3200034"/>
            <a:ext cx="474025"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513064" y="3200034"/>
            <a:ext cx="0" cy="965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5" name="Text: Postprocess"/>
          <p:cNvSpPr txBox="1"/>
          <p:nvPr/>
        </p:nvSpPr>
        <p:spPr>
          <a:xfrm>
            <a:off x="7598664"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0F2343"/>
                </a:solidFill>
                <a:latin typeface="Aptos"/>
              </a:rPr>
              <a:t>Postprocess</a:t>
            </a:r>
          </a:p>
        </p:txBody>
      </p:sp>
      <p:cxnSp>
        <p:nvCxnSpPr>
          <p:cNvPr id="36" name="Connector 35"/>
          <p:cNvCxnSpPr/>
          <p:nvPr/>
        </p:nvCxnSpPr>
        <p:spPr>
          <a:xfrm>
            <a:off x="9555480" y="3547872"/>
            <a:ext cx="24688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75519"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10467319" y="2866461"/>
            <a:ext cx="754928" cy="64081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a:off x="10511210" y="3050804"/>
            <a:ext cx="667147"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72658" y="3191256"/>
            <a:ext cx="5354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72658" y="3340486"/>
            <a:ext cx="5354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827227" y="3050804"/>
            <a:ext cx="0" cy="403799"/>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43" name="Text: Result"/>
          <p:cNvSpPr txBox="1"/>
          <p:nvPr/>
        </p:nvSpPr>
        <p:spPr>
          <a:xfrm>
            <a:off x="9930384"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Result</a:t>
            </a:r>
          </a:p>
        </p:txBody>
      </p:sp>
      <p:sp>
        <p:nvSpPr>
          <p:cNvPr id="44" name="Rounded Rectangle 43"/>
          <p:cNvSpPr/>
          <p:nvPr/>
        </p:nvSpPr>
        <p:spPr>
          <a:xfrm>
            <a:off x="594360" y="5614416"/>
            <a:ext cx="11000232" cy="45720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 SC101  ·  Live demonstration"/>
          <p:cNvSpPr txBox="1"/>
          <p:nvPr/>
        </p:nvSpPr>
        <p:spPr>
          <a:xfrm>
            <a:off x="722376" y="5650992"/>
            <a:ext cx="10744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SC101  ·  Live demonstration</a:t>
            </a:r>
          </a:p>
        </p:txBody>
      </p:sp>
      <p:sp>
        <p:nvSpPr>
          <p:cNvPr id="46" name="Slide Number Placeholder 45">
            <a:extLst>
              <a:ext uri="{FF2B5EF4-FFF2-40B4-BE49-F238E27FC236}">
                <a16:creationId xmlns:a16="http://schemas.microsoft.com/office/drawing/2014/main" id="{9A07465C-6210-6D25-8DE7-95C14968BAA5}"/>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What an automated test is</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Freeform 5"/>
          <p:cNvSpPr/>
          <p:nvPr/>
        </p:nvSpPr>
        <p:spPr>
          <a:xfrm>
            <a:off x="1687068" y="2240280"/>
            <a:ext cx="859536" cy="859536"/>
          </a:xfrm>
          <a:custGeom>
            <a:avLst/>
            <a:gdLst/>
            <a:ahLst/>
            <a:cxnLst/>
            <a:rect l="l" t="t" r="r" b="b"/>
            <a:pathLst>
              <a:path w="940" h="940">
                <a:moveTo>
                  <a:pt x="470" y="0"/>
                </a:moveTo>
                <a:lnTo>
                  <a:pt x="940" y="940"/>
                </a:lnTo>
                <a:lnTo>
                  <a:pt x="0" y="940"/>
                </a:lnTo>
                <a:close/>
              </a:path>
            </a:pathLst>
          </a:custGeom>
          <a:solidFill>
            <a:srgbClr val="90CAF9"/>
          </a:solidFill>
          <a:ln w="1778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Freeform 6"/>
          <p:cNvSpPr/>
          <p:nvPr/>
        </p:nvSpPr>
        <p:spPr>
          <a:xfrm>
            <a:off x="1202436" y="3209544"/>
            <a:ext cx="1828800" cy="859536"/>
          </a:xfrm>
          <a:custGeom>
            <a:avLst/>
            <a:gdLst/>
            <a:ahLst/>
            <a:cxnLst/>
            <a:rect l="l" t="t" r="r" b="b"/>
            <a:pathLst>
              <a:path w="2000" h="940">
                <a:moveTo>
                  <a:pt x="460" y="0"/>
                </a:moveTo>
                <a:lnTo>
                  <a:pt x="1540" y="0"/>
                </a:lnTo>
                <a:lnTo>
                  <a:pt x="2000" y="940"/>
                </a:lnTo>
                <a:lnTo>
                  <a:pt x="0" y="940"/>
                </a:lnTo>
                <a:close/>
              </a:path>
            </a:pathLst>
          </a:custGeom>
          <a:solidFill>
            <a:srgbClr val="FFF59D"/>
          </a:solidFill>
          <a:ln w="17780">
            <a:solidFill>
              <a:srgbClr val="8A6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reeform 7"/>
          <p:cNvSpPr/>
          <p:nvPr/>
        </p:nvSpPr>
        <p:spPr>
          <a:xfrm>
            <a:off x="699516" y="4178808"/>
            <a:ext cx="2834640" cy="859536"/>
          </a:xfrm>
          <a:custGeom>
            <a:avLst/>
            <a:gdLst/>
            <a:ahLst/>
            <a:cxnLst/>
            <a:rect l="l" t="t" r="r" b="b"/>
            <a:pathLst>
              <a:path w="3100" h="940">
                <a:moveTo>
                  <a:pt x="480" y="0"/>
                </a:moveTo>
                <a:lnTo>
                  <a:pt x="2620" y="0"/>
                </a:lnTo>
                <a:lnTo>
                  <a:pt x="3100" y="940"/>
                </a:lnTo>
                <a:lnTo>
                  <a:pt x="0" y="940"/>
                </a:lnTo>
                <a:close/>
              </a:path>
            </a:pathLst>
          </a:custGeom>
          <a:solidFill>
            <a:srgbClr val="A5D6A7"/>
          </a:solidFill>
          <a:ln w="1778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 End-to-end"/>
          <p:cNvSpPr txBox="1"/>
          <p:nvPr/>
        </p:nvSpPr>
        <p:spPr>
          <a:xfrm>
            <a:off x="685800" y="1819656"/>
            <a:ext cx="2862072" cy="338328"/>
          </a:xfrm>
          <a:prstGeom prst="rect">
            <a:avLst/>
          </a:prstGeom>
          <a:noFill/>
        </p:spPr>
        <p:txBody>
          <a:bodyPr wrap="square" lIns="0" tIns="0" rIns="0" bIns="0" anchor="ctr">
            <a:noAutofit/>
          </a:bodyPr>
          <a:lstStyle/>
          <a:p>
            <a:pPr algn="ctr">
              <a:lnSpc>
                <a:spcPct val="106000"/>
              </a:lnSpc>
              <a:spcBef>
                <a:spcPts val="0"/>
              </a:spcBef>
              <a:spcAft>
                <a:spcPts val="0"/>
              </a:spcAft>
            </a:pPr>
            <a:r>
              <a:rPr sz="1800" b="1">
                <a:solidFill>
                  <a:srgbClr val="1565C0"/>
                </a:solidFill>
                <a:latin typeface="Aptos"/>
              </a:rPr>
              <a:t>End-to-end</a:t>
            </a:r>
          </a:p>
        </p:txBody>
      </p:sp>
      <p:cxnSp>
        <p:nvCxnSpPr>
          <p:cNvPr id="10" name="Connector 9"/>
          <p:cNvCxnSpPr/>
          <p:nvPr/>
        </p:nvCxnSpPr>
        <p:spPr>
          <a:xfrm>
            <a:off x="2116836" y="2157984"/>
            <a:ext cx="0" cy="82296"/>
          </a:xfrm>
          <a:prstGeom prst="line">
            <a:avLst/>
          </a:prstGeom>
          <a:ln w="16510">
            <a:solidFill>
              <a:srgbClr val="1565C0"/>
            </a:solidFill>
          </a:ln>
          <a:effectLst/>
        </p:spPr>
        <p:style>
          <a:lnRef idx="2">
            <a:schemeClr val="accent1"/>
          </a:lnRef>
          <a:fillRef idx="0">
            <a:schemeClr val="accent1"/>
          </a:fillRef>
          <a:effectRef idx="1">
            <a:schemeClr val="accent1"/>
          </a:effectRef>
          <a:fontRef idx="minor">
            <a:schemeClr val="tx1"/>
          </a:fontRef>
        </p:style>
      </p:cxnSp>
      <p:sp>
        <p:nvSpPr>
          <p:cNvPr id="11" name="Text: Integration"/>
          <p:cNvSpPr txBox="1"/>
          <p:nvPr/>
        </p:nvSpPr>
        <p:spPr>
          <a:xfrm>
            <a:off x="932688" y="3538728"/>
            <a:ext cx="2368296" cy="329184"/>
          </a:xfrm>
          <a:prstGeom prst="rect">
            <a:avLst/>
          </a:prstGeom>
          <a:noFill/>
        </p:spPr>
        <p:txBody>
          <a:bodyPr wrap="square" lIns="0" tIns="0" rIns="0" bIns="0" anchor="ctr">
            <a:noAutofit/>
          </a:bodyPr>
          <a:lstStyle/>
          <a:p>
            <a:pPr algn="ctr">
              <a:lnSpc>
                <a:spcPct val="106000"/>
              </a:lnSpc>
              <a:spcBef>
                <a:spcPts val="0"/>
              </a:spcBef>
              <a:spcAft>
                <a:spcPts val="0"/>
              </a:spcAft>
            </a:pPr>
            <a:r>
              <a:rPr sz="1800" b="1">
                <a:solidFill>
                  <a:srgbClr val="8A6500"/>
                </a:solidFill>
                <a:latin typeface="Aptos"/>
              </a:rPr>
              <a:t>Integration</a:t>
            </a:r>
          </a:p>
        </p:txBody>
      </p:sp>
      <p:sp>
        <p:nvSpPr>
          <p:cNvPr id="12" name="Text: Unit"/>
          <p:cNvSpPr txBox="1"/>
          <p:nvPr/>
        </p:nvSpPr>
        <p:spPr>
          <a:xfrm>
            <a:off x="932688" y="4471416"/>
            <a:ext cx="2368296" cy="347472"/>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2E7D32"/>
                </a:solidFill>
                <a:latin typeface="Aptos"/>
              </a:rPr>
              <a:t>Unit</a:t>
            </a:r>
          </a:p>
        </p:txBody>
      </p:sp>
      <p:sp>
        <p:nvSpPr>
          <p:cNvPr id="13" name="Text: Unit"/>
          <p:cNvSpPr txBox="1"/>
          <p:nvPr/>
        </p:nvSpPr>
        <p:spPr>
          <a:xfrm>
            <a:off x="4014215" y="1865376"/>
            <a:ext cx="2258568"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2E7D32"/>
                </a:solidFill>
                <a:latin typeface="Aptos"/>
              </a:rPr>
              <a:t>Unit</a:t>
            </a:r>
          </a:p>
        </p:txBody>
      </p:sp>
      <p:cxnSp>
        <p:nvCxnSpPr>
          <p:cNvPr id="14" name="Connector 13"/>
          <p:cNvCxnSpPr/>
          <p:nvPr/>
        </p:nvCxnSpPr>
        <p:spPr>
          <a:xfrm>
            <a:off x="5084064" y="3255264"/>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078224" y="2734056"/>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Read"/>
          <p:cNvSpPr txBox="1"/>
          <p:nvPr/>
        </p:nvSpPr>
        <p:spPr>
          <a:xfrm>
            <a:off x="4123944" y="2788920"/>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a:t>
            </a:r>
          </a:p>
        </p:txBody>
      </p:sp>
      <p:cxnSp>
        <p:nvCxnSpPr>
          <p:cNvPr id="17" name="Connector 16"/>
          <p:cNvCxnSpPr/>
          <p:nvPr/>
        </p:nvCxnSpPr>
        <p:spPr>
          <a:xfrm>
            <a:off x="5084064" y="4096512"/>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078224" y="3575304"/>
            <a:ext cx="2020824" cy="521207"/>
          </a:xfrm>
          <a:prstGeom prst="roundRect">
            <a:avLst>
              <a:gd name="adj" fmla="val 12000"/>
            </a:avLst>
          </a:prstGeom>
          <a:solidFill>
            <a:srgbClr val="A5D6A7"/>
          </a:solidFill>
          <a:ln w="1778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Compute"/>
          <p:cNvSpPr txBox="1"/>
          <p:nvPr/>
        </p:nvSpPr>
        <p:spPr>
          <a:xfrm>
            <a:off x="4123944" y="3630168"/>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Compute</a:t>
            </a:r>
          </a:p>
        </p:txBody>
      </p:sp>
      <p:sp>
        <p:nvSpPr>
          <p:cNvPr id="20" name="Rounded Rectangle 19"/>
          <p:cNvSpPr/>
          <p:nvPr/>
        </p:nvSpPr>
        <p:spPr>
          <a:xfrm>
            <a:off x="4078224" y="4416552"/>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Report"/>
          <p:cNvSpPr txBox="1"/>
          <p:nvPr/>
        </p:nvSpPr>
        <p:spPr>
          <a:xfrm>
            <a:off x="4123944" y="4471416"/>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Report</a:t>
            </a:r>
          </a:p>
        </p:txBody>
      </p:sp>
      <p:sp>
        <p:nvSpPr>
          <p:cNvPr id="22" name="Text: Integration"/>
          <p:cNvSpPr txBox="1"/>
          <p:nvPr/>
        </p:nvSpPr>
        <p:spPr>
          <a:xfrm>
            <a:off x="6446520" y="1865376"/>
            <a:ext cx="2258568"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8A6500"/>
                </a:solidFill>
                <a:latin typeface="Aptos"/>
              </a:rPr>
              <a:t>Integration</a:t>
            </a:r>
          </a:p>
        </p:txBody>
      </p:sp>
      <p:sp>
        <p:nvSpPr>
          <p:cNvPr id="23" name="Rounded Rectangle 22"/>
          <p:cNvSpPr/>
          <p:nvPr/>
        </p:nvSpPr>
        <p:spPr>
          <a:xfrm>
            <a:off x="6391656" y="3429000"/>
            <a:ext cx="2267712" cy="1627632"/>
          </a:xfrm>
          <a:prstGeom prst="roundRect">
            <a:avLst>
              <a:gd name="adj" fmla="val 12000"/>
            </a:avLst>
          </a:prstGeom>
          <a:solidFill>
            <a:srgbClr val="FFF59D"/>
          </a:solidFill>
          <a:ln w="19050">
            <a:solidFill>
              <a:srgbClr val="8A6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7516368" y="3255264"/>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510528" y="2734056"/>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Read"/>
          <p:cNvSpPr txBox="1"/>
          <p:nvPr/>
        </p:nvSpPr>
        <p:spPr>
          <a:xfrm>
            <a:off x="6556248" y="2788920"/>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a:t>
            </a:r>
          </a:p>
        </p:txBody>
      </p:sp>
      <p:cxnSp>
        <p:nvCxnSpPr>
          <p:cNvPr id="27" name="Connector 26"/>
          <p:cNvCxnSpPr/>
          <p:nvPr/>
        </p:nvCxnSpPr>
        <p:spPr>
          <a:xfrm>
            <a:off x="7516368" y="4096512"/>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510528" y="3575304"/>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Compute"/>
          <p:cNvSpPr txBox="1"/>
          <p:nvPr/>
        </p:nvSpPr>
        <p:spPr>
          <a:xfrm>
            <a:off x="6556248" y="3630168"/>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Compute</a:t>
            </a:r>
          </a:p>
        </p:txBody>
      </p:sp>
      <p:sp>
        <p:nvSpPr>
          <p:cNvPr id="30" name="Rounded Rectangle 29"/>
          <p:cNvSpPr/>
          <p:nvPr/>
        </p:nvSpPr>
        <p:spPr>
          <a:xfrm>
            <a:off x="6510528" y="4416552"/>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Report"/>
          <p:cNvSpPr txBox="1"/>
          <p:nvPr/>
        </p:nvSpPr>
        <p:spPr>
          <a:xfrm>
            <a:off x="6556248" y="4471416"/>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Report</a:t>
            </a:r>
          </a:p>
        </p:txBody>
      </p:sp>
      <p:sp>
        <p:nvSpPr>
          <p:cNvPr id="32" name="Text: End-to-end"/>
          <p:cNvSpPr txBox="1"/>
          <p:nvPr/>
        </p:nvSpPr>
        <p:spPr>
          <a:xfrm>
            <a:off x="8878824" y="1865376"/>
            <a:ext cx="2258568"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1565C0"/>
                </a:solidFill>
                <a:latin typeface="Aptos"/>
              </a:rPr>
              <a:t>End-to-end</a:t>
            </a:r>
          </a:p>
        </p:txBody>
      </p:sp>
      <p:sp>
        <p:nvSpPr>
          <p:cNvPr id="33" name="Rounded Rectangle 32"/>
          <p:cNvSpPr/>
          <p:nvPr/>
        </p:nvSpPr>
        <p:spPr>
          <a:xfrm>
            <a:off x="8823960" y="2569464"/>
            <a:ext cx="2267712" cy="2487168"/>
          </a:xfrm>
          <a:prstGeom prst="roundRect">
            <a:avLst>
              <a:gd name="adj" fmla="val 12000"/>
            </a:avLst>
          </a:prstGeom>
          <a:solidFill>
            <a:srgbClr val="90CAF9"/>
          </a:solidFill>
          <a:ln w="1905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4" name="Connector 33"/>
          <p:cNvCxnSpPr/>
          <p:nvPr/>
        </p:nvCxnSpPr>
        <p:spPr>
          <a:xfrm>
            <a:off x="9948672" y="3255264"/>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942832" y="2734056"/>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Read"/>
          <p:cNvSpPr txBox="1"/>
          <p:nvPr/>
        </p:nvSpPr>
        <p:spPr>
          <a:xfrm>
            <a:off x="8988552" y="2788920"/>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a:t>
            </a:r>
          </a:p>
        </p:txBody>
      </p:sp>
      <p:cxnSp>
        <p:nvCxnSpPr>
          <p:cNvPr id="37" name="Connector 36"/>
          <p:cNvCxnSpPr/>
          <p:nvPr/>
        </p:nvCxnSpPr>
        <p:spPr>
          <a:xfrm>
            <a:off x="9948672" y="4096512"/>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942832" y="3575304"/>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Compute"/>
          <p:cNvSpPr txBox="1"/>
          <p:nvPr/>
        </p:nvSpPr>
        <p:spPr>
          <a:xfrm>
            <a:off x="8988552" y="3630168"/>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Compute</a:t>
            </a:r>
          </a:p>
        </p:txBody>
      </p:sp>
      <p:sp>
        <p:nvSpPr>
          <p:cNvPr id="40" name="Rounded Rectangle 39"/>
          <p:cNvSpPr/>
          <p:nvPr/>
        </p:nvSpPr>
        <p:spPr>
          <a:xfrm>
            <a:off x="8942832" y="4416552"/>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 Report"/>
          <p:cNvSpPr txBox="1"/>
          <p:nvPr/>
        </p:nvSpPr>
        <p:spPr>
          <a:xfrm>
            <a:off x="8988552" y="4471416"/>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Report</a:t>
            </a:r>
          </a:p>
        </p:txBody>
      </p:sp>
      <p:sp>
        <p:nvSpPr>
          <p:cNvPr id="42" name="Text: Arrange"/>
          <p:cNvSpPr txBox="1"/>
          <p:nvPr/>
        </p:nvSpPr>
        <p:spPr>
          <a:xfrm>
            <a:off x="1828800" y="5559552"/>
            <a:ext cx="2560320" cy="475488"/>
          </a:xfrm>
          <a:prstGeom prst="rect">
            <a:avLst/>
          </a:prstGeom>
          <a:noFill/>
        </p:spPr>
        <p:txBody>
          <a:bodyPr wrap="square" lIns="0" tIns="0" rIns="0" bIns="0" anchor="ctr">
            <a:noAutofit/>
          </a:bodyPr>
          <a:lstStyle/>
          <a:p>
            <a:pPr algn="ctr">
              <a:lnSpc>
                <a:spcPct val="106000"/>
              </a:lnSpc>
              <a:spcBef>
                <a:spcPts val="0"/>
              </a:spcBef>
              <a:spcAft>
                <a:spcPts val="0"/>
              </a:spcAft>
            </a:pPr>
            <a:r>
              <a:rPr sz="2800" b="1">
                <a:solidFill>
                  <a:srgbClr val="0F2343"/>
                </a:solidFill>
                <a:latin typeface="Aptos"/>
              </a:rPr>
              <a:t>Arrange</a:t>
            </a:r>
          </a:p>
        </p:txBody>
      </p:sp>
      <p:sp>
        <p:nvSpPr>
          <p:cNvPr id="43" name="Text: Set up"/>
          <p:cNvSpPr txBox="1"/>
          <p:nvPr/>
        </p:nvSpPr>
        <p:spPr>
          <a:xfrm>
            <a:off x="1828800" y="6025896"/>
            <a:ext cx="2560320" cy="347472"/>
          </a:xfrm>
          <a:prstGeom prst="rect">
            <a:avLst/>
          </a:prstGeom>
          <a:noFill/>
        </p:spPr>
        <p:txBody>
          <a:bodyPr wrap="square" lIns="0" tIns="0" rIns="0" bIns="0" anchor="ctr">
            <a:noAutofit/>
          </a:bodyPr>
          <a:lstStyle/>
          <a:p>
            <a:pPr algn="ctr">
              <a:lnSpc>
                <a:spcPct val="106000"/>
              </a:lnSpc>
              <a:spcBef>
                <a:spcPts val="0"/>
              </a:spcBef>
              <a:spcAft>
                <a:spcPts val="0"/>
              </a:spcAft>
            </a:pPr>
            <a:r>
              <a:rPr sz="2000" b="0">
                <a:solidFill>
                  <a:srgbClr val="64748B"/>
                </a:solidFill>
                <a:latin typeface="Aptos"/>
              </a:rPr>
              <a:t>Set up</a:t>
            </a:r>
          </a:p>
        </p:txBody>
      </p:sp>
      <p:sp>
        <p:nvSpPr>
          <p:cNvPr id="44" name="Text: Act"/>
          <p:cNvSpPr txBox="1"/>
          <p:nvPr/>
        </p:nvSpPr>
        <p:spPr>
          <a:xfrm>
            <a:off x="4818888" y="5559552"/>
            <a:ext cx="2560320" cy="475488"/>
          </a:xfrm>
          <a:prstGeom prst="rect">
            <a:avLst/>
          </a:prstGeom>
          <a:noFill/>
        </p:spPr>
        <p:txBody>
          <a:bodyPr wrap="square" lIns="0" tIns="0" rIns="0" bIns="0" anchor="ctr">
            <a:noAutofit/>
          </a:bodyPr>
          <a:lstStyle/>
          <a:p>
            <a:pPr algn="ctr">
              <a:lnSpc>
                <a:spcPct val="106000"/>
              </a:lnSpc>
              <a:spcBef>
                <a:spcPts val="0"/>
              </a:spcBef>
              <a:spcAft>
                <a:spcPts val="0"/>
              </a:spcAft>
            </a:pPr>
            <a:r>
              <a:rPr sz="2800" b="1">
                <a:solidFill>
                  <a:srgbClr val="0F2343"/>
                </a:solidFill>
                <a:latin typeface="Aptos"/>
              </a:rPr>
              <a:t>Act</a:t>
            </a:r>
          </a:p>
        </p:txBody>
      </p:sp>
      <p:sp>
        <p:nvSpPr>
          <p:cNvPr id="45" name="Text: Run"/>
          <p:cNvSpPr txBox="1"/>
          <p:nvPr/>
        </p:nvSpPr>
        <p:spPr>
          <a:xfrm>
            <a:off x="4818888" y="6025896"/>
            <a:ext cx="2560320" cy="347472"/>
          </a:xfrm>
          <a:prstGeom prst="rect">
            <a:avLst/>
          </a:prstGeom>
          <a:noFill/>
        </p:spPr>
        <p:txBody>
          <a:bodyPr wrap="square" lIns="0" tIns="0" rIns="0" bIns="0" anchor="ctr">
            <a:noAutofit/>
          </a:bodyPr>
          <a:lstStyle/>
          <a:p>
            <a:pPr algn="ctr">
              <a:lnSpc>
                <a:spcPct val="106000"/>
              </a:lnSpc>
              <a:spcBef>
                <a:spcPts val="0"/>
              </a:spcBef>
              <a:spcAft>
                <a:spcPts val="0"/>
              </a:spcAft>
            </a:pPr>
            <a:r>
              <a:rPr sz="2000" b="0">
                <a:solidFill>
                  <a:srgbClr val="64748B"/>
                </a:solidFill>
                <a:latin typeface="Aptos"/>
              </a:rPr>
              <a:t>Run</a:t>
            </a:r>
          </a:p>
        </p:txBody>
      </p:sp>
      <p:sp>
        <p:nvSpPr>
          <p:cNvPr id="46" name="Text: Assert"/>
          <p:cNvSpPr txBox="1"/>
          <p:nvPr/>
        </p:nvSpPr>
        <p:spPr>
          <a:xfrm>
            <a:off x="7799831" y="5559552"/>
            <a:ext cx="2560320" cy="475488"/>
          </a:xfrm>
          <a:prstGeom prst="rect">
            <a:avLst/>
          </a:prstGeom>
          <a:noFill/>
        </p:spPr>
        <p:txBody>
          <a:bodyPr wrap="square" lIns="0" tIns="0" rIns="0" bIns="0" anchor="ctr">
            <a:noAutofit/>
          </a:bodyPr>
          <a:lstStyle/>
          <a:p>
            <a:pPr algn="ctr">
              <a:lnSpc>
                <a:spcPct val="106000"/>
              </a:lnSpc>
              <a:spcBef>
                <a:spcPts val="0"/>
              </a:spcBef>
              <a:spcAft>
                <a:spcPts val="0"/>
              </a:spcAft>
            </a:pPr>
            <a:r>
              <a:rPr sz="2800" b="1">
                <a:solidFill>
                  <a:srgbClr val="0F2343"/>
                </a:solidFill>
                <a:latin typeface="Aptos"/>
              </a:rPr>
              <a:t>Assert</a:t>
            </a:r>
          </a:p>
        </p:txBody>
      </p:sp>
      <p:sp>
        <p:nvSpPr>
          <p:cNvPr id="47" name="Text: Check"/>
          <p:cNvSpPr txBox="1"/>
          <p:nvPr/>
        </p:nvSpPr>
        <p:spPr>
          <a:xfrm>
            <a:off x="7799831" y="6025896"/>
            <a:ext cx="2560320" cy="347472"/>
          </a:xfrm>
          <a:prstGeom prst="rect">
            <a:avLst/>
          </a:prstGeom>
          <a:noFill/>
        </p:spPr>
        <p:txBody>
          <a:bodyPr wrap="square" lIns="0" tIns="0" rIns="0" bIns="0" anchor="ctr">
            <a:noAutofit/>
          </a:bodyPr>
          <a:lstStyle/>
          <a:p>
            <a:pPr algn="ctr">
              <a:lnSpc>
                <a:spcPct val="106000"/>
              </a:lnSpc>
              <a:spcBef>
                <a:spcPts val="0"/>
              </a:spcBef>
              <a:spcAft>
                <a:spcPts val="0"/>
              </a:spcAft>
            </a:pPr>
            <a:r>
              <a:rPr sz="2000" b="0">
                <a:solidFill>
                  <a:srgbClr val="64748B"/>
                </a:solidFill>
                <a:latin typeface="Aptos"/>
              </a:rPr>
              <a:t>Check</a:t>
            </a:r>
          </a:p>
        </p:txBody>
      </p:sp>
      <p:sp>
        <p:nvSpPr>
          <p:cNvPr id="48" name="Text: →"/>
          <p:cNvSpPr txBox="1"/>
          <p:nvPr/>
        </p:nvSpPr>
        <p:spPr>
          <a:xfrm>
            <a:off x="4416552" y="5596128"/>
            <a:ext cx="365760" cy="402336"/>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a:t>
            </a:r>
          </a:p>
        </p:txBody>
      </p:sp>
      <p:sp>
        <p:nvSpPr>
          <p:cNvPr id="49" name="Text: →"/>
          <p:cNvSpPr txBox="1"/>
          <p:nvPr/>
        </p:nvSpPr>
        <p:spPr>
          <a:xfrm>
            <a:off x="7406640" y="5596128"/>
            <a:ext cx="365760" cy="402336"/>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a:t>
            </a:r>
          </a:p>
        </p:txBody>
      </p:sp>
      <p:sp>
        <p:nvSpPr>
          <p:cNvPr id="50" name="Slide Number Placeholder 49">
            <a:extLst>
              <a:ext uri="{FF2B5EF4-FFF2-40B4-BE49-F238E27FC236}">
                <a16:creationId xmlns:a16="http://schemas.microsoft.com/office/drawing/2014/main" id="{FD4FCE59-E9DD-2789-6049-C09EB96B797B}"/>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The planner’s examples become acceptance tests</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 500 kg limit"/>
          <p:cNvSpPr txBox="1"/>
          <p:nvPr/>
        </p:nvSpPr>
        <p:spPr>
          <a:xfrm>
            <a:off x="841248" y="1965960"/>
            <a:ext cx="4892040" cy="356616"/>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F97316"/>
                </a:solidFill>
                <a:latin typeface="Aptos"/>
              </a:rPr>
              <a:t>500 kg limit</a:t>
            </a:r>
          </a:p>
        </p:txBody>
      </p:sp>
      <p:graphicFrame>
        <p:nvGraphicFramePr>
          <p:cNvPr id="7" name="Table 6"/>
          <p:cNvGraphicFramePr>
            <a:graphicFrameLocks noGrp="1"/>
          </p:cNvGraphicFramePr>
          <p:nvPr/>
        </p:nvGraphicFramePr>
        <p:xfrm>
          <a:off x="841248" y="2596896"/>
          <a:ext cx="4892039" cy="2286000"/>
        </p:xfrm>
        <a:graphic>
          <a:graphicData uri="http://schemas.openxmlformats.org/drawingml/2006/table">
            <a:tbl>
              <a:tblPr firstRow="1" bandRow="1">
                <a:tableStyleId>{5C22544A-7EE6-4342-B048-85BDC9FD1C3A}</a:tableStyleId>
              </a:tblPr>
              <a:tblGrid>
                <a:gridCol w="2348179">
                  <a:extLst>
                    <a:ext uri="{9D8B030D-6E8A-4147-A177-3AD203B41FA5}">
                      <a16:colId xmlns:a16="http://schemas.microsoft.com/office/drawing/2014/main" val="20000"/>
                    </a:ext>
                  </a:extLst>
                </a:gridCol>
                <a:gridCol w="1174089">
                  <a:extLst>
                    <a:ext uri="{9D8B030D-6E8A-4147-A177-3AD203B41FA5}">
                      <a16:colId xmlns:a16="http://schemas.microsoft.com/office/drawing/2014/main" val="20001"/>
                    </a:ext>
                  </a:extLst>
                </a:gridCol>
                <a:gridCol w="1369771">
                  <a:extLst>
                    <a:ext uri="{9D8B030D-6E8A-4147-A177-3AD203B41FA5}">
                      <a16:colId xmlns:a16="http://schemas.microsoft.com/office/drawing/2014/main" val="20002"/>
                    </a:ext>
                  </a:extLst>
                </a:gridCol>
              </a:tblGrid>
              <a:tr h="475488">
                <a:tc>
                  <a:txBody>
                    <a:bodyPr/>
                    <a:lstStyle/>
                    <a:p>
                      <a:pPr algn="l">
                        <a:spcBef>
                          <a:spcPts val="0"/>
                        </a:spcBef>
                        <a:spcAft>
                          <a:spcPts val="0"/>
                        </a:spcAft>
                      </a:pPr>
                      <a:r>
                        <a:rPr sz="1800" b="1">
                          <a:solidFill>
                            <a:srgbClr val="FFFFFF"/>
                          </a:solidFill>
                          <a:latin typeface="Aptos"/>
                        </a:rPr>
                        <a:t>Customer</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Weight</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Revenue</a:t>
                      </a:r>
                    </a:p>
                  </a:txBody>
                  <a:tcPr marL="128016" marR="109728" anchor="ctr">
                    <a:solidFill>
                      <a:srgbClr val="0F2343"/>
                    </a:solidFill>
                  </a:tcPr>
                </a:tc>
                <a:extLst>
                  <a:ext uri="{0D108BD9-81ED-4DB2-BD59-A6C34878D82A}">
                    <a16:rowId xmlns:a16="http://schemas.microsoft.com/office/drawing/2014/main" val="10000"/>
                  </a:ext>
                </a:extLst>
              </a:tr>
              <a:tr h="603504">
                <a:tc>
                  <a:txBody>
                    <a:bodyPr/>
                    <a:lstStyle/>
                    <a:p>
                      <a:pPr algn="l">
                        <a:spcBef>
                          <a:spcPts val="0"/>
                        </a:spcBef>
                        <a:spcAft>
                          <a:spcPts val="0"/>
                        </a:spcAft>
                      </a:pPr>
                      <a:r>
                        <a:rPr sz="2000" b="1">
                          <a:solidFill>
                            <a:srgbClr val="0F2343"/>
                          </a:solidFill>
                          <a:latin typeface="Aptos"/>
                        </a:rPr>
                        <a:t>Atlas Steel</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$3,000</a:t>
                      </a:r>
                    </a:p>
                  </a:txBody>
                  <a:tcPr marL="128016" marR="109728" anchor="ctr">
                    <a:solidFill>
                      <a:srgbClr val="FFF0E5"/>
                    </a:solidFill>
                  </a:tcPr>
                </a:tc>
                <a:extLst>
                  <a:ext uri="{0D108BD9-81ED-4DB2-BD59-A6C34878D82A}">
                    <a16:rowId xmlns:a16="http://schemas.microsoft.com/office/drawing/2014/main" val="10001"/>
                  </a:ext>
                </a:extLst>
              </a:tr>
              <a:tr h="603504">
                <a:tc>
                  <a:txBody>
                    <a:bodyPr/>
                    <a:lstStyle/>
                    <a:p>
                      <a:pPr algn="l">
                        <a:spcBef>
                          <a:spcPts val="0"/>
                        </a:spcBef>
                        <a:spcAft>
                          <a:spcPts val="0"/>
                        </a:spcAft>
                      </a:pPr>
                      <a:r>
                        <a:rPr sz="2000" b="0">
                          <a:solidFill>
                            <a:srgbClr val="0F2343"/>
                          </a:solidFill>
                          <a:latin typeface="Aptos"/>
                        </a:rPr>
                        <a:t>Bighorn Auto</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$9,000</a:t>
                      </a:r>
                    </a:p>
                  </a:txBody>
                  <a:tcPr marL="128016" marR="109728" anchor="ctr">
                    <a:solidFill>
                      <a:srgbClr val="FFFFFF"/>
                    </a:solidFill>
                  </a:tcPr>
                </a:tc>
                <a:extLst>
                  <a:ext uri="{0D108BD9-81ED-4DB2-BD59-A6C34878D82A}">
                    <a16:rowId xmlns:a16="http://schemas.microsoft.com/office/drawing/2014/main" val="10002"/>
                  </a:ext>
                </a:extLst>
              </a:tr>
              <a:tr h="603504">
                <a:tc>
                  <a:txBody>
                    <a:bodyPr/>
                    <a:lstStyle/>
                    <a:p>
                      <a:pPr algn="l">
                        <a:spcBef>
                          <a:spcPts val="0"/>
                        </a:spcBef>
                        <a:spcAft>
                          <a:spcPts val="0"/>
                        </a:spcAft>
                      </a:pPr>
                      <a:r>
                        <a:rPr sz="2000" b="0">
                          <a:solidFill>
                            <a:srgbClr val="0F2343"/>
                          </a:solidFill>
                          <a:latin typeface="Aptos"/>
                        </a:rPr>
                        <a:t>Cedar Pharma</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300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$800</a:t>
                      </a:r>
                    </a:p>
                  </a:txBody>
                  <a:tcPr marL="128016" marR="109728" anchor="ctr">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841248" y="3072384"/>
            <a:ext cx="489204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 ✓"/>
          <p:cNvSpPr txBox="1"/>
          <p:nvPr/>
        </p:nvSpPr>
        <p:spPr>
          <a:xfrm>
            <a:off x="466344" y="3154679"/>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10" name="Text: Expected: Atlas"/>
          <p:cNvSpPr txBox="1"/>
          <p:nvPr/>
        </p:nvSpPr>
        <p:spPr>
          <a:xfrm>
            <a:off x="841248" y="5065776"/>
            <a:ext cx="489204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Expected: Atlas</a:t>
            </a:r>
          </a:p>
        </p:txBody>
      </p:sp>
      <p:sp>
        <p:nvSpPr>
          <p:cNvPr id="11" name="Text: $3,000  ·  300 kg"/>
          <p:cNvSpPr txBox="1"/>
          <p:nvPr/>
        </p:nvSpPr>
        <p:spPr>
          <a:xfrm>
            <a:off x="841248" y="5577840"/>
            <a:ext cx="4892040" cy="438912"/>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$3,000  ·  300 kg</a:t>
            </a:r>
          </a:p>
        </p:txBody>
      </p:sp>
      <p:sp>
        <p:nvSpPr>
          <p:cNvPr id="12" name="Text: Would this test catch…"/>
          <p:cNvSpPr txBox="1"/>
          <p:nvPr/>
        </p:nvSpPr>
        <p:spPr>
          <a:xfrm>
            <a:off x="6318504" y="1975104"/>
            <a:ext cx="5029200" cy="393192"/>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Would this test catch…</a:t>
            </a:r>
          </a:p>
        </p:txBody>
      </p:sp>
      <p:sp>
        <p:nvSpPr>
          <p:cNvPr id="13" name="Rounded Rectangle 12"/>
          <p:cNvSpPr/>
          <p:nvPr/>
        </p:nvSpPr>
        <p:spPr>
          <a:xfrm>
            <a:off x="6318504" y="2743200"/>
            <a:ext cx="5029200" cy="105156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 Ignoring the weight limit?"/>
          <p:cNvSpPr txBox="1"/>
          <p:nvPr/>
        </p:nvSpPr>
        <p:spPr>
          <a:xfrm>
            <a:off x="6565392" y="2898648"/>
            <a:ext cx="4535424" cy="713232"/>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Ignoring the weight limit?</a:t>
            </a:r>
          </a:p>
        </p:txBody>
      </p:sp>
      <p:sp>
        <p:nvSpPr>
          <p:cNvPr id="15" name="Rounded Rectangle 14"/>
          <p:cNvSpPr/>
          <p:nvPr/>
        </p:nvSpPr>
        <p:spPr>
          <a:xfrm>
            <a:off x="6318504" y="4178808"/>
            <a:ext cx="5029200" cy="105156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Splitting a shipment?"/>
          <p:cNvSpPr txBox="1"/>
          <p:nvPr/>
        </p:nvSpPr>
        <p:spPr>
          <a:xfrm>
            <a:off x="6565392" y="4334256"/>
            <a:ext cx="4535424" cy="713232"/>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Splitting a shipment?</a:t>
            </a:r>
          </a:p>
        </p:txBody>
      </p:sp>
      <p:sp>
        <p:nvSpPr>
          <p:cNvPr id="17" name="Text: Predict in pairs  ·  Explain why"/>
          <p:cNvSpPr txBox="1"/>
          <p:nvPr/>
        </p:nvSpPr>
        <p:spPr>
          <a:xfrm>
            <a:off x="6318504" y="5715000"/>
            <a:ext cx="5029200" cy="393192"/>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Aptos"/>
              </a:rPr>
              <a:t>Predict in pairs  ·  Explain why</a:t>
            </a:r>
          </a:p>
        </p:txBody>
      </p:sp>
      <p:sp>
        <p:nvSpPr>
          <p:cNvPr id="18" name="Slide Number Placeholder 17">
            <a:extLst>
              <a:ext uri="{FF2B5EF4-FFF2-40B4-BE49-F238E27FC236}">
                <a16:creationId xmlns:a16="http://schemas.microsoft.com/office/drawing/2014/main" id="{6F1C4885-126E-BD6A-AE9A-4A115D8B4152}"/>
              </a:ext>
            </a:extLst>
          </p:cNvPr>
          <p:cNvSpPr>
            <a:spLocks noGrp="1"/>
          </p:cNvSpPr>
          <p:nvPr>
            <p:ph type="sldNum" sz="quarter" idx="12"/>
          </p:nvPr>
        </p:nvSpPr>
        <p:spPr/>
        <p:txBody>
          <a:bodyPr/>
          <a:lstStyle/>
          <a:p>
            <a:fld id="{C1FF6DA9-008F-8B48-92A6-B652298478BF}"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The cycle runs again:</a:t>
            </a:r>
          </a:p>
          <a:p>
            <a:pPr algn="l">
              <a:lnSpc>
                <a:spcPct val="106000"/>
              </a:lnSpc>
              <a:spcBef>
                <a:spcPts val="0"/>
              </a:spcBef>
              <a:spcAft>
                <a:spcPts val="0"/>
              </a:spcAft>
            </a:pPr>
            <a:r>
              <a:rPr sz="4000" b="1" dirty="0">
                <a:solidFill>
                  <a:srgbClr val="0F2343"/>
                </a:solidFill>
                <a:latin typeface="Aptos Display"/>
              </a:rPr>
              <a:t>the planner asks for client diversity</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Freeform 5"/>
          <p:cNvSpPr/>
          <p:nvPr/>
        </p:nvSpPr>
        <p:spPr>
          <a:xfrm>
            <a:off x="7281367" y="2450592"/>
            <a:ext cx="475488" cy="72238"/>
          </a:xfrm>
          <a:custGeom>
            <a:avLst/>
            <a:gdLst/>
            <a:ahLst/>
            <a:cxnLst/>
            <a:rect l="l" t="t" r="r" b="b"/>
            <a:pathLst>
              <a:path w="520" h="79">
                <a:moveTo>
                  <a:pt x="0" y="0"/>
                </a:moveTo>
                <a:lnTo>
                  <a:pt x="16" y="2"/>
                </a:lnTo>
                <a:lnTo>
                  <a:pt x="33" y="4"/>
                </a:lnTo>
                <a:lnTo>
                  <a:pt x="49" y="6"/>
                </a:lnTo>
                <a:lnTo>
                  <a:pt x="66" y="8"/>
                </a:lnTo>
                <a:lnTo>
                  <a:pt x="82" y="10"/>
                </a:lnTo>
                <a:lnTo>
                  <a:pt x="99" y="13"/>
                </a:lnTo>
                <a:lnTo>
                  <a:pt x="115" y="15"/>
                </a:lnTo>
                <a:lnTo>
                  <a:pt x="132" y="17"/>
                </a:lnTo>
                <a:lnTo>
                  <a:pt x="148" y="19"/>
                </a:lnTo>
                <a:lnTo>
                  <a:pt x="165" y="22"/>
                </a:lnTo>
                <a:lnTo>
                  <a:pt x="181" y="24"/>
                </a:lnTo>
                <a:lnTo>
                  <a:pt x="198" y="26"/>
                </a:lnTo>
                <a:lnTo>
                  <a:pt x="214" y="29"/>
                </a:lnTo>
                <a:lnTo>
                  <a:pt x="230" y="31"/>
                </a:lnTo>
                <a:lnTo>
                  <a:pt x="247" y="34"/>
                </a:lnTo>
                <a:lnTo>
                  <a:pt x="263" y="36"/>
                </a:lnTo>
                <a:lnTo>
                  <a:pt x="279" y="39"/>
                </a:lnTo>
                <a:lnTo>
                  <a:pt x="295" y="41"/>
                </a:lnTo>
                <a:lnTo>
                  <a:pt x="312" y="44"/>
                </a:lnTo>
                <a:lnTo>
                  <a:pt x="328" y="46"/>
                </a:lnTo>
                <a:lnTo>
                  <a:pt x="344" y="49"/>
                </a:lnTo>
                <a:lnTo>
                  <a:pt x="360" y="52"/>
                </a:lnTo>
                <a:lnTo>
                  <a:pt x="376" y="54"/>
                </a:lnTo>
                <a:lnTo>
                  <a:pt x="392" y="57"/>
                </a:lnTo>
                <a:lnTo>
                  <a:pt x="408" y="60"/>
                </a:lnTo>
                <a:lnTo>
                  <a:pt x="424" y="62"/>
                </a:lnTo>
                <a:lnTo>
                  <a:pt x="440" y="65"/>
                </a:lnTo>
                <a:lnTo>
                  <a:pt x="456" y="68"/>
                </a:lnTo>
                <a:lnTo>
                  <a:pt x="472" y="71"/>
                </a:lnTo>
                <a:lnTo>
                  <a:pt x="488" y="74"/>
                </a:lnTo>
                <a:lnTo>
                  <a:pt x="504" y="77"/>
                </a:lnTo>
                <a:lnTo>
                  <a:pt x="52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Freeform 6"/>
          <p:cNvSpPr/>
          <p:nvPr/>
        </p:nvSpPr>
        <p:spPr>
          <a:xfrm>
            <a:off x="9669780" y="3253435"/>
            <a:ext cx="351130" cy="373075"/>
          </a:xfrm>
          <a:custGeom>
            <a:avLst/>
            <a:gdLst/>
            <a:ahLst/>
            <a:cxnLst/>
            <a:rect l="l" t="t" r="r" b="b"/>
            <a:pathLst>
              <a:path w="384" h="408">
                <a:moveTo>
                  <a:pt x="0" y="0"/>
                </a:moveTo>
                <a:lnTo>
                  <a:pt x="8" y="6"/>
                </a:lnTo>
                <a:lnTo>
                  <a:pt x="16" y="12"/>
                </a:lnTo>
                <a:lnTo>
                  <a:pt x="24" y="19"/>
                </a:lnTo>
                <a:lnTo>
                  <a:pt x="32" y="25"/>
                </a:lnTo>
                <a:lnTo>
                  <a:pt x="40" y="31"/>
                </a:lnTo>
                <a:lnTo>
                  <a:pt x="48" y="37"/>
                </a:lnTo>
                <a:lnTo>
                  <a:pt x="56" y="44"/>
                </a:lnTo>
                <a:lnTo>
                  <a:pt x="63" y="50"/>
                </a:lnTo>
                <a:lnTo>
                  <a:pt x="71" y="56"/>
                </a:lnTo>
                <a:lnTo>
                  <a:pt x="78" y="63"/>
                </a:lnTo>
                <a:lnTo>
                  <a:pt x="86" y="69"/>
                </a:lnTo>
                <a:lnTo>
                  <a:pt x="93" y="76"/>
                </a:lnTo>
                <a:lnTo>
                  <a:pt x="101" y="82"/>
                </a:lnTo>
                <a:lnTo>
                  <a:pt x="108" y="88"/>
                </a:lnTo>
                <a:lnTo>
                  <a:pt x="115" y="95"/>
                </a:lnTo>
                <a:lnTo>
                  <a:pt x="123" y="101"/>
                </a:lnTo>
                <a:lnTo>
                  <a:pt x="130" y="108"/>
                </a:lnTo>
                <a:lnTo>
                  <a:pt x="137" y="114"/>
                </a:lnTo>
                <a:lnTo>
                  <a:pt x="144" y="121"/>
                </a:lnTo>
                <a:lnTo>
                  <a:pt x="151" y="127"/>
                </a:lnTo>
                <a:lnTo>
                  <a:pt x="158" y="134"/>
                </a:lnTo>
                <a:lnTo>
                  <a:pt x="164" y="140"/>
                </a:lnTo>
                <a:lnTo>
                  <a:pt x="171" y="147"/>
                </a:lnTo>
                <a:lnTo>
                  <a:pt x="178" y="153"/>
                </a:lnTo>
                <a:lnTo>
                  <a:pt x="184" y="160"/>
                </a:lnTo>
                <a:lnTo>
                  <a:pt x="191" y="166"/>
                </a:lnTo>
                <a:lnTo>
                  <a:pt x="197" y="173"/>
                </a:lnTo>
                <a:lnTo>
                  <a:pt x="204" y="179"/>
                </a:lnTo>
                <a:lnTo>
                  <a:pt x="210" y="186"/>
                </a:lnTo>
                <a:lnTo>
                  <a:pt x="217" y="193"/>
                </a:lnTo>
                <a:lnTo>
                  <a:pt x="223" y="199"/>
                </a:lnTo>
                <a:lnTo>
                  <a:pt x="229" y="206"/>
                </a:lnTo>
                <a:lnTo>
                  <a:pt x="235" y="212"/>
                </a:lnTo>
                <a:lnTo>
                  <a:pt x="241" y="219"/>
                </a:lnTo>
                <a:lnTo>
                  <a:pt x="247" y="226"/>
                </a:lnTo>
                <a:lnTo>
                  <a:pt x="253" y="232"/>
                </a:lnTo>
                <a:lnTo>
                  <a:pt x="259" y="239"/>
                </a:lnTo>
                <a:lnTo>
                  <a:pt x="265" y="246"/>
                </a:lnTo>
                <a:lnTo>
                  <a:pt x="270" y="252"/>
                </a:lnTo>
                <a:lnTo>
                  <a:pt x="276" y="259"/>
                </a:lnTo>
                <a:lnTo>
                  <a:pt x="282" y="266"/>
                </a:lnTo>
                <a:lnTo>
                  <a:pt x="287" y="272"/>
                </a:lnTo>
                <a:lnTo>
                  <a:pt x="293" y="279"/>
                </a:lnTo>
                <a:lnTo>
                  <a:pt x="298" y="286"/>
                </a:lnTo>
                <a:lnTo>
                  <a:pt x="304" y="292"/>
                </a:lnTo>
                <a:lnTo>
                  <a:pt x="309" y="299"/>
                </a:lnTo>
                <a:lnTo>
                  <a:pt x="314" y="306"/>
                </a:lnTo>
                <a:lnTo>
                  <a:pt x="319" y="313"/>
                </a:lnTo>
                <a:lnTo>
                  <a:pt x="324" y="319"/>
                </a:lnTo>
                <a:lnTo>
                  <a:pt x="329" y="326"/>
                </a:lnTo>
                <a:lnTo>
                  <a:pt x="334" y="333"/>
                </a:lnTo>
                <a:lnTo>
                  <a:pt x="339" y="340"/>
                </a:lnTo>
                <a:lnTo>
                  <a:pt x="344" y="347"/>
                </a:lnTo>
                <a:lnTo>
                  <a:pt x="349" y="353"/>
                </a:lnTo>
                <a:lnTo>
                  <a:pt x="353" y="360"/>
                </a:lnTo>
                <a:lnTo>
                  <a:pt x="358" y="367"/>
                </a:lnTo>
                <a:lnTo>
                  <a:pt x="363" y="374"/>
                </a:lnTo>
                <a:lnTo>
                  <a:pt x="367" y="381"/>
                </a:lnTo>
                <a:lnTo>
                  <a:pt x="371" y="388"/>
                </a:lnTo>
                <a:lnTo>
                  <a:pt x="376" y="394"/>
                </a:lnTo>
                <a:lnTo>
                  <a:pt x="380" y="401"/>
                </a:lnTo>
                <a:lnTo>
                  <a:pt x="384"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reeform 7"/>
          <p:cNvSpPr/>
          <p:nvPr/>
        </p:nvSpPr>
        <p:spPr>
          <a:xfrm>
            <a:off x="9669780" y="4420210"/>
            <a:ext cx="351130" cy="373075"/>
          </a:xfrm>
          <a:custGeom>
            <a:avLst/>
            <a:gdLst/>
            <a:ahLst/>
            <a:cxnLst/>
            <a:rect l="l" t="t" r="r" b="b"/>
            <a:pathLst>
              <a:path w="384" h="408">
                <a:moveTo>
                  <a:pt x="384" y="0"/>
                </a:moveTo>
                <a:lnTo>
                  <a:pt x="380" y="7"/>
                </a:lnTo>
                <a:lnTo>
                  <a:pt x="376" y="14"/>
                </a:lnTo>
                <a:lnTo>
                  <a:pt x="371" y="20"/>
                </a:lnTo>
                <a:lnTo>
                  <a:pt x="367" y="27"/>
                </a:lnTo>
                <a:lnTo>
                  <a:pt x="363" y="34"/>
                </a:lnTo>
                <a:lnTo>
                  <a:pt x="358" y="41"/>
                </a:lnTo>
                <a:lnTo>
                  <a:pt x="353" y="48"/>
                </a:lnTo>
                <a:lnTo>
                  <a:pt x="349" y="55"/>
                </a:lnTo>
                <a:lnTo>
                  <a:pt x="344" y="61"/>
                </a:lnTo>
                <a:lnTo>
                  <a:pt x="339" y="68"/>
                </a:lnTo>
                <a:lnTo>
                  <a:pt x="334" y="75"/>
                </a:lnTo>
                <a:lnTo>
                  <a:pt x="329" y="82"/>
                </a:lnTo>
                <a:lnTo>
                  <a:pt x="324" y="89"/>
                </a:lnTo>
                <a:lnTo>
                  <a:pt x="319" y="95"/>
                </a:lnTo>
                <a:lnTo>
                  <a:pt x="314" y="102"/>
                </a:lnTo>
                <a:lnTo>
                  <a:pt x="309" y="109"/>
                </a:lnTo>
                <a:lnTo>
                  <a:pt x="304" y="116"/>
                </a:lnTo>
                <a:lnTo>
                  <a:pt x="298" y="122"/>
                </a:lnTo>
                <a:lnTo>
                  <a:pt x="293" y="129"/>
                </a:lnTo>
                <a:lnTo>
                  <a:pt x="287" y="136"/>
                </a:lnTo>
                <a:lnTo>
                  <a:pt x="282" y="142"/>
                </a:lnTo>
                <a:lnTo>
                  <a:pt x="276" y="149"/>
                </a:lnTo>
                <a:lnTo>
                  <a:pt x="270" y="156"/>
                </a:lnTo>
                <a:lnTo>
                  <a:pt x="265" y="162"/>
                </a:lnTo>
                <a:lnTo>
                  <a:pt x="259" y="169"/>
                </a:lnTo>
                <a:lnTo>
                  <a:pt x="253" y="176"/>
                </a:lnTo>
                <a:lnTo>
                  <a:pt x="247" y="182"/>
                </a:lnTo>
                <a:lnTo>
                  <a:pt x="241" y="189"/>
                </a:lnTo>
                <a:lnTo>
                  <a:pt x="235" y="196"/>
                </a:lnTo>
                <a:lnTo>
                  <a:pt x="229" y="202"/>
                </a:lnTo>
                <a:lnTo>
                  <a:pt x="223" y="209"/>
                </a:lnTo>
                <a:lnTo>
                  <a:pt x="217" y="215"/>
                </a:lnTo>
                <a:lnTo>
                  <a:pt x="210" y="222"/>
                </a:lnTo>
                <a:lnTo>
                  <a:pt x="204" y="229"/>
                </a:lnTo>
                <a:lnTo>
                  <a:pt x="197" y="235"/>
                </a:lnTo>
                <a:lnTo>
                  <a:pt x="191" y="242"/>
                </a:lnTo>
                <a:lnTo>
                  <a:pt x="184" y="248"/>
                </a:lnTo>
                <a:lnTo>
                  <a:pt x="178" y="255"/>
                </a:lnTo>
                <a:lnTo>
                  <a:pt x="171" y="261"/>
                </a:lnTo>
                <a:lnTo>
                  <a:pt x="164" y="268"/>
                </a:lnTo>
                <a:lnTo>
                  <a:pt x="158" y="274"/>
                </a:lnTo>
                <a:lnTo>
                  <a:pt x="151" y="281"/>
                </a:lnTo>
                <a:lnTo>
                  <a:pt x="144" y="287"/>
                </a:lnTo>
                <a:lnTo>
                  <a:pt x="137" y="294"/>
                </a:lnTo>
                <a:lnTo>
                  <a:pt x="130" y="300"/>
                </a:lnTo>
                <a:lnTo>
                  <a:pt x="123" y="307"/>
                </a:lnTo>
                <a:lnTo>
                  <a:pt x="115" y="313"/>
                </a:lnTo>
                <a:lnTo>
                  <a:pt x="108" y="320"/>
                </a:lnTo>
                <a:lnTo>
                  <a:pt x="101" y="326"/>
                </a:lnTo>
                <a:lnTo>
                  <a:pt x="93" y="332"/>
                </a:lnTo>
                <a:lnTo>
                  <a:pt x="86" y="339"/>
                </a:lnTo>
                <a:lnTo>
                  <a:pt x="78" y="345"/>
                </a:lnTo>
                <a:lnTo>
                  <a:pt x="71" y="352"/>
                </a:lnTo>
                <a:lnTo>
                  <a:pt x="63" y="358"/>
                </a:lnTo>
                <a:lnTo>
                  <a:pt x="56" y="364"/>
                </a:lnTo>
                <a:lnTo>
                  <a:pt x="48" y="371"/>
                </a:lnTo>
                <a:lnTo>
                  <a:pt x="40" y="377"/>
                </a:lnTo>
                <a:lnTo>
                  <a:pt x="32" y="383"/>
                </a:lnTo>
                <a:lnTo>
                  <a:pt x="24" y="389"/>
                </a:lnTo>
                <a:lnTo>
                  <a:pt x="16" y="396"/>
                </a:lnTo>
                <a:lnTo>
                  <a:pt x="8" y="402"/>
                </a:lnTo>
                <a:lnTo>
                  <a:pt x="0"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Freeform 8"/>
          <p:cNvSpPr/>
          <p:nvPr/>
        </p:nvSpPr>
        <p:spPr>
          <a:xfrm>
            <a:off x="7281367" y="5523890"/>
            <a:ext cx="475488" cy="72238"/>
          </a:xfrm>
          <a:custGeom>
            <a:avLst/>
            <a:gdLst/>
            <a:ahLst/>
            <a:cxnLst/>
            <a:rect l="l" t="t" r="r" b="b"/>
            <a:pathLst>
              <a:path w="520" h="79">
                <a:moveTo>
                  <a:pt x="520" y="0"/>
                </a:moveTo>
                <a:lnTo>
                  <a:pt x="504" y="2"/>
                </a:lnTo>
                <a:lnTo>
                  <a:pt x="488" y="5"/>
                </a:lnTo>
                <a:lnTo>
                  <a:pt x="472" y="8"/>
                </a:lnTo>
                <a:lnTo>
                  <a:pt x="456" y="11"/>
                </a:lnTo>
                <a:lnTo>
                  <a:pt x="440" y="14"/>
                </a:lnTo>
                <a:lnTo>
                  <a:pt x="424" y="17"/>
                </a:lnTo>
                <a:lnTo>
                  <a:pt x="408" y="19"/>
                </a:lnTo>
                <a:lnTo>
                  <a:pt x="392" y="22"/>
                </a:lnTo>
                <a:lnTo>
                  <a:pt x="376" y="25"/>
                </a:lnTo>
                <a:lnTo>
                  <a:pt x="360" y="27"/>
                </a:lnTo>
                <a:lnTo>
                  <a:pt x="344" y="30"/>
                </a:lnTo>
                <a:lnTo>
                  <a:pt x="328" y="33"/>
                </a:lnTo>
                <a:lnTo>
                  <a:pt x="312" y="35"/>
                </a:lnTo>
                <a:lnTo>
                  <a:pt x="295" y="38"/>
                </a:lnTo>
                <a:lnTo>
                  <a:pt x="279" y="40"/>
                </a:lnTo>
                <a:lnTo>
                  <a:pt x="263" y="43"/>
                </a:lnTo>
                <a:lnTo>
                  <a:pt x="247" y="45"/>
                </a:lnTo>
                <a:lnTo>
                  <a:pt x="230" y="48"/>
                </a:lnTo>
                <a:lnTo>
                  <a:pt x="214" y="50"/>
                </a:lnTo>
                <a:lnTo>
                  <a:pt x="198" y="53"/>
                </a:lnTo>
                <a:lnTo>
                  <a:pt x="181" y="55"/>
                </a:lnTo>
                <a:lnTo>
                  <a:pt x="165" y="57"/>
                </a:lnTo>
                <a:lnTo>
                  <a:pt x="148" y="60"/>
                </a:lnTo>
                <a:lnTo>
                  <a:pt x="132" y="62"/>
                </a:lnTo>
                <a:lnTo>
                  <a:pt x="115" y="64"/>
                </a:lnTo>
                <a:lnTo>
                  <a:pt x="99" y="66"/>
                </a:lnTo>
                <a:lnTo>
                  <a:pt x="82" y="69"/>
                </a:lnTo>
                <a:lnTo>
                  <a:pt x="66" y="71"/>
                </a:lnTo>
                <a:lnTo>
                  <a:pt x="49" y="73"/>
                </a:lnTo>
                <a:lnTo>
                  <a:pt x="33" y="75"/>
                </a:lnTo>
                <a:lnTo>
                  <a:pt x="16" y="77"/>
                </a:lnTo>
                <a:lnTo>
                  <a:pt x="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Freeform 9"/>
          <p:cNvSpPr/>
          <p:nvPr/>
        </p:nvSpPr>
        <p:spPr>
          <a:xfrm>
            <a:off x="4422953" y="5523890"/>
            <a:ext cx="475488" cy="72238"/>
          </a:xfrm>
          <a:custGeom>
            <a:avLst/>
            <a:gdLst/>
            <a:ahLst/>
            <a:cxnLst/>
            <a:rect l="l" t="t" r="r" b="b"/>
            <a:pathLst>
              <a:path w="520" h="79">
                <a:moveTo>
                  <a:pt x="520" y="79"/>
                </a:moveTo>
                <a:lnTo>
                  <a:pt x="504" y="77"/>
                </a:lnTo>
                <a:lnTo>
                  <a:pt x="487" y="75"/>
                </a:lnTo>
                <a:lnTo>
                  <a:pt x="471" y="73"/>
                </a:lnTo>
                <a:lnTo>
                  <a:pt x="454" y="71"/>
                </a:lnTo>
                <a:lnTo>
                  <a:pt x="438" y="69"/>
                </a:lnTo>
                <a:lnTo>
                  <a:pt x="421" y="66"/>
                </a:lnTo>
                <a:lnTo>
                  <a:pt x="405" y="64"/>
                </a:lnTo>
                <a:lnTo>
                  <a:pt x="388" y="62"/>
                </a:lnTo>
                <a:lnTo>
                  <a:pt x="372" y="60"/>
                </a:lnTo>
                <a:lnTo>
                  <a:pt x="355" y="57"/>
                </a:lnTo>
                <a:lnTo>
                  <a:pt x="339" y="55"/>
                </a:lnTo>
                <a:lnTo>
                  <a:pt x="322" y="53"/>
                </a:lnTo>
                <a:lnTo>
                  <a:pt x="306" y="50"/>
                </a:lnTo>
                <a:lnTo>
                  <a:pt x="290" y="48"/>
                </a:lnTo>
                <a:lnTo>
                  <a:pt x="273" y="45"/>
                </a:lnTo>
                <a:lnTo>
                  <a:pt x="257" y="43"/>
                </a:lnTo>
                <a:lnTo>
                  <a:pt x="241" y="40"/>
                </a:lnTo>
                <a:lnTo>
                  <a:pt x="225" y="38"/>
                </a:lnTo>
                <a:lnTo>
                  <a:pt x="208" y="35"/>
                </a:lnTo>
                <a:lnTo>
                  <a:pt x="192" y="33"/>
                </a:lnTo>
                <a:lnTo>
                  <a:pt x="176" y="30"/>
                </a:lnTo>
                <a:lnTo>
                  <a:pt x="160" y="27"/>
                </a:lnTo>
                <a:lnTo>
                  <a:pt x="144" y="25"/>
                </a:lnTo>
                <a:lnTo>
                  <a:pt x="128" y="22"/>
                </a:lnTo>
                <a:lnTo>
                  <a:pt x="112" y="19"/>
                </a:lnTo>
                <a:lnTo>
                  <a:pt x="96" y="17"/>
                </a:lnTo>
                <a:lnTo>
                  <a:pt x="80" y="14"/>
                </a:lnTo>
                <a:lnTo>
                  <a:pt x="64" y="11"/>
                </a:lnTo>
                <a:lnTo>
                  <a:pt x="48" y="8"/>
                </a:lnTo>
                <a:lnTo>
                  <a:pt x="32" y="5"/>
                </a:lnTo>
                <a:lnTo>
                  <a:pt x="16" y="2"/>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Freeform 10"/>
          <p:cNvSpPr/>
          <p:nvPr/>
        </p:nvSpPr>
        <p:spPr>
          <a:xfrm>
            <a:off x="2158898" y="4420210"/>
            <a:ext cx="351130" cy="373075"/>
          </a:xfrm>
          <a:custGeom>
            <a:avLst/>
            <a:gdLst/>
            <a:ahLst/>
            <a:cxnLst/>
            <a:rect l="l" t="t" r="r" b="b"/>
            <a:pathLst>
              <a:path w="384" h="408">
                <a:moveTo>
                  <a:pt x="384" y="408"/>
                </a:moveTo>
                <a:lnTo>
                  <a:pt x="376" y="402"/>
                </a:lnTo>
                <a:lnTo>
                  <a:pt x="368" y="396"/>
                </a:lnTo>
                <a:lnTo>
                  <a:pt x="360" y="389"/>
                </a:lnTo>
                <a:lnTo>
                  <a:pt x="352" y="383"/>
                </a:lnTo>
                <a:lnTo>
                  <a:pt x="344" y="377"/>
                </a:lnTo>
                <a:lnTo>
                  <a:pt x="336" y="371"/>
                </a:lnTo>
                <a:lnTo>
                  <a:pt x="328" y="364"/>
                </a:lnTo>
                <a:lnTo>
                  <a:pt x="321" y="358"/>
                </a:lnTo>
                <a:lnTo>
                  <a:pt x="313" y="352"/>
                </a:lnTo>
                <a:lnTo>
                  <a:pt x="306" y="345"/>
                </a:lnTo>
                <a:lnTo>
                  <a:pt x="298" y="339"/>
                </a:lnTo>
                <a:lnTo>
                  <a:pt x="291" y="332"/>
                </a:lnTo>
                <a:lnTo>
                  <a:pt x="283" y="326"/>
                </a:lnTo>
                <a:lnTo>
                  <a:pt x="276" y="320"/>
                </a:lnTo>
                <a:lnTo>
                  <a:pt x="269" y="313"/>
                </a:lnTo>
                <a:lnTo>
                  <a:pt x="261" y="307"/>
                </a:lnTo>
                <a:lnTo>
                  <a:pt x="254" y="300"/>
                </a:lnTo>
                <a:lnTo>
                  <a:pt x="247" y="294"/>
                </a:lnTo>
                <a:lnTo>
                  <a:pt x="240" y="287"/>
                </a:lnTo>
                <a:lnTo>
                  <a:pt x="233" y="281"/>
                </a:lnTo>
                <a:lnTo>
                  <a:pt x="226" y="274"/>
                </a:lnTo>
                <a:lnTo>
                  <a:pt x="220" y="268"/>
                </a:lnTo>
                <a:lnTo>
                  <a:pt x="213" y="261"/>
                </a:lnTo>
                <a:lnTo>
                  <a:pt x="206" y="255"/>
                </a:lnTo>
                <a:lnTo>
                  <a:pt x="200" y="248"/>
                </a:lnTo>
                <a:lnTo>
                  <a:pt x="193" y="242"/>
                </a:lnTo>
                <a:lnTo>
                  <a:pt x="187" y="235"/>
                </a:lnTo>
                <a:lnTo>
                  <a:pt x="180" y="229"/>
                </a:lnTo>
                <a:lnTo>
                  <a:pt x="174" y="222"/>
                </a:lnTo>
                <a:lnTo>
                  <a:pt x="167" y="215"/>
                </a:lnTo>
                <a:lnTo>
                  <a:pt x="161" y="209"/>
                </a:lnTo>
                <a:lnTo>
                  <a:pt x="155" y="202"/>
                </a:lnTo>
                <a:lnTo>
                  <a:pt x="149" y="196"/>
                </a:lnTo>
                <a:lnTo>
                  <a:pt x="143" y="189"/>
                </a:lnTo>
                <a:lnTo>
                  <a:pt x="137" y="182"/>
                </a:lnTo>
                <a:lnTo>
                  <a:pt x="131" y="176"/>
                </a:lnTo>
                <a:lnTo>
                  <a:pt x="125" y="169"/>
                </a:lnTo>
                <a:lnTo>
                  <a:pt x="119" y="162"/>
                </a:lnTo>
                <a:lnTo>
                  <a:pt x="114" y="156"/>
                </a:lnTo>
                <a:lnTo>
                  <a:pt x="108" y="149"/>
                </a:lnTo>
                <a:lnTo>
                  <a:pt x="102" y="142"/>
                </a:lnTo>
                <a:lnTo>
                  <a:pt x="97" y="136"/>
                </a:lnTo>
                <a:lnTo>
                  <a:pt x="91" y="129"/>
                </a:lnTo>
                <a:lnTo>
                  <a:pt x="86" y="122"/>
                </a:lnTo>
                <a:lnTo>
                  <a:pt x="80" y="116"/>
                </a:lnTo>
                <a:lnTo>
                  <a:pt x="75" y="109"/>
                </a:lnTo>
                <a:lnTo>
                  <a:pt x="70" y="102"/>
                </a:lnTo>
                <a:lnTo>
                  <a:pt x="65" y="95"/>
                </a:lnTo>
                <a:lnTo>
                  <a:pt x="60" y="89"/>
                </a:lnTo>
                <a:lnTo>
                  <a:pt x="55" y="82"/>
                </a:lnTo>
                <a:lnTo>
                  <a:pt x="50" y="75"/>
                </a:lnTo>
                <a:lnTo>
                  <a:pt x="45" y="68"/>
                </a:lnTo>
                <a:lnTo>
                  <a:pt x="40" y="61"/>
                </a:lnTo>
                <a:lnTo>
                  <a:pt x="35" y="55"/>
                </a:lnTo>
                <a:lnTo>
                  <a:pt x="31" y="48"/>
                </a:lnTo>
                <a:lnTo>
                  <a:pt x="26" y="41"/>
                </a:lnTo>
                <a:lnTo>
                  <a:pt x="21" y="34"/>
                </a:lnTo>
                <a:lnTo>
                  <a:pt x="17" y="27"/>
                </a:lnTo>
                <a:lnTo>
                  <a:pt x="13" y="20"/>
                </a:lnTo>
                <a:lnTo>
                  <a:pt x="8" y="14"/>
                </a:lnTo>
                <a:lnTo>
                  <a:pt x="4" y="7"/>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Freeform 11"/>
          <p:cNvSpPr/>
          <p:nvPr/>
        </p:nvSpPr>
        <p:spPr>
          <a:xfrm>
            <a:off x="2158898" y="3253435"/>
            <a:ext cx="351130" cy="373075"/>
          </a:xfrm>
          <a:custGeom>
            <a:avLst/>
            <a:gdLst/>
            <a:ahLst/>
            <a:cxnLst/>
            <a:rect l="l" t="t" r="r" b="b"/>
            <a:pathLst>
              <a:path w="384" h="408">
                <a:moveTo>
                  <a:pt x="0" y="408"/>
                </a:moveTo>
                <a:lnTo>
                  <a:pt x="4" y="401"/>
                </a:lnTo>
                <a:lnTo>
                  <a:pt x="8" y="394"/>
                </a:lnTo>
                <a:lnTo>
                  <a:pt x="13" y="388"/>
                </a:lnTo>
                <a:lnTo>
                  <a:pt x="17" y="381"/>
                </a:lnTo>
                <a:lnTo>
                  <a:pt x="21" y="374"/>
                </a:lnTo>
                <a:lnTo>
                  <a:pt x="26" y="367"/>
                </a:lnTo>
                <a:lnTo>
                  <a:pt x="31" y="360"/>
                </a:lnTo>
                <a:lnTo>
                  <a:pt x="35" y="353"/>
                </a:lnTo>
                <a:lnTo>
                  <a:pt x="40" y="347"/>
                </a:lnTo>
                <a:lnTo>
                  <a:pt x="45" y="340"/>
                </a:lnTo>
                <a:lnTo>
                  <a:pt x="50" y="333"/>
                </a:lnTo>
                <a:lnTo>
                  <a:pt x="55" y="326"/>
                </a:lnTo>
                <a:lnTo>
                  <a:pt x="60" y="319"/>
                </a:lnTo>
                <a:lnTo>
                  <a:pt x="65" y="313"/>
                </a:lnTo>
                <a:lnTo>
                  <a:pt x="70" y="306"/>
                </a:lnTo>
                <a:lnTo>
                  <a:pt x="75" y="299"/>
                </a:lnTo>
                <a:lnTo>
                  <a:pt x="80" y="292"/>
                </a:lnTo>
                <a:lnTo>
                  <a:pt x="86" y="286"/>
                </a:lnTo>
                <a:lnTo>
                  <a:pt x="91" y="279"/>
                </a:lnTo>
                <a:lnTo>
                  <a:pt x="97" y="272"/>
                </a:lnTo>
                <a:lnTo>
                  <a:pt x="102" y="266"/>
                </a:lnTo>
                <a:lnTo>
                  <a:pt x="108" y="259"/>
                </a:lnTo>
                <a:lnTo>
                  <a:pt x="114" y="252"/>
                </a:lnTo>
                <a:lnTo>
                  <a:pt x="119" y="246"/>
                </a:lnTo>
                <a:lnTo>
                  <a:pt x="125" y="239"/>
                </a:lnTo>
                <a:lnTo>
                  <a:pt x="131" y="232"/>
                </a:lnTo>
                <a:lnTo>
                  <a:pt x="137" y="226"/>
                </a:lnTo>
                <a:lnTo>
                  <a:pt x="143" y="219"/>
                </a:lnTo>
                <a:lnTo>
                  <a:pt x="149" y="212"/>
                </a:lnTo>
                <a:lnTo>
                  <a:pt x="155" y="206"/>
                </a:lnTo>
                <a:lnTo>
                  <a:pt x="161" y="199"/>
                </a:lnTo>
                <a:lnTo>
                  <a:pt x="167" y="193"/>
                </a:lnTo>
                <a:lnTo>
                  <a:pt x="174" y="186"/>
                </a:lnTo>
                <a:lnTo>
                  <a:pt x="180" y="179"/>
                </a:lnTo>
                <a:lnTo>
                  <a:pt x="187" y="173"/>
                </a:lnTo>
                <a:lnTo>
                  <a:pt x="193" y="166"/>
                </a:lnTo>
                <a:lnTo>
                  <a:pt x="200" y="160"/>
                </a:lnTo>
                <a:lnTo>
                  <a:pt x="206" y="153"/>
                </a:lnTo>
                <a:lnTo>
                  <a:pt x="213" y="147"/>
                </a:lnTo>
                <a:lnTo>
                  <a:pt x="220" y="140"/>
                </a:lnTo>
                <a:lnTo>
                  <a:pt x="226" y="134"/>
                </a:lnTo>
                <a:lnTo>
                  <a:pt x="233" y="127"/>
                </a:lnTo>
                <a:lnTo>
                  <a:pt x="240" y="121"/>
                </a:lnTo>
                <a:lnTo>
                  <a:pt x="247" y="114"/>
                </a:lnTo>
                <a:lnTo>
                  <a:pt x="254" y="108"/>
                </a:lnTo>
                <a:lnTo>
                  <a:pt x="261" y="101"/>
                </a:lnTo>
                <a:lnTo>
                  <a:pt x="269" y="95"/>
                </a:lnTo>
                <a:lnTo>
                  <a:pt x="276" y="88"/>
                </a:lnTo>
                <a:lnTo>
                  <a:pt x="283" y="82"/>
                </a:lnTo>
                <a:lnTo>
                  <a:pt x="291" y="76"/>
                </a:lnTo>
                <a:lnTo>
                  <a:pt x="298" y="69"/>
                </a:lnTo>
                <a:lnTo>
                  <a:pt x="306" y="63"/>
                </a:lnTo>
                <a:lnTo>
                  <a:pt x="313" y="56"/>
                </a:lnTo>
                <a:lnTo>
                  <a:pt x="321" y="50"/>
                </a:lnTo>
                <a:lnTo>
                  <a:pt x="328" y="44"/>
                </a:lnTo>
                <a:lnTo>
                  <a:pt x="336" y="37"/>
                </a:lnTo>
                <a:lnTo>
                  <a:pt x="344" y="31"/>
                </a:lnTo>
                <a:lnTo>
                  <a:pt x="352" y="25"/>
                </a:lnTo>
                <a:lnTo>
                  <a:pt x="360" y="19"/>
                </a:lnTo>
                <a:lnTo>
                  <a:pt x="368" y="12"/>
                </a:lnTo>
                <a:lnTo>
                  <a:pt x="376" y="6"/>
                </a:lnTo>
                <a:lnTo>
                  <a:pt x="384"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reeform 12"/>
          <p:cNvSpPr/>
          <p:nvPr/>
        </p:nvSpPr>
        <p:spPr>
          <a:xfrm>
            <a:off x="4422953" y="2450592"/>
            <a:ext cx="475488" cy="72238"/>
          </a:xfrm>
          <a:custGeom>
            <a:avLst/>
            <a:gdLst/>
            <a:ahLst/>
            <a:cxnLst/>
            <a:rect l="l" t="t" r="r" b="b"/>
            <a:pathLst>
              <a:path w="520" h="79">
                <a:moveTo>
                  <a:pt x="0" y="79"/>
                </a:moveTo>
                <a:lnTo>
                  <a:pt x="16" y="77"/>
                </a:lnTo>
                <a:lnTo>
                  <a:pt x="32" y="74"/>
                </a:lnTo>
                <a:lnTo>
                  <a:pt x="48" y="71"/>
                </a:lnTo>
                <a:lnTo>
                  <a:pt x="64" y="68"/>
                </a:lnTo>
                <a:lnTo>
                  <a:pt x="80" y="65"/>
                </a:lnTo>
                <a:lnTo>
                  <a:pt x="96" y="62"/>
                </a:lnTo>
                <a:lnTo>
                  <a:pt x="112" y="60"/>
                </a:lnTo>
                <a:lnTo>
                  <a:pt x="128" y="57"/>
                </a:lnTo>
                <a:lnTo>
                  <a:pt x="144" y="54"/>
                </a:lnTo>
                <a:lnTo>
                  <a:pt x="160" y="52"/>
                </a:lnTo>
                <a:lnTo>
                  <a:pt x="176" y="49"/>
                </a:lnTo>
                <a:lnTo>
                  <a:pt x="192" y="46"/>
                </a:lnTo>
                <a:lnTo>
                  <a:pt x="208" y="44"/>
                </a:lnTo>
                <a:lnTo>
                  <a:pt x="225" y="41"/>
                </a:lnTo>
                <a:lnTo>
                  <a:pt x="241" y="39"/>
                </a:lnTo>
                <a:lnTo>
                  <a:pt x="257" y="36"/>
                </a:lnTo>
                <a:lnTo>
                  <a:pt x="273" y="34"/>
                </a:lnTo>
                <a:lnTo>
                  <a:pt x="290" y="31"/>
                </a:lnTo>
                <a:lnTo>
                  <a:pt x="306" y="29"/>
                </a:lnTo>
                <a:lnTo>
                  <a:pt x="322" y="26"/>
                </a:lnTo>
                <a:lnTo>
                  <a:pt x="339" y="24"/>
                </a:lnTo>
                <a:lnTo>
                  <a:pt x="355" y="22"/>
                </a:lnTo>
                <a:lnTo>
                  <a:pt x="372" y="19"/>
                </a:lnTo>
                <a:lnTo>
                  <a:pt x="388" y="17"/>
                </a:lnTo>
                <a:lnTo>
                  <a:pt x="405" y="15"/>
                </a:lnTo>
                <a:lnTo>
                  <a:pt x="421" y="13"/>
                </a:lnTo>
                <a:lnTo>
                  <a:pt x="438" y="10"/>
                </a:lnTo>
                <a:lnTo>
                  <a:pt x="454" y="8"/>
                </a:lnTo>
                <a:lnTo>
                  <a:pt x="471" y="6"/>
                </a:lnTo>
                <a:lnTo>
                  <a:pt x="487" y="4"/>
                </a:lnTo>
                <a:lnTo>
                  <a:pt x="504" y="2"/>
                </a:lnTo>
                <a:lnTo>
                  <a:pt x="520" y="0"/>
                </a:lnTo>
              </a:path>
            </a:pathLst>
          </a:custGeom>
          <a:noFill/>
          <a:ln w="31750">
            <a:solidFill>
              <a:srgbClr val="F97316"/>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ifecycle: Request"/>
          <p:cNvSpPr/>
          <p:nvPr/>
        </p:nvSpPr>
        <p:spPr>
          <a:xfrm>
            <a:off x="4946904" y="2029968"/>
            <a:ext cx="2286000" cy="694944"/>
          </a:xfrm>
          <a:prstGeom prst="roundRect">
            <a:avLst>
              <a:gd name="adj" fmla="val 12000"/>
            </a:avLst>
          </a:prstGeom>
          <a:solidFill>
            <a:srgbClr val="FFFFFF"/>
          </a:solidFill>
          <a:ln w="254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66507" y="2206264"/>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5134904" y="2447665"/>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134904" y="2447665"/>
            <a:ext cx="84491"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136916"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225430"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313944"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Request"/>
          <p:cNvSpPr txBox="1"/>
          <p:nvPr/>
        </p:nvSpPr>
        <p:spPr>
          <a:xfrm>
            <a:off x="5504688" y="210312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Request</a:t>
            </a:r>
          </a:p>
        </p:txBody>
      </p:sp>
      <p:sp>
        <p:nvSpPr>
          <p:cNvPr id="22" name="Lifecycle: Requirements"/>
          <p:cNvSpPr/>
          <p:nvPr/>
        </p:nvSpPr>
        <p:spPr>
          <a:xfrm>
            <a:off x="7811246"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979130" y="2668226"/>
            <a:ext cx="249448" cy="34600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8027410" y="2776857"/>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027410" y="2841230"/>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027410" y="2909627"/>
            <a:ext cx="104608"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7" name="Text: Requirements"/>
          <p:cNvSpPr txBox="1"/>
          <p:nvPr/>
        </p:nvSpPr>
        <p:spPr>
          <a:xfrm>
            <a:off x="8369030"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Requirements</a:t>
            </a:r>
          </a:p>
        </p:txBody>
      </p:sp>
      <p:sp>
        <p:nvSpPr>
          <p:cNvPr id="28" name="Lifecycle: Model"/>
          <p:cNvSpPr/>
          <p:nvPr/>
        </p:nvSpPr>
        <p:spPr>
          <a:xfrm>
            <a:off x="8997696"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
          <p:cNvSpPr txBox="1"/>
          <p:nvPr/>
        </p:nvSpPr>
        <p:spPr>
          <a:xfrm>
            <a:off x="9089136" y="3803904"/>
            <a:ext cx="402336" cy="402336"/>
          </a:xfrm>
          <a:prstGeom prst="rect">
            <a:avLst/>
          </a:prstGeom>
          <a:noFill/>
        </p:spPr>
        <p:txBody>
          <a:bodyPr wrap="square" lIns="0" tIns="0" rIns="0" bIns="0" anchor="ctr">
            <a:noAutofit/>
          </a:bodyPr>
          <a:lstStyle/>
          <a:p>
            <a:pPr algn="ctr">
              <a:lnSpc>
                <a:spcPct val="106000"/>
              </a:lnSpc>
              <a:spcBef>
                <a:spcPts val="0"/>
              </a:spcBef>
              <a:spcAft>
                <a:spcPts val="0"/>
              </a:spcAft>
            </a:pPr>
            <a:r>
              <a:rPr sz="2023" b="0">
                <a:solidFill>
                  <a:srgbClr val="0F2343"/>
                </a:solidFill>
                <a:latin typeface="Cambria Math"/>
              </a:rPr>
              <a:t>∑</a:t>
            </a:r>
          </a:p>
        </p:txBody>
      </p:sp>
      <p:sp>
        <p:nvSpPr>
          <p:cNvPr id="30" name="Text: Model"/>
          <p:cNvSpPr txBox="1"/>
          <p:nvPr/>
        </p:nvSpPr>
        <p:spPr>
          <a:xfrm>
            <a:off x="9555480"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Model</a:t>
            </a:r>
          </a:p>
        </p:txBody>
      </p:sp>
      <p:sp>
        <p:nvSpPr>
          <p:cNvPr id="31" name="Lifecycle: Design &amp; code"/>
          <p:cNvSpPr/>
          <p:nvPr/>
        </p:nvSpPr>
        <p:spPr>
          <a:xfrm>
            <a:off x="7811246"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2" name="Connector 31"/>
          <p:cNvCxnSpPr/>
          <p:nvPr/>
        </p:nvCxnSpPr>
        <p:spPr>
          <a:xfrm flipH="1">
            <a:off x="7942920"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42920"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184321"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8184321"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8071667" y="5028095"/>
            <a:ext cx="68397" cy="281635"/>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7" name="Text: Design &amp; code"/>
          <p:cNvSpPr txBox="1"/>
          <p:nvPr/>
        </p:nvSpPr>
        <p:spPr>
          <a:xfrm>
            <a:off x="8369030"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Design &amp; code</a:t>
            </a:r>
          </a:p>
        </p:txBody>
      </p:sp>
      <p:sp>
        <p:nvSpPr>
          <p:cNvPr id="38" name="Lifecycle: Tests"/>
          <p:cNvSpPr/>
          <p:nvPr/>
        </p:nvSpPr>
        <p:spPr>
          <a:xfrm>
            <a:off x="4946904" y="532180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090647" y="5490057"/>
            <a:ext cx="297728" cy="32186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0" name="Connector 39"/>
          <p:cNvCxnSpPr/>
          <p:nvPr/>
        </p:nvCxnSpPr>
        <p:spPr>
          <a:xfrm>
            <a:off x="5150998" y="5646968"/>
            <a:ext cx="64373" cy="6437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215371" y="5570524"/>
            <a:ext cx="116678" cy="140818"/>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2" name="Text: Tests"/>
          <p:cNvSpPr txBox="1"/>
          <p:nvPr/>
        </p:nvSpPr>
        <p:spPr>
          <a:xfrm>
            <a:off x="5504688" y="539496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Tests</a:t>
            </a:r>
          </a:p>
        </p:txBody>
      </p:sp>
      <p:sp>
        <p:nvSpPr>
          <p:cNvPr id="43" name="Lifecycle: Deploy"/>
          <p:cNvSpPr/>
          <p:nvPr/>
        </p:nvSpPr>
        <p:spPr>
          <a:xfrm>
            <a:off x="2082561"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2226305" y="5168913"/>
            <a:ext cx="297728" cy="16093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5" name="Connector 44"/>
          <p:cNvCxnSpPr/>
          <p:nvPr/>
        </p:nvCxnSpPr>
        <p:spPr>
          <a:xfrm>
            <a:off x="2375169" y="5007978"/>
            <a:ext cx="0" cy="217262"/>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286655"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375169"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8" name="Text: Deploy"/>
          <p:cNvSpPr txBox="1"/>
          <p:nvPr/>
        </p:nvSpPr>
        <p:spPr>
          <a:xfrm>
            <a:off x="2640345"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Deploy</a:t>
            </a:r>
          </a:p>
        </p:txBody>
      </p:sp>
      <p:sp>
        <p:nvSpPr>
          <p:cNvPr id="49" name="Lifecycle: Use"/>
          <p:cNvSpPr/>
          <p:nvPr/>
        </p:nvSpPr>
        <p:spPr>
          <a:xfrm>
            <a:off x="896112"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124346" y="3824020"/>
            <a:ext cx="128747" cy="128747"/>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084112" y="3988978"/>
            <a:ext cx="209214" cy="197144"/>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 Use"/>
          <p:cNvSpPr txBox="1"/>
          <p:nvPr/>
        </p:nvSpPr>
        <p:spPr>
          <a:xfrm>
            <a:off x="1453896"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Use</a:t>
            </a:r>
          </a:p>
        </p:txBody>
      </p:sp>
      <p:sp>
        <p:nvSpPr>
          <p:cNvPr id="53" name="Lifecycle: Feedback"/>
          <p:cNvSpPr/>
          <p:nvPr/>
        </p:nvSpPr>
        <p:spPr>
          <a:xfrm>
            <a:off x="2082561"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2202165" y="2688343"/>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5" name="Connector 54"/>
          <p:cNvCxnSpPr/>
          <p:nvPr/>
        </p:nvCxnSpPr>
        <p:spPr>
          <a:xfrm>
            <a:off x="2270562" y="2929744"/>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2270562" y="2929744"/>
            <a:ext cx="8449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2272573"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361087"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449601"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 Feedback"/>
          <p:cNvSpPr txBox="1"/>
          <p:nvPr/>
        </p:nvSpPr>
        <p:spPr>
          <a:xfrm>
            <a:off x="2640345"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Feedback</a:t>
            </a:r>
          </a:p>
        </p:txBody>
      </p:sp>
      <p:sp>
        <p:nvSpPr>
          <p:cNvPr id="61" name="Text: Validation"/>
          <p:cNvSpPr txBox="1"/>
          <p:nvPr/>
        </p:nvSpPr>
        <p:spPr>
          <a:xfrm>
            <a:off x="7955279" y="1901952"/>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Validation</a:t>
            </a:r>
          </a:p>
        </p:txBody>
      </p:sp>
      <p:sp>
        <p:nvSpPr>
          <p:cNvPr id="62" name="Text: Verification"/>
          <p:cNvSpPr txBox="1"/>
          <p:nvPr/>
        </p:nvSpPr>
        <p:spPr>
          <a:xfrm>
            <a:off x="7955279" y="5806440"/>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Verification</a:t>
            </a:r>
          </a:p>
        </p:txBody>
      </p:sp>
      <p:cxnSp>
        <p:nvCxnSpPr>
          <p:cNvPr id="63" name="Connector 62"/>
          <p:cNvCxnSpPr/>
          <p:nvPr/>
        </p:nvCxnSpPr>
        <p:spPr>
          <a:xfrm>
            <a:off x="7772400" y="2295144"/>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772400"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262872"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772400" y="5669280"/>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772400"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262872"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4398264" y="2834640"/>
            <a:ext cx="3383280" cy="86868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 Can we serve more customers?"/>
          <p:cNvSpPr txBox="1"/>
          <p:nvPr/>
        </p:nvSpPr>
        <p:spPr>
          <a:xfrm>
            <a:off x="4526280" y="2907792"/>
            <a:ext cx="3127248" cy="731520"/>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0F2343"/>
                </a:solidFill>
                <a:latin typeface="Aptos"/>
              </a:rPr>
              <a:t>Can we serve more customers?</a:t>
            </a:r>
          </a:p>
        </p:txBody>
      </p:sp>
      <p:sp>
        <p:nvSpPr>
          <p:cNvPr id="71" name="Rounded Rectangle 70"/>
          <p:cNvSpPr/>
          <p:nvPr/>
        </p:nvSpPr>
        <p:spPr>
          <a:xfrm>
            <a:off x="4443984" y="3913632"/>
            <a:ext cx="393192" cy="56692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4526280"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4526280"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4672584"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4672584"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ounded Rectangle 75"/>
          <p:cNvSpPr/>
          <p:nvPr/>
        </p:nvSpPr>
        <p:spPr>
          <a:xfrm>
            <a:off x="5001768" y="3913632"/>
            <a:ext cx="393192" cy="56692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5084064"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5084064"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230368"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5230368"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5559552"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5641848"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5641848"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5788152"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5788152"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ounded Rectangle 85"/>
          <p:cNvSpPr/>
          <p:nvPr/>
        </p:nvSpPr>
        <p:spPr>
          <a:xfrm>
            <a:off x="6117336"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6199632"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ectangle 87"/>
          <p:cNvSpPr/>
          <p:nvPr/>
        </p:nvSpPr>
        <p:spPr>
          <a:xfrm>
            <a:off x="6199632"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6345936"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6345936"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ounded Rectangle 90"/>
          <p:cNvSpPr/>
          <p:nvPr/>
        </p:nvSpPr>
        <p:spPr>
          <a:xfrm>
            <a:off x="6675120"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6757416"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Rectangle 92"/>
          <p:cNvSpPr/>
          <p:nvPr/>
        </p:nvSpPr>
        <p:spPr>
          <a:xfrm>
            <a:off x="6757416"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Rectangle 93"/>
          <p:cNvSpPr/>
          <p:nvPr/>
        </p:nvSpPr>
        <p:spPr>
          <a:xfrm>
            <a:off x="6903720"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6903720"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ounded Rectangle 95"/>
          <p:cNvSpPr/>
          <p:nvPr/>
        </p:nvSpPr>
        <p:spPr>
          <a:xfrm>
            <a:off x="7232904"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7315200"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ectangle 97"/>
          <p:cNvSpPr/>
          <p:nvPr/>
        </p:nvSpPr>
        <p:spPr>
          <a:xfrm>
            <a:off x="7315200"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Rectangle 98"/>
          <p:cNvSpPr/>
          <p:nvPr/>
        </p:nvSpPr>
        <p:spPr>
          <a:xfrm>
            <a:off x="7461504"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Rectangle 99"/>
          <p:cNvSpPr/>
          <p:nvPr/>
        </p:nvSpPr>
        <p:spPr>
          <a:xfrm>
            <a:off x="7461504"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 2 of 6 customers served"/>
          <p:cNvSpPr txBox="1"/>
          <p:nvPr/>
        </p:nvSpPr>
        <p:spPr>
          <a:xfrm>
            <a:off x="4160520" y="4681728"/>
            <a:ext cx="3822191" cy="393192"/>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2 of 6 customers served</a:t>
            </a:r>
          </a:p>
        </p:txBody>
      </p:sp>
      <p:sp>
        <p:nvSpPr>
          <p:cNvPr id="102" name="Slide Number Placeholder 101">
            <a:extLst>
              <a:ext uri="{FF2B5EF4-FFF2-40B4-BE49-F238E27FC236}">
                <a16:creationId xmlns:a16="http://schemas.microsoft.com/office/drawing/2014/main" id="{77116146-8244-C454-7F50-0DD5A05C3BD4}"/>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24FF9-4027-F573-BD83-6B12E25929C3}"/>
            </a:ext>
          </a:extLst>
        </p:cNvPr>
        <p:cNvGrpSpPr/>
        <p:nvPr/>
      </p:nvGrpSpPr>
      <p:grpSpPr>
        <a:xfrm>
          <a:off x="0" y="0"/>
          <a:ext cx="0" cy="0"/>
          <a:chOff x="0" y="0"/>
          <a:chExt cx="0" cy="0"/>
        </a:xfrm>
      </p:grpSpPr>
      <p:sp>
        <p:nvSpPr>
          <p:cNvPr id="2" name="Slide title">
            <a:extLst>
              <a:ext uri="{FF2B5EF4-FFF2-40B4-BE49-F238E27FC236}">
                <a16:creationId xmlns:a16="http://schemas.microsoft.com/office/drawing/2014/main" id="{013F7618-E48B-E31E-4FFA-5969D5609BD7}"/>
              </a:ext>
            </a:extLst>
          </p:cNvPr>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Agenda for today</a:t>
            </a:r>
            <a:endParaRPr sz="4000" b="1" dirty="0">
              <a:solidFill>
                <a:srgbClr val="0F2343"/>
              </a:solidFill>
              <a:latin typeface="Aptos Display"/>
            </a:endParaRPr>
          </a:p>
        </p:txBody>
      </p:sp>
      <p:sp>
        <p:nvSpPr>
          <p:cNvPr id="3" name="Rectangle 2">
            <a:extLst>
              <a:ext uri="{FF2B5EF4-FFF2-40B4-BE49-F238E27FC236}">
                <a16:creationId xmlns:a16="http://schemas.microsoft.com/office/drawing/2014/main" id="{87332509-9FD8-E9DB-D22D-19E8ABADC69E}"/>
              </a:ext>
            </a:extLst>
          </p:cNvPr>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B5CD0728-2AF0-DDBE-39AF-898ECA0366E1}"/>
              </a:ext>
            </a:extLst>
          </p:cNvPr>
          <p:cNvSpPr txBox="1"/>
          <p:nvPr/>
        </p:nvSpPr>
        <p:spPr>
          <a:xfrm>
            <a:off x="458724" y="1749871"/>
            <a:ext cx="11274552" cy="3807004"/>
          </a:xfrm>
          <a:prstGeom prst="rect">
            <a:avLst/>
          </a:prstGeom>
          <a:noFill/>
        </p:spPr>
        <p:txBody>
          <a:bodyPr wrap="square" tIns="0" rIns="45720" bIns="0">
            <a:spAutoFit/>
          </a:bodyPr>
          <a:lstStyle/>
          <a:p>
            <a:pPr marL="285750" indent="-285750" algn="l">
              <a:lnSpc>
                <a:spcPct val="200000"/>
              </a:lnSpc>
              <a:buFont typeface="Arial" panose="020B0604020202020204" pitchFamily="34" charset="0"/>
              <a:buChar char="•"/>
            </a:pPr>
            <a:r>
              <a:rPr lang="en-US" sz="3200" dirty="0">
                <a:solidFill>
                  <a:srgbClr val="0F2343"/>
                </a:solidFill>
                <a:latin typeface="Aptos"/>
              </a:rPr>
              <a:t>Part I – What is a decision-support system?</a:t>
            </a:r>
          </a:p>
          <a:p>
            <a:pPr marL="285750" indent="-285750" algn="l">
              <a:lnSpc>
                <a:spcPct val="200000"/>
              </a:lnSpc>
              <a:buFont typeface="Arial" panose="020B0604020202020204" pitchFamily="34" charset="0"/>
              <a:buChar char="•"/>
            </a:pPr>
            <a:r>
              <a:rPr lang="en-US" sz="3200" dirty="0">
                <a:solidFill>
                  <a:srgbClr val="0F2343"/>
                </a:solidFill>
                <a:latin typeface="Aptos"/>
              </a:rPr>
              <a:t>Part II – Are we solving the right problem?</a:t>
            </a:r>
          </a:p>
          <a:p>
            <a:pPr marL="285750" indent="-285750" algn="l">
              <a:lnSpc>
                <a:spcPct val="200000"/>
              </a:lnSpc>
              <a:buFont typeface="Arial" panose="020B0604020202020204" pitchFamily="34" charset="0"/>
              <a:buChar char="•"/>
            </a:pPr>
            <a:r>
              <a:rPr lang="en-US" sz="3200" dirty="0">
                <a:solidFill>
                  <a:srgbClr val="0F2343"/>
                </a:solidFill>
                <a:latin typeface="Aptos"/>
              </a:rPr>
              <a:t>Part III – Are we solving the problem right?</a:t>
            </a:r>
          </a:p>
          <a:p>
            <a:pPr marL="285750" indent="-285750">
              <a:lnSpc>
                <a:spcPct val="200000"/>
              </a:lnSpc>
              <a:buFont typeface="Arial" panose="020B0604020202020204" pitchFamily="34" charset="0"/>
              <a:buChar char="•"/>
            </a:pPr>
            <a:r>
              <a:rPr lang="en-US" sz="3200" b="1" dirty="0">
                <a:solidFill>
                  <a:srgbClr val="0F2343"/>
                </a:solidFill>
                <a:latin typeface="Aptos"/>
              </a:rPr>
              <a:t>Part IV – Closing &amp; conclusions</a:t>
            </a:r>
            <a:endParaRPr lang="en-US" sz="2800" b="1" dirty="0">
              <a:solidFill>
                <a:srgbClr val="0F2343"/>
              </a:solidFill>
              <a:latin typeface="Aptos"/>
            </a:endParaRPr>
          </a:p>
        </p:txBody>
      </p:sp>
      <p:sp>
        <p:nvSpPr>
          <p:cNvPr id="4" name="Slide Number Placeholder 3">
            <a:extLst>
              <a:ext uri="{FF2B5EF4-FFF2-40B4-BE49-F238E27FC236}">
                <a16:creationId xmlns:a16="http://schemas.microsoft.com/office/drawing/2014/main" id="{EC1AEB48-0B7B-54F1-7E9F-458DF40FD47D}"/>
              </a:ext>
            </a:extLst>
          </p:cNvPr>
          <p:cNvSpPr>
            <a:spLocks noGrp="1"/>
          </p:cNvSpPr>
          <p:nvPr>
            <p:ph type="sldNum" sz="quarter" idx="12"/>
          </p:nvPr>
        </p:nvSpPr>
        <p:spPr/>
        <p:txBody>
          <a:bodyPr/>
          <a:lstStyle/>
          <a:p>
            <a:fld id="{C1FF6DA9-008F-8B48-92A6-B652298478BF}" type="slidenum">
              <a:rPr lang="en-US" smtClean="0"/>
              <a:t>28</a:t>
            </a:fld>
            <a:endParaRPr lang="en-US"/>
          </a:p>
        </p:txBody>
      </p:sp>
    </p:spTree>
    <p:extLst>
      <p:ext uri="{BB962C8B-B14F-4D97-AF65-F5344CB8AC3E}">
        <p14:creationId xmlns:p14="http://schemas.microsoft.com/office/powerpoint/2010/main" val="38277499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What this profession needs</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693468" y="2776118"/>
            <a:ext cx="1367942" cy="90159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28723" y="2496312"/>
            <a:ext cx="497433" cy="279806"/>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724558" y="3087014"/>
            <a:ext cx="130576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284171" y="3009290"/>
            <a:ext cx="186537" cy="186537"/>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 Business skills"/>
          <p:cNvSpPr txBox="1"/>
          <p:nvPr/>
        </p:nvSpPr>
        <p:spPr>
          <a:xfrm>
            <a:off x="713232" y="4572000"/>
            <a:ext cx="3328416" cy="557784"/>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Business skills</a:t>
            </a:r>
          </a:p>
        </p:txBody>
      </p:sp>
      <p:sp>
        <p:nvSpPr>
          <p:cNvPr id="11" name="Rounded Rectangle 10"/>
          <p:cNvSpPr/>
          <p:nvPr/>
        </p:nvSpPr>
        <p:spPr>
          <a:xfrm>
            <a:off x="5421477" y="2496312"/>
            <a:ext cx="497433" cy="46634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260896" y="2496312"/>
            <a:ext cx="497433" cy="46634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841187" y="3304641"/>
            <a:ext cx="497433" cy="46634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5670194" y="2962656"/>
            <a:ext cx="0" cy="17099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09613" y="2962656"/>
            <a:ext cx="0" cy="17099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70194" y="3133648"/>
            <a:ext cx="839419"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89904" y="3133648"/>
            <a:ext cx="0" cy="170993"/>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18" name="Text: Software skills"/>
          <p:cNvSpPr txBox="1"/>
          <p:nvPr/>
        </p:nvSpPr>
        <p:spPr>
          <a:xfrm>
            <a:off x="4425696" y="4572000"/>
            <a:ext cx="3328416" cy="557784"/>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Software skills</a:t>
            </a:r>
          </a:p>
        </p:txBody>
      </p:sp>
      <p:sp>
        <p:nvSpPr>
          <p:cNvPr id="19" name="Oval 18"/>
          <p:cNvSpPr/>
          <p:nvPr/>
        </p:nvSpPr>
        <p:spPr>
          <a:xfrm>
            <a:off x="9087307" y="2651760"/>
            <a:ext cx="373075" cy="373075"/>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144353" y="2651760"/>
            <a:ext cx="373075" cy="373075"/>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025128" y="3133648"/>
            <a:ext cx="512978" cy="54406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066629" y="3133648"/>
            <a:ext cx="512978" cy="54406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9553651" y="2418588"/>
            <a:ext cx="497433" cy="497433"/>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398203" y="3055924"/>
            <a:ext cx="808329" cy="761695"/>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 People skills"/>
          <p:cNvSpPr txBox="1"/>
          <p:nvPr/>
        </p:nvSpPr>
        <p:spPr>
          <a:xfrm>
            <a:off x="8138160" y="4572000"/>
            <a:ext cx="3328416" cy="557784"/>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People skills</a:t>
            </a:r>
          </a:p>
        </p:txBody>
      </p:sp>
      <p:sp>
        <p:nvSpPr>
          <p:cNvPr id="26" name="Slide Number Placeholder 25">
            <a:extLst>
              <a:ext uri="{FF2B5EF4-FFF2-40B4-BE49-F238E27FC236}">
                <a16:creationId xmlns:a16="http://schemas.microsoft.com/office/drawing/2014/main" id="{006101D1-95E4-9322-AD90-0F073A2280AD}"/>
              </a:ext>
            </a:extLst>
          </p:cNvPr>
          <p:cNvSpPr>
            <a:spLocks noGrp="1"/>
          </p:cNvSpPr>
          <p:nvPr>
            <p:ph type="sldNum" sz="quarter" idx="12"/>
          </p:nvPr>
        </p:nvSpPr>
        <p:spPr/>
        <p:txBody>
          <a:bodyPr/>
          <a:lstStyle/>
          <a:p>
            <a:fld id="{C1FF6DA9-008F-8B48-92A6-B652298478BF}"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t">
            <a:noAutofit/>
          </a:bodyPr>
          <a:lstStyle/>
          <a:p>
            <a:pPr algn="l">
              <a:lnSpc>
                <a:spcPct val="106000"/>
              </a:lnSpc>
              <a:spcBef>
                <a:spcPts val="0"/>
              </a:spcBef>
              <a:spcAft>
                <a:spcPts val="0"/>
              </a:spcAft>
            </a:pPr>
            <a:r>
              <a:rPr sz="4000" b="1" dirty="0">
                <a:solidFill>
                  <a:srgbClr val="0F2343"/>
                </a:solidFill>
                <a:latin typeface="Aptos Display"/>
              </a:rPr>
              <a:t>SEFOP: where to keep learning</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46038" y="2445837"/>
            <a:ext cx="292425" cy="492130"/>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66992" y="2445837"/>
            <a:ext cx="292425" cy="492130"/>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252728" y="2460101"/>
            <a:ext cx="0" cy="51352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10229" y="2574218"/>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38315" y="2574218"/>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10229" y="2688336"/>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38315" y="2688336"/>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3" name="Text: Read the book">
            <a:hlinkClick r:id="rId3"/>
          </p:cNvPr>
          <p:cNvSpPr txBox="1"/>
          <p:nvPr/>
        </p:nvSpPr>
        <p:spPr>
          <a:xfrm>
            <a:off x="1865376" y="2359151"/>
            <a:ext cx="4224528" cy="640080"/>
          </a:xfrm>
          <a:prstGeom prst="rect">
            <a:avLst/>
          </a:prstGeom>
          <a:noFill/>
        </p:spPr>
        <p:txBody>
          <a:bodyPr wrap="square" lIns="0" tIns="0" rIns="0" bIns="0" anchor="ctr">
            <a:noAutofit/>
          </a:bodyPr>
          <a:lstStyle/>
          <a:p>
            <a:pPr algn="l">
              <a:lnSpc>
                <a:spcPct val="106000"/>
              </a:lnSpc>
              <a:spcBef>
                <a:spcPts val="0"/>
              </a:spcBef>
              <a:spcAft>
                <a:spcPts val="0"/>
              </a:spcAft>
            </a:pPr>
            <a:r>
              <a:rPr sz="2900" b="1">
                <a:solidFill>
                  <a:srgbClr val="0F2343"/>
                </a:solidFill>
                <a:latin typeface="Aptos"/>
              </a:rPr>
              <a:t>Read the book</a:t>
            </a:r>
          </a:p>
        </p:txBody>
      </p:sp>
      <p:cxnSp>
        <p:nvCxnSpPr>
          <p:cNvPr id="14" name="Connector 13"/>
          <p:cNvCxnSpPr/>
          <p:nvPr/>
        </p:nvCxnSpPr>
        <p:spPr>
          <a:xfrm flipH="1">
            <a:off x="967435" y="3748491"/>
            <a:ext cx="142646" cy="19257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7435" y="3941063"/>
            <a:ext cx="142646" cy="192573"/>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395374" y="3748491"/>
            <a:ext cx="142646" cy="19257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1395374" y="3941063"/>
            <a:ext cx="142646" cy="192573"/>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195669" y="3691432"/>
            <a:ext cx="121249" cy="499263"/>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19" name="Text: Run the workshop">
            <a:hlinkClick r:id="rId4"/>
          </p:cNvPr>
          <p:cNvSpPr txBox="1"/>
          <p:nvPr/>
        </p:nvSpPr>
        <p:spPr>
          <a:xfrm>
            <a:off x="1865376" y="3611879"/>
            <a:ext cx="4224528" cy="640080"/>
          </a:xfrm>
          <a:prstGeom prst="rect">
            <a:avLst/>
          </a:prstGeom>
          <a:noFill/>
        </p:spPr>
        <p:txBody>
          <a:bodyPr wrap="square" lIns="0" tIns="0" rIns="0" bIns="0" anchor="ctr">
            <a:noAutofit/>
          </a:bodyPr>
          <a:lstStyle/>
          <a:p>
            <a:pPr algn="l">
              <a:lnSpc>
                <a:spcPct val="106000"/>
              </a:lnSpc>
              <a:spcBef>
                <a:spcPts val="0"/>
              </a:spcBef>
              <a:spcAft>
                <a:spcPts val="0"/>
              </a:spcAft>
            </a:pPr>
            <a:r>
              <a:rPr sz="2900" b="1">
                <a:solidFill>
                  <a:srgbClr val="0F2343"/>
                </a:solidFill>
                <a:latin typeface="Aptos"/>
              </a:rPr>
              <a:t>Run the workshop</a:t>
            </a:r>
          </a:p>
        </p:txBody>
      </p:sp>
      <p:sp>
        <p:nvSpPr>
          <p:cNvPr id="20" name="Rounded Rectangle 19"/>
          <p:cNvSpPr/>
          <p:nvPr/>
        </p:nvSpPr>
        <p:spPr>
          <a:xfrm>
            <a:off x="946038" y="4922763"/>
            <a:ext cx="613379" cy="427939"/>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a:off x="1067287" y="5350703"/>
            <a:ext cx="0" cy="12838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067287" y="5350703"/>
            <a:ext cx="149779" cy="12838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070853" y="5118902"/>
            <a:ext cx="49926" cy="49926"/>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227764" y="5118902"/>
            <a:ext cx="49926" cy="49926"/>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384675" y="5118902"/>
            <a:ext cx="49926" cy="49926"/>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Ask questions">
            <a:hlinkClick r:id="rId5"/>
          </p:cNvPr>
          <p:cNvSpPr txBox="1"/>
          <p:nvPr/>
        </p:nvSpPr>
        <p:spPr>
          <a:xfrm>
            <a:off x="1865376" y="4864608"/>
            <a:ext cx="4224528" cy="640080"/>
          </a:xfrm>
          <a:prstGeom prst="rect">
            <a:avLst/>
          </a:prstGeom>
          <a:noFill/>
        </p:spPr>
        <p:txBody>
          <a:bodyPr wrap="square" lIns="0" tIns="0" rIns="0" bIns="0" anchor="ctr">
            <a:noAutofit/>
          </a:bodyPr>
          <a:lstStyle/>
          <a:p>
            <a:pPr algn="l">
              <a:lnSpc>
                <a:spcPct val="106000"/>
              </a:lnSpc>
              <a:spcBef>
                <a:spcPts val="0"/>
              </a:spcBef>
              <a:spcAft>
                <a:spcPts val="0"/>
              </a:spcAft>
            </a:pPr>
            <a:r>
              <a:rPr sz="2900" b="1">
                <a:solidFill>
                  <a:srgbClr val="0F2343"/>
                </a:solidFill>
                <a:latin typeface="Aptos"/>
              </a:rPr>
              <a:t>Ask questions</a:t>
            </a:r>
          </a:p>
        </p:txBody>
      </p:sp>
      <p:pic>
        <p:nvPicPr>
          <p:cNvPr id="27" name="training-hub-qr" descr="training hub qr"/>
          <p:cNvPicPr>
            <a:picLocks noChangeAspect="1"/>
          </p:cNvPicPr>
          <p:nvPr/>
        </p:nvPicPr>
        <p:blipFill>
          <a:blip r:embed="rId6"/>
          <a:stretch>
            <a:fillRect/>
          </a:stretch>
        </p:blipFill>
        <p:spPr>
          <a:xfrm>
            <a:off x="6867144" y="1874519"/>
            <a:ext cx="4187952" cy="4187952"/>
          </a:xfrm>
          <a:prstGeom prst="rect">
            <a:avLst/>
          </a:prstGeom>
        </p:spPr>
      </p:pic>
      <p:sp>
        <p:nvSpPr>
          <p:cNvPr id="28" name="Text: github.com/sefop/sefop-training-hub">
            <a:hlinkClick r:id="rId3"/>
          </p:cNvPr>
          <p:cNvSpPr txBox="1"/>
          <p:nvPr/>
        </p:nvSpPr>
        <p:spPr>
          <a:xfrm>
            <a:off x="6291072" y="5925312"/>
            <a:ext cx="5340096" cy="338328"/>
          </a:xfrm>
          <a:prstGeom prst="rect">
            <a:avLst/>
          </a:prstGeom>
          <a:noFill/>
        </p:spPr>
        <p:txBody>
          <a:bodyPr wrap="square" lIns="0" tIns="0" rIns="0" bIns="0" anchor="ctr">
            <a:noAutofit/>
          </a:bodyPr>
          <a:lstStyle/>
          <a:p>
            <a:pPr algn="ctr">
              <a:lnSpc>
                <a:spcPct val="106000"/>
              </a:lnSpc>
              <a:spcBef>
                <a:spcPts val="0"/>
              </a:spcBef>
              <a:spcAft>
                <a:spcPts val="0"/>
              </a:spcAft>
            </a:pPr>
            <a:r>
              <a:rPr sz="1800" b="0">
                <a:solidFill>
                  <a:srgbClr val="0F2343"/>
                </a:solidFill>
                <a:latin typeface="Aptos"/>
              </a:rPr>
              <a:t>github.com/sefop/sefop-training-hub</a:t>
            </a:r>
          </a:p>
        </p:txBody>
      </p:sp>
      <p:sp>
        <p:nvSpPr>
          <p:cNvPr id="29" name="Slide Number Placeholder 28">
            <a:extLst>
              <a:ext uri="{FF2B5EF4-FFF2-40B4-BE49-F238E27FC236}">
                <a16:creationId xmlns:a16="http://schemas.microsoft.com/office/drawing/2014/main" id="{D21CD28C-E9E2-9F36-ABBF-A579F4CAC9A6}"/>
              </a:ext>
            </a:extLst>
          </p:cNvPr>
          <p:cNvSpPr>
            <a:spLocks noGrp="1"/>
          </p:cNvSpPr>
          <p:nvPr>
            <p:ph type="sldNum" sz="quarter" idx="12"/>
          </p:nvPr>
        </p:nvSpPr>
        <p:spPr/>
        <p:txBody>
          <a:bodyPr/>
          <a:lstStyle/>
          <a:p>
            <a:fld id="{C1FF6DA9-008F-8B48-92A6-B652298478BF}"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4" name="Text: Questions?"/>
          <p:cNvSpPr txBox="1"/>
          <p:nvPr/>
        </p:nvSpPr>
        <p:spPr>
          <a:xfrm>
            <a:off x="758952" y="2551176"/>
            <a:ext cx="5650992" cy="1078992"/>
          </a:xfrm>
          <a:prstGeom prst="rect">
            <a:avLst/>
          </a:prstGeom>
          <a:noFill/>
        </p:spPr>
        <p:txBody>
          <a:bodyPr wrap="square" lIns="0" tIns="0" rIns="0" bIns="0" anchor="ctr">
            <a:noAutofit/>
          </a:bodyPr>
          <a:lstStyle/>
          <a:p>
            <a:pPr algn="l">
              <a:lnSpc>
                <a:spcPct val="106000"/>
              </a:lnSpc>
              <a:spcBef>
                <a:spcPts val="0"/>
              </a:spcBef>
              <a:spcAft>
                <a:spcPts val="0"/>
              </a:spcAft>
            </a:pPr>
            <a:r>
              <a:rPr sz="6200" b="1">
                <a:solidFill>
                  <a:srgbClr val="0F2343"/>
                </a:solidFill>
                <a:latin typeface="Aptos Display"/>
              </a:rPr>
              <a:t>Questions?</a:t>
            </a:r>
          </a:p>
        </p:txBody>
      </p:sp>
      <p:sp>
        <p:nvSpPr>
          <p:cNvPr id="5" name="Rectangle 4"/>
          <p:cNvSpPr/>
          <p:nvPr/>
        </p:nvSpPr>
        <p:spPr>
          <a:xfrm>
            <a:off x="813816" y="3950208"/>
            <a:ext cx="841248" cy="59436"/>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training-hub-qr" descr="training hub qr"/>
          <p:cNvPicPr>
            <a:picLocks noChangeAspect="1"/>
          </p:cNvPicPr>
          <p:nvPr/>
        </p:nvPicPr>
        <p:blipFill>
          <a:blip r:embed="rId3"/>
          <a:stretch>
            <a:fillRect/>
          </a:stretch>
        </p:blipFill>
        <p:spPr>
          <a:xfrm>
            <a:off x="6867144" y="1508760"/>
            <a:ext cx="4187952" cy="4187952"/>
          </a:xfrm>
          <a:prstGeom prst="rect">
            <a:avLst/>
          </a:prstGeom>
        </p:spPr>
      </p:pic>
      <p:sp>
        <p:nvSpPr>
          <p:cNvPr id="7" name="Text: github.com/sefop/sefop-training-hub">
            <a:hlinkClick r:id="rId4"/>
          </p:cNvPr>
          <p:cNvSpPr txBox="1"/>
          <p:nvPr/>
        </p:nvSpPr>
        <p:spPr>
          <a:xfrm>
            <a:off x="6291072" y="5605272"/>
            <a:ext cx="5340096" cy="338328"/>
          </a:xfrm>
          <a:prstGeom prst="rect">
            <a:avLst/>
          </a:prstGeom>
          <a:noFill/>
        </p:spPr>
        <p:txBody>
          <a:bodyPr wrap="square" lIns="0" tIns="0" rIns="0" bIns="0" anchor="ctr">
            <a:noAutofit/>
          </a:bodyPr>
          <a:lstStyle/>
          <a:p>
            <a:pPr algn="ctr">
              <a:lnSpc>
                <a:spcPct val="106000"/>
              </a:lnSpc>
              <a:spcBef>
                <a:spcPts val="0"/>
              </a:spcBef>
              <a:spcAft>
                <a:spcPts val="0"/>
              </a:spcAft>
            </a:pPr>
            <a:r>
              <a:rPr sz="1800" b="0">
                <a:solidFill>
                  <a:srgbClr val="0F2343"/>
                </a:solidFill>
                <a:latin typeface="Aptos"/>
              </a:rPr>
              <a:t>github.com/sefop/sefop-training-hub</a:t>
            </a:r>
          </a:p>
        </p:txBody>
      </p:sp>
      <p:sp>
        <p:nvSpPr>
          <p:cNvPr id="8" name="Slide Number Placeholder 7">
            <a:extLst>
              <a:ext uri="{FF2B5EF4-FFF2-40B4-BE49-F238E27FC236}">
                <a16:creationId xmlns:a16="http://schemas.microsoft.com/office/drawing/2014/main" id="{CD4DEEFE-A372-A52B-3B1F-0CB9D18A12F9}"/>
              </a:ext>
            </a:extLst>
          </p:cNvPr>
          <p:cNvSpPr>
            <a:spLocks noGrp="1"/>
          </p:cNvSpPr>
          <p:nvPr>
            <p:ph type="sldNum" sz="quarter" idx="12"/>
          </p:nvPr>
        </p:nvSpPr>
        <p:spPr/>
        <p:txBody>
          <a:bodyPr/>
          <a:lstStyle/>
          <a:p>
            <a:fld id="{C1FF6DA9-008F-8B48-92A6-B652298478BF}" type="slidenum">
              <a:rPr lang="en-US" smtClean="0"/>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4816</TotalTime>
  <Words>3030</Words>
  <Application>Microsoft Office PowerPoint</Application>
  <PresentationFormat>Widescreen</PresentationFormat>
  <Paragraphs>450</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Aptos</vt:lpstr>
      <vt:lpstr>Aptos Display</vt:lpstr>
      <vt:lpstr>Arial</vt:lpstr>
      <vt:lpstr>Calibri</vt:lpstr>
      <vt:lpstr>Cambria Math</vt:lpstr>
      <vt:lpstr>Segoe UI 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Airlines Optimization Workshop: Industry best practices for a decision-support system</dc:title>
  <dc:subject>SCTC 2026: from business requests to trustworthy decision-support software</dc:subject>
  <dc:creator>Francisco Zenteno Smith</dc:creator>
  <cp:keywords>SEFOP, SCTC 2026, operations research, software engineering, validation, verification</cp:keywords>
  <dc:description>18-slide workshop; visual decisions and presenter material: assets/slide-story.md</dc:description>
  <cp:lastModifiedBy>Francisco Zenteno Smith</cp:lastModifiedBy>
  <cp:revision>240</cp:revision>
  <dcterms:created xsi:type="dcterms:W3CDTF">2013-01-27T09:14:16Z</dcterms:created>
  <dcterms:modified xsi:type="dcterms:W3CDTF">2026-10-20T02:22:37Z</dcterms:modified>
  <cp:category/>
</cp:coreProperties>
</file>