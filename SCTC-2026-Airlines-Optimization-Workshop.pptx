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8"/>
  </p:notesMasterIdLst>
  <p:sldIdLst>
    <p:sldId id="274" r:id="rId2"/>
    <p:sldId id="256" r:id="rId3"/>
    <p:sldId id="276" r:id="rId4"/>
    <p:sldId id="275" r:id="rId5"/>
    <p:sldId id="278" r:id="rId6"/>
    <p:sldId id="277" r:id="rId7"/>
    <p:sldId id="257" r:id="rId8"/>
    <p:sldId id="258" r:id="rId9"/>
    <p:sldId id="260" r:id="rId10"/>
    <p:sldId id="261" r:id="rId11"/>
    <p:sldId id="283" r:id="rId12"/>
    <p:sldId id="259" r:id="rId13"/>
    <p:sldId id="262" r:id="rId14"/>
    <p:sldId id="263" r:id="rId15"/>
    <p:sldId id="264" r:id="rId16"/>
    <p:sldId id="284" r:id="rId17"/>
    <p:sldId id="265" r:id="rId18"/>
    <p:sldId id="266" r:id="rId19"/>
    <p:sldId id="267" r:id="rId20"/>
    <p:sldId id="268" r:id="rId21"/>
    <p:sldId id="269" r:id="rId22"/>
    <p:sldId id="270" r:id="rId23"/>
    <p:sldId id="285" r:id="rId24"/>
    <p:sldId id="271" r:id="rId25"/>
    <p:sldId id="272" r:id="rId26"/>
    <p:sldId id="273"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7316"/>
    <a:srgbClr val="07142B"/>
    <a:srgbClr val="F7F8FA"/>
    <a:srgbClr val="E9F1FB"/>
    <a:srgbClr val="F1F5F9"/>
    <a:srgbClr val="F9F2EE"/>
    <a:srgbClr val="3B82F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77119" autoAdjust="0"/>
  </p:normalViewPr>
  <p:slideViewPr>
    <p:cSldViewPr snapToGrid="0" snapToObjects="1">
      <p:cViewPr varScale="1">
        <p:scale>
          <a:sx n="81" d="100"/>
          <a:sy n="81" d="100"/>
        </p:scale>
        <p:origin x="1680"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508B69-4B04-442E-A249-3DCED873EEFA}"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0E717D-2DA7-42E8-9D35-D8C48612FADF}" type="slidenum">
              <a:rPr lang="en-US" smtClean="0"/>
              <a:t>‹#›</a:t>
            </a:fld>
            <a:endParaRPr lang="en-US"/>
          </a:p>
        </p:txBody>
      </p:sp>
    </p:spTree>
    <p:extLst>
      <p:ext uri="{BB962C8B-B14F-4D97-AF65-F5344CB8AC3E}">
        <p14:creationId xmlns:p14="http://schemas.microsoft.com/office/powerpoint/2010/main" val="1718974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FC3CA-049D-ED21-409A-D7C65A1E9B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25674-1CB4-5C65-CB8E-A48468C88E5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306E2C4-47D3-23F1-D6D9-9AF7635EFFD3}"/>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63AB952-5644-29B1-EE3A-35142298D7D1}"/>
              </a:ext>
            </a:extLst>
          </p:cNvPr>
          <p:cNvSpPr>
            <a:spLocks noGrp="1"/>
          </p:cNvSpPr>
          <p:nvPr>
            <p:ph type="sldNum" sz="quarter" idx="5"/>
          </p:nvPr>
        </p:nvSpPr>
        <p:spPr/>
      </p:sp>
    </p:spTree>
    <p:extLst>
      <p:ext uri="{BB962C8B-B14F-4D97-AF65-F5344CB8AC3E}">
        <p14:creationId xmlns:p14="http://schemas.microsoft.com/office/powerpoint/2010/main" val="2083888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B0DA5-3219-21B5-FF05-72EF0036F0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452076-553C-1F92-DE0D-E5CCD869FFC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E4BD9AC-625B-C659-2AE5-CF487F610489}"/>
              </a:ext>
            </a:extLst>
          </p:cNvPr>
          <p:cNvSpPr>
            <a:spLocks noGrp="1"/>
          </p:cNvSpPr>
          <p:nvPr>
            <p:ph type="body" sz="quarter" idx="3"/>
          </p:nvPr>
        </p:nvSpPr>
        <p:spPr/>
        <p:txBody>
          <a:bodyPr/>
          <a:lstStyle/>
          <a:p>
            <a:r>
              <a:rPr lang="en-US" dirty="0"/>
              <a:t>These are 4 big elements to create a DSS. We are only going to scratch the surface</a:t>
            </a:r>
            <a:endParaRPr dirty="0"/>
          </a:p>
        </p:txBody>
      </p:sp>
      <p:sp>
        <p:nvSpPr>
          <p:cNvPr id="4" name="Slide Number Placeholder 3">
            <a:extLst>
              <a:ext uri="{FF2B5EF4-FFF2-40B4-BE49-F238E27FC236}">
                <a16:creationId xmlns:a16="http://schemas.microsoft.com/office/drawing/2014/main" id="{2EA2F753-B632-DCD6-5785-89FCB10AC67C}"/>
              </a:ext>
            </a:extLst>
          </p:cNvPr>
          <p:cNvSpPr>
            <a:spLocks noGrp="1"/>
          </p:cNvSpPr>
          <p:nvPr>
            <p:ph type="sldNum" sz="quarter" idx="5"/>
          </p:nvPr>
        </p:nvSpPr>
        <p:spPr/>
      </p:sp>
    </p:spTree>
    <p:extLst>
      <p:ext uri="{BB962C8B-B14F-4D97-AF65-F5344CB8AC3E}">
        <p14:creationId xmlns:p14="http://schemas.microsoft.com/office/powerpoint/2010/main" val="1854418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49A71-D8D3-B13E-23AA-8B86985EE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3D7736-6D63-C3EB-16FC-1A1E69D3B78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F36A43F-9735-828D-8E7D-35BE98D6E282}"/>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5A6110A3-CF59-8354-C154-047A45BF1971}"/>
              </a:ext>
            </a:extLst>
          </p:cNvPr>
          <p:cNvSpPr>
            <a:spLocks noGrp="1"/>
          </p:cNvSpPr>
          <p:nvPr>
            <p:ph type="sldNum" sz="quarter" idx="5"/>
          </p:nvPr>
        </p:nvSpPr>
        <p:spPr/>
      </p:sp>
    </p:spTree>
    <p:extLst>
      <p:ext uri="{BB962C8B-B14F-4D97-AF65-F5344CB8AC3E}">
        <p14:creationId xmlns:p14="http://schemas.microsoft.com/office/powerpoint/2010/main" val="1402476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F740E-3CE4-68A6-CBBF-310AC75B8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CBC363-5CA3-8939-3156-321946DF119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8E2F113-88B8-78CE-F626-6437846CCA7B}"/>
              </a:ext>
            </a:extLst>
          </p:cNvPr>
          <p:cNvSpPr>
            <a:spLocks noGrp="1"/>
          </p:cNvSpPr>
          <p:nvPr>
            <p:ph type="body" sz="quarter" idx="3"/>
          </p:nvPr>
        </p:nvSpPr>
        <p:spPr/>
        <p:txBody>
          <a:bodyPr/>
          <a:lstStyle/>
          <a:p>
            <a:r>
              <a:rPr lang="en-US" dirty="0"/>
              <a:t>Implications:</a:t>
            </a:r>
          </a:p>
          <a:p>
            <a:pPr marL="171450" indent="-171450">
              <a:buFontTx/>
              <a:buChar char="-"/>
            </a:pPr>
            <a:r>
              <a:rPr lang="en-US" dirty="0"/>
              <a:t>A decision is useful if someone uses it</a:t>
            </a:r>
          </a:p>
          <a:p>
            <a:pPr marL="171450" indent="-171450">
              <a:buFontTx/>
              <a:buChar char="-"/>
            </a:pPr>
            <a:r>
              <a:rPr lang="en-US" dirty="0"/>
              <a:t>A DSS requires software because it is run recurringly</a:t>
            </a:r>
            <a:endParaRPr dirty="0"/>
          </a:p>
        </p:txBody>
      </p:sp>
      <p:sp>
        <p:nvSpPr>
          <p:cNvPr id="4" name="Slide Number Placeholder 3">
            <a:extLst>
              <a:ext uri="{FF2B5EF4-FFF2-40B4-BE49-F238E27FC236}">
                <a16:creationId xmlns:a16="http://schemas.microsoft.com/office/drawing/2014/main" id="{A8A5604D-3B0D-CE2F-4204-8804F1DF849F}"/>
              </a:ext>
            </a:extLst>
          </p:cNvPr>
          <p:cNvSpPr>
            <a:spLocks noGrp="1"/>
          </p:cNvSpPr>
          <p:nvPr>
            <p:ph type="sldNum" sz="quarter" idx="5"/>
          </p:nvPr>
        </p:nvSpPr>
        <p:spPr/>
      </p:sp>
    </p:spTree>
    <p:extLst>
      <p:ext uri="{BB962C8B-B14F-4D97-AF65-F5344CB8AC3E}">
        <p14:creationId xmlns:p14="http://schemas.microsoft.com/office/powerpoint/2010/main" val="1897749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STORY TALKING POINTS</a:t>
            </a:r>
          </a:p>
          <a:p>
            <a:r>
              <a:rPr dirty="0"/>
              <a:t>- Answer: "optimal" only means optimal for the model as it was coded. Before acting I need</a:t>
            </a:r>
            <a:r>
              <a:rPr lang="en-US" dirty="0"/>
              <a:t> </a:t>
            </a:r>
            <a:r>
              <a:rPr dirty="0"/>
              <a:t>evidence on three things:</a:t>
            </a:r>
            <a:endParaRPr lang="en-US" dirty="0"/>
          </a:p>
          <a:p>
            <a:pPr marL="171450" indent="-171450">
              <a:buFontTx/>
              <a:buChar char="-"/>
            </a:pPr>
            <a:r>
              <a:rPr lang="en-US" dirty="0"/>
              <a:t>T</a:t>
            </a:r>
            <a:r>
              <a:rPr dirty="0"/>
              <a:t>he data is correct and current</a:t>
            </a:r>
            <a:endParaRPr lang="en-US" dirty="0"/>
          </a:p>
          <a:p>
            <a:pPr marL="171450" indent="-171450">
              <a:buFontTx/>
              <a:buChar char="-"/>
            </a:pPr>
            <a:r>
              <a:rPr lang="en-US" dirty="0"/>
              <a:t>T</a:t>
            </a:r>
            <a:r>
              <a:rPr dirty="0"/>
              <a:t>he model states the business's</a:t>
            </a:r>
            <a:r>
              <a:rPr lang="en-US" dirty="0"/>
              <a:t> </a:t>
            </a:r>
            <a:r>
              <a:rPr dirty="0"/>
              <a:t>real objective and rules</a:t>
            </a:r>
            <a:endParaRPr lang="en-US" dirty="0"/>
          </a:p>
          <a:p>
            <a:pPr marL="171450" indent="-171450">
              <a:buFontTx/>
              <a:buChar char="-"/>
            </a:pPr>
            <a:r>
              <a:rPr lang="en-US" dirty="0"/>
              <a:t>T</a:t>
            </a:r>
            <a:r>
              <a:rPr dirty="0"/>
              <a:t>he software computes what the model says</a:t>
            </a:r>
            <a:endParaRPr lang="en-US" dirty="0"/>
          </a:p>
          <a:p>
            <a:pPr marL="171450" indent="-171450">
              <a:buFontTx/>
              <a:buChar char="-"/>
            </a:pPr>
            <a:endParaRPr lang="en-US" dirty="0"/>
          </a:p>
          <a:p>
            <a:pPr marL="0" indent="0">
              <a:buFontTx/>
              <a:buNone/>
            </a:pPr>
            <a:r>
              <a:rPr lang="en-US" dirty="0"/>
              <a:t>Basically: solving the right problem, and doing it right: validation &amp; verification.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STORY TALKING POINTS</a:t>
            </a:r>
          </a:p>
          <a:p>
            <a:pPr marL="171450" indent="-171450">
              <a:buFontTx/>
              <a:buChar char="-"/>
            </a:pPr>
            <a:r>
              <a:rPr lang="en-US" dirty="0"/>
              <a:t>Each translation may have errors:</a:t>
            </a:r>
          </a:p>
          <a:p>
            <a:pPr marL="171450" indent="-171450">
              <a:buFontTx/>
              <a:buChar char="-"/>
            </a:pPr>
            <a:r>
              <a:rPr lang="en-US" dirty="0"/>
              <a:t>The first one: </a:t>
            </a:r>
          </a:p>
          <a:p>
            <a:pPr marL="628650" lvl="1" indent="-171450">
              <a:buFontTx/>
              <a:buChar char="-"/>
            </a:pPr>
            <a:r>
              <a:rPr lang="en-US" dirty="0"/>
              <a:t>Misunderstanding of the business problem</a:t>
            </a:r>
          </a:p>
          <a:p>
            <a:pPr marL="628650" lvl="1" indent="-171450">
              <a:buFontTx/>
              <a:buChar char="-"/>
            </a:pPr>
            <a:r>
              <a:rPr lang="en-US" dirty="0"/>
              <a:t>Over simplification</a:t>
            </a:r>
          </a:p>
          <a:p>
            <a:pPr marL="628650" lvl="1" indent="-171450">
              <a:buFontTx/>
              <a:buChar char="-"/>
            </a:pPr>
            <a:r>
              <a:rPr lang="en-US" dirty="0"/>
              <a:t>Under simplification</a:t>
            </a:r>
          </a:p>
          <a:p>
            <a:pPr marL="171450" lvl="0" indent="-171450">
              <a:buFontTx/>
              <a:buChar char="-"/>
            </a:pPr>
            <a:r>
              <a:rPr lang="en-US" dirty="0"/>
              <a:t>The second one:</a:t>
            </a:r>
          </a:p>
          <a:p>
            <a:pPr marL="628650" lvl="1" indent="-171450">
              <a:buFontTx/>
              <a:buChar char="-"/>
            </a:pPr>
            <a:r>
              <a:rPr lang="en-US" dirty="0"/>
              <a:t>Code does not do what it is supposed to do</a:t>
            </a:r>
          </a:p>
          <a:p>
            <a:pPr marL="457200" lvl="1" indent="0">
              <a:buFontTx/>
              <a:buNone/>
            </a:pPr>
            <a:endParaRPr dirty="0"/>
          </a:p>
          <a:p>
            <a:r>
              <a:rPr dirty="0"/>
              <a:t>- Connecting idea: both kinds of evidence pass through code, so next comes why software makes them</a:t>
            </a:r>
          </a:p>
          <a:p>
            <a:r>
              <a:rPr dirty="0"/>
              <a:t>  hard to obtain and keep.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 | The big picture: working on a DSS is a cycle</a:t>
            </a:r>
          </a:p>
          <a:p>
            <a:r>
              <a:t>Suggested elapsed workshop minutes: 12–14 (90 minutes total).</a:t>
            </a:r>
          </a:p>
          <a:p>
            <a:endParaRPr/>
          </a:p>
          <a:p>
            <a:r>
              <a:t>PRESENTER GUIDE</a:t>
            </a:r>
          </a:p>
          <a:p>
            <a:r>
              <a:t>MAP: Part I introduces principles and the cargo example. Part II validates the initial request. Part III verifies the first version. Part IV returns to this same cycle for the next request and then discusses skills and resources. Explain that deployment and use matter: a change helps its user once it is in their hands. The loop is a high-level map; feedback can occur throughout it. Its arrows show a journey, not software dependencies.</a:t>
            </a:r>
          </a:p>
          <a:p>
            <a:endParaRPr/>
          </a:p>
          <a:p>
            <a:r>
              <a:t>STORY TALKING POINTS</a:t>
            </a:r>
          </a:p>
          <a:p>
            <a:r>
              <a:t>- One pass takes a request all the way to the user: a change helps the user only once it is</a:t>
            </a:r>
          </a:p>
          <a:p>
            <a:r>
              <a:t>  deployed.</a:t>
            </a:r>
          </a:p>
          <a:p>
            <a:r>
              <a:t>- Map of the workshop: Part I introduces the example; Part II validates the planner's request;</a:t>
            </a:r>
          </a:p>
          <a:p>
            <a:r>
              <a:t>  Part III verifies the first version; Part IV zooms out: the cycle runs again, then what this</a:t>
            </a:r>
          </a:p>
          <a:p>
            <a:r>
              <a:t>  profession needs and where to keep learning.</a:t>
            </a:r>
          </a:p>
          <a:p>
            <a:r>
              <a:t>- Connecting idea: to see the cycle at work, we now follow one concrete DSS round it.</a:t>
            </a:r>
          </a:p>
          <a:p>
            <a:endParaRPr/>
          </a:p>
          <a:p>
            <a:r>
              <a:t>Workshop source: assets/slide-story.md. Format reference: AGIFORS Annual Symposium 2026 deck.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06 | Our example DSS: choosing the cargo for each flight</a:t>
            </a:r>
          </a:p>
          <a:p>
            <a:r>
              <a:t>Suggested elapsed workshop minutes: 14–15 (90 minutes total).</a:t>
            </a:r>
          </a:p>
          <a:p>
            <a:endParaRPr/>
          </a:p>
          <a:p>
            <a:r>
              <a:t>PRESENTER GUIDE</a:t>
            </a:r>
          </a:p>
          <a:p>
            <a:r>
              <a:t>SETTING ONLY: For every flight, more shipments are waiting than the aircraft can carry. A load planner chooses which ones fly. Introduce no revenue objective, precise constraint, mathematical formula or selected load on this slide. Explain that what the planner wants reaches the team through a manager, which is why the audience must interview the planner next. Image: built-in imagegen, see assets/presentation/image-prompt.txt.</a:t>
            </a:r>
          </a:p>
          <a:p>
            <a:endParaRPr/>
          </a:p>
          <a:p>
            <a:r>
              <a:t>STORY TALKING POINTS</a:t>
            </a:r>
          </a:p>
          <a:p>
            <a:r>
              <a:t>- Every flight, more shipments are waiting than the aircraft can carry, and a load planner</a:t>
            </a:r>
          </a:p>
          <a:p>
            <a:r>
              <a:t>  decides which ones fly: a recurring decision, the kind a decision-support system supports.</a:t>
            </a:r>
          </a:p>
          <a:p>
            <a:r>
              <a:t>- What the planner wants from a tool is not yet clear: it reaches us second-hand.</a:t>
            </a:r>
          </a:p>
          <a:p>
            <a:r>
              <a:t>- Connecting idea: the request arrives as one vague sentence from a manager, so the audience must</a:t>
            </a:r>
          </a:p>
          <a:p>
            <a:r>
              <a:t>  find out from the planner what is really needed.</a:t>
            </a:r>
          </a:p>
          <a:p>
            <a:endParaRPr/>
          </a:p>
          <a:p>
            <a:r>
              <a:t>Workshop source: assets/slide-story.md. Format reference: AGIFORS Annual Symposium 2026 deck.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D472E-C074-5588-B3A4-1B58C67DB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EC3150-96EC-9043-DF51-290D227CD05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646C3F4-313F-48C3-69D1-FCA7EFD967D1}"/>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283A0F93-EF18-AF01-C975-9C6BCC45B4AA}"/>
              </a:ext>
            </a:extLst>
          </p:cNvPr>
          <p:cNvSpPr>
            <a:spLocks noGrp="1"/>
          </p:cNvSpPr>
          <p:nvPr>
            <p:ph type="sldNum" sz="quarter" idx="5"/>
          </p:nvPr>
        </p:nvSpPr>
        <p:spPr/>
      </p:sp>
    </p:spTree>
    <p:extLst>
      <p:ext uri="{BB962C8B-B14F-4D97-AF65-F5344CB8AC3E}">
        <p14:creationId xmlns:p14="http://schemas.microsoft.com/office/powerpoint/2010/main" val="211211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 | A decision-support system is software, so the rules of software apply</a:t>
            </a:r>
          </a:p>
          <a:p>
            <a:r>
              <a:t>Suggested elapsed workshop minutes: 10–12 (90 minutes total).</a:t>
            </a:r>
          </a:p>
          <a:p>
            <a:endParaRPr/>
          </a:p>
          <a:p>
            <a:r>
              <a:t>PRESENTER GUIDE</a:t>
            </a:r>
          </a:p>
          <a:p>
            <a:r>
              <a:t>STORIES: Geoffrey Chang’s laboratory retracted five structural-biology papers after a data-processing error inverted reported structures. The book describes swapped data columns; avoid implying that the visible paper icons are reproductions of the actual articles. Ariane 5 flight 501 was lost shortly after launch when an unhandled numeric conversion overflow in reused software disabled its inertial reference systems. Connect both to the responsibility for software, including scientific software. Sources: Greg Miller, A Scientist’s Nightmare: Software Problem Leads to Five Retractions, Science 314 (5807), 2006; J. L. Lions et al., Ariane 5 Flight 501 Failure: Report by the Inquiry Board, ESA, 1996; SEFOP book Section 03. The photograph is reused from Purdue workshop slide 6. Do not claim these are optimization-model failures; the lesson concerns software responsibility.</a:t>
            </a:r>
          </a:p>
          <a:p>
            <a:endParaRPr/>
          </a:p>
          <a:p>
            <a:r>
              <a:t>STORY TALKING POINTS</a:t>
            </a:r>
          </a:p>
          <a:p>
            <a:r>
              <a:t>- Validation and verification are hard to obtain and keep because a DSS is software: every</a:t>
            </a:r>
          </a:p>
          <a:p>
            <a:r>
              <a:t>  recommendation passes through code that reads data, builds a model and reports the result.</a:t>
            </a:r>
          </a:p>
          <a:p>
            <a:r>
              <a:t>  Software principles apply whether we know them or not: a data-processing error</a:t>
            </a:r>
          </a:p>
          <a:p>
            <a:r>
              <a:t>  led to five published papers being retracted, and an unhandled overflow in reused code destroyed the Ariane 5</a:t>
            </a:r>
          </a:p>
          <a:p>
            <a:r>
              <a:t>  rocket shortly after launch.</a:t>
            </a:r>
          </a:p>
          <a:p>
            <a:r>
              <a:t>- So trustworthy recommendations need software engineering, not only good mathematics.</a:t>
            </a:r>
          </a:p>
          <a:p>
            <a:r>
              <a:t>- Connecting idea: next, the big picture: the cycle that takes a request all the way to the user.</a:t>
            </a:r>
          </a:p>
          <a:p>
            <a:endParaRPr/>
          </a:p>
          <a:p>
            <a:r>
              <a:t>Workshop source: assets/slide-story.md. Format reference: AGIFORS Annual Symposium 2026 deck.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07 | Audience: interview the planner to find the requirements</a:t>
            </a:r>
          </a:p>
          <a:p>
            <a:r>
              <a:t>Suggested elapsed workshop minutes: 15–29 (90 minutes total).</a:t>
            </a:r>
          </a:p>
          <a:p>
            <a:endParaRPr/>
          </a:p>
          <a:p>
            <a:r>
              <a:t>PRESENTER GUIDE</a:t>
            </a:r>
          </a:p>
          <a:p>
            <a:r>
              <a:t>INTERVIEW: Francisco plays the planner and answers only what is asked. Pairs prepare two questions for one minute and ask in turn. Every pair records answers. The six prompts are guidance, not completed requirements. Translate answers into stories: As a &lt;user&gt;, I want &lt;goal&gt;, so that &lt;reason&gt;. Record the agreed stories as the discussion proceeds. Include the output and invalid-data requirements. Customer identity is input data, but customer diversity is not yet an objective. Full planner script follows below.</a:t>
            </a:r>
          </a:p>
          <a:p>
            <a:endParaRPr/>
          </a:p>
          <a:p>
            <a:r>
              <a:t>STORY TALKING POINTS</a:t>
            </a:r>
          </a:p>
          <a:p>
            <a:r>
              <a:t>- A manager says: "I heard our cargo planner wants a tool that picks the best shipments for each</a:t>
            </a:r>
          </a:p>
          <a:p>
            <a:r>
              <a:t>  flight."</a:t>
            </a:r>
          </a:p>
          <a:p>
            <a:r>
              <a:t>- Interview the planner (Francisco). Scan the answers for at least: decisions, objectives,</a:t>
            </a:r>
          </a:p>
          <a:p>
            <a:r>
              <a:t>  constraints, type of data, nature of data (deterministic or stochastic), and risks.</a:t>
            </a:r>
          </a:p>
          <a:p>
            <a:r>
              <a:t>- With your partner, prepare two questions (1 minute); pairs then ask in turn, and every pair</a:t>
            </a:r>
          </a:p>
          <a:p>
            <a:r>
              <a:t>  records the answers.</a:t>
            </a:r>
          </a:p>
          <a:p>
            <a:r>
              <a:t>- Write each requirement as a user story: "As a &lt;type of user&gt;, I want &lt;goal&gt;, so that</a:t>
            </a:r>
          </a:p>
          <a:p>
            <a:r>
              <a:t>  &lt;reason&gt;."</a:t>
            </a:r>
          </a:p>
          <a:p>
            <a:r>
              <a:t>- Answer: decision: which shipments fly, each one yes or no; objective: the most revenue per</a:t>
            </a:r>
          </a:p>
          <a:p>
            <a:r>
              <a:t>  flight; constraints: the aircraft's maximum weight is never exceeded, and a shipment flies whole</a:t>
            </a:r>
          </a:p>
          <a:p>
            <a:r>
              <a:t>  or stays; type of data: per flight the weight limit, per shipment its customer, weight and</a:t>
            </a:r>
          </a:p>
          <a:p>
            <a:r>
              <a:t>  revenue; nature of data: deterministic, since weights and revenues are booked before planning;</a:t>
            </a:r>
          </a:p>
          <a:p>
            <a:r>
              <a:t>  risks: an overweight load is a safety incident, and a wrong booking can produce a nonsense</a:t>
            </a:r>
          </a:p>
          <a:p>
            <a:r>
              <a:t>  recommendation. User stories:</a:t>
            </a:r>
          </a:p>
          <a:p>
            <a:r>
              <a:t>  - As a load planner, I want the tool to propose which shipments fly on each flight, so that the</a:t>
            </a:r>
          </a:p>
          <a:p>
            <a:r>
              <a:t>    flight earns the most revenue it can carry.</a:t>
            </a:r>
          </a:p>
          <a:p>
            <a:r>
              <a:t>  - As a load planner, I want every proposed load to stay within the aircraft's maximum weight, so</a:t>
            </a:r>
          </a:p>
          <a:p>
            <a:r>
              <a:t>    that the flight is always safe to operate.</a:t>
            </a:r>
          </a:p>
          <a:p>
            <a:r>
              <a:t>  - As a load planner, I want each shipment loaded whole or left behind, so that every proposal is</a:t>
            </a:r>
          </a:p>
          <a:p>
            <a:r>
              <a:t>    a load I can actually build.</a:t>
            </a:r>
          </a:p>
          <a:p>
            <a:r>
              <a:t>  - As a load planner, I want to see which shipments fly and which stay, with the revenue and the</a:t>
            </a:r>
          </a:p>
          <a:p>
            <a:r>
              <a:t>    weight used, so that I can check the proposal before I accept it.</a:t>
            </a:r>
          </a:p>
          <a:p>
            <a:r>
              <a:t>  - As a load planner, I want the tool to tell me when a flight's data is wrong or missing, so</a:t>
            </a:r>
          </a:p>
          <a:p>
            <a:r>
              <a:t>    that I never act on a recommendation built from bad data.</a:t>
            </a:r>
          </a:p>
          <a:p>
            <a:r>
              <a:t>- Connecting idea: user stories say what the planner wants; concrete examples of what the planner</a:t>
            </a:r>
          </a:p>
          <a:p>
            <a:r>
              <a:t>  would do make them checkable.</a:t>
            </a:r>
          </a:p>
          <a:p>
            <a:endParaRPr/>
          </a:p>
          <a:p>
            <a:r>
              <a:t>PLANNER SCRIPT (PRESENTER ONLY)</a:t>
            </a:r>
          </a:p>
          <a:p>
            <a:r>
              <a:t>For the interview on slide 7. Francisco answers only what is asked, truthfully, and says "not for</a:t>
            </a:r>
          </a:p>
          <a:p>
            <a:r>
              <a:t>now" to anything beyond version 1.</a:t>
            </a:r>
          </a:p>
          <a:p>
            <a:endParaRPr/>
          </a:p>
          <a:p>
            <a:r>
              <a:t>| If asked about | The planner says | Requirement it gives |</a:t>
            </a:r>
          </a:p>
          <a:p>
            <a:r>
              <a:t>| --- | --- | --- |</a:t>
            </a:r>
          </a:p>
          <a:p>
            <a:r>
              <a:t>| What "best" means | "I'm judged on the revenue each flight earns." | Maximize revenue |</a:t>
            </a:r>
          </a:p>
          <a:p>
            <a:r>
              <a:t>| The aircraft's weight | "There is a maximum weight. It is never exceeded; it's safety." | Hard weight limit |</a:t>
            </a:r>
          </a:p>
          <a:p>
            <a:r>
              <a:t>| Splitting a shipment | "No. A shipment flies whole or waits for a later flight." | Whole shipments |</a:t>
            </a:r>
          </a:p>
          <a:p>
            <a:r>
              <a:t>| Volume or space | "Not for now; weight is what limits us." | Out of scope |</a:t>
            </a:r>
          </a:p>
          <a:p>
            <a:r>
              <a:t>| Shipments that must fly | "None for now." | Out of scope |</a:t>
            </a:r>
          </a:p>
          <a:p>
            <a:r>
              <a:t>| Customers | "Every shipment belongs to a customer, but today I only look at revenue." | Customer in the data, not in the objective; seeds Part II |</a:t>
            </a:r>
          </a:p>
          <a:p>
            <a:r>
              <a:t>| What the tool should show | "Which shipments fly, which stay, the revenue and the weight used." | Output |</a:t>
            </a:r>
          </a:p>
          <a:p>
            <a:r>
              <a:t>| What data exists | "For each flight, the weight limit; for each shipment, customer, weight and revenue." | Inputs |</a:t>
            </a:r>
          </a:p>
          <a:p>
            <a:r>
              <a:t>| What you decide | "Which shipments fly on this flight. The aircraft, route and schedule are already fixed." | Decision: yes or no per shipment |</a:t>
            </a:r>
          </a:p>
          <a:p>
            <a:r>
              <a:t>| How sure the numbers are | "Weights and revenues are booked before I plan, so I know them exactly." | Deterministic data |</a:t>
            </a:r>
          </a:p>
          <a:p>
            <a:r>
              <a:t>| What could go wrong | "An overweight load is a safety incident; that must never happen. And a typo in a booking can make any tool recommend nonsense." | Risks: safety; bad data must be caught |</a:t>
            </a:r>
          </a:p>
          <a:p>
            <a:endParaRPr/>
          </a:p>
          <a:p>
            <a:r>
              <a:t>The "Customers" answer is deliberate: it plants the customer column that the business change in</a:t>
            </a:r>
          </a:p>
          <a:p>
            <a:r>
              <a:t>Part II turns into a new objective.</a:t>
            </a:r>
          </a:p>
          <a:p>
            <a:endParaRPr/>
          </a:p>
          <a:p>
            <a:r>
              <a:t>Workshop source: assets/slide-story.md. Format reference: AGIFORS Annual Symposium 2026 deck.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08 | Examples show what the planner would do</a:t>
            </a:r>
          </a:p>
          <a:p>
            <a:r>
              <a:t>Suggested elapsed workshop minutes: 29–35 (90 minutes total).</a:t>
            </a:r>
          </a:p>
          <a:p>
            <a:endParaRPr/>
          </a:p>
          <a:p>
            <a:r>
              <a:t>PRESENTER GUIDE</a:t>
            </a:r>
          </a:p>
          <a:p>
            <a:r>
              <a:t>EXPLAIN BOTH EXAMPLES. In example 1, the most valuable individual shipment fills the aircraft but earns less than Bighorn and Cedar together. In example 2, the 900 kg shipment cannot fly, and the two 300 kg shipments cannot fly together. Atlas alone is the expected choice. Each situation and expected choice is an acceptance criterion. These are invented teaching cases; they are not claims about real customer bookings.</a:t>
            </a:r>
          </a:p>
          <a:p>
            <a:endParaRPr/>
          </a:p>
          <a:p>
            <a:r>
              <a:t>STORY TALKING POINTS</a:t>
            </a:r>
          </a:p>
          <a:p>
            <a:r>
              <a:t>- Example 1, weight limit 500 kg. Atlas Steel 500 kg, $3,000; Bighorn Auto 250 kg, $2,000; Cedar</a:t>
            </a:r>
          </a:p>
          <a:p>
            <a:r>
              <a:t>  Pharma 250 kg, $1,800. The planner loads Bighorn and Cedar: $3,800 and 500 kg, more than the</a:t>
            </a:r>
          </a:p>
          <a:p>
            <a:r>
              <a:t>  single most valuable shipment would earn.</a:t>
            </a:r>
          </a:p>
          <a:p>
            <a:r>
              <a:t>- Example 2, weight limit 500 kg. Atlas Steel 300 kg, $3,000; Bighorn Auto 900 kg, $9,000; Cedar</a:t>
            </a:r>
          </a:p>
          <a:p>
            <a:r>
              <a:t>  Pharma 300 kg, $800. Bighorn can never fly on this aircraft, however valuable; Atlas and Cedar</a:t>
            </a:r>
          </a:p>
          <a:p>
            <a:r>
              <a:t>  together weigh 600 kg, so only Atlas flies: $3,000 and 300 kg.</a:t>
            </a:r>
          </a:p>
          <a:p>
            <a:r>
              <a:t>- Each example is an acceptance criterion: a situation and the decision the planner expects. This</a:t>
            </a:r>
          </a:p>
          <a:p>
            <a:r>
              <a:t>  is how validation becomes checkable.</a:t>
            </a:r>
          </a:p>
          <a:p>
            <a:r>
              <a:t>- Connecting idea: the user stories and examples now become mathematics, the first translation,</a:t>
            </a:r>
          </a:p>
          <a:p>
            <a:r>
              <a:t>  from business problem to math model.</a:t>
            </a:r>
          </a:p>
          <a:p>
            <a:endParaRPr/>
          </a:p>
          <a:p>
            <a:r>
              <a:t>Workshop source: assets/slide-story.md. Format reference: AGIFORS Annual Symposium 2026 deck.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09 | The business rules lead to a knapsack model</a:t>
            </a:r>
          </a:p>
          <a:p>
            <a:r>
              <a:t>Suggested elapsed workshop minutes: 35–38 (90 minutes total).</a:t>
            </a:r>
          </a:p>
          <a:p>
            <a:endParaRPr/>
          </a:p>
          <a:p>
            <a:r>
              <a:t>PRESENTER GUIDE</a:t>
            </a:r>
          </a:p>
          <a:p>
            <a:r>
              <a:t>SYMBOLS: i indexes a shipment; x_i=1 means it flies and 0 means it stays; r_i is revenue in USD; w_i is weight in kg; W is the aircraft weight limit in kg. Every expression comes from a discovered business rule. This workshop uses only a hard weight limit and binary whole-shipment choices; do not import the book appendix’s volume constraint, committed freight or pallet-count variables. The next translation is from the paper model to software.</a:t>
            </a:r>
          </a:p>
          <a:p>
            <a:endParaRPr/>
          </a:p>
          <a:p>
            <a:r>
              <a:t>STORY TALKING POINTS</a:t>
            </a:r>
          </a:p>
          <a:p>
            <a:r>
              <a:t>- Whole-shipment choices become binary variables: $x_i \in \{0,1\}$.</a:t>
            </a:r>
          </a:p>
          <a:p>
            <a:r>
              <a:t>- Revenue maximization becomes $\max \sum_i r_i x_i$.</a:t>
            </a:r>
          </a:p>
          <a:p>
            <a:r>
              <a:t>- Aircraft capacity becomes $\sum_i w_i x_i \leq W$.</a:t>
            </a:r>
          </a:p>
          <a:p>
            <a:r>
              <a:t>- Connecting idea: a model on paper recommends nothing; the second translation, from math model</a:t>
            </a:r>
          </a:p>
          <a:p>
            <a:r>
              <a:t>  to coded model, is where verification begins.</a:t>
            </a:r>
          </a:p>
          <a:p>
            <a:endParaRPr/>
          </a:p>
          <a:p>
            <a:r>
              <a:t>Workshop source: assets/slide-story.md. Format reference: AGIFORS Annual Symposium 2026 deck.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B53C3-89CE-57F7-26A6-685CA2CA6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10C246-7ABB-7F3E-758A-EF987CCE344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1EC336F-FFD8-1482-45BC-C45B3E5F6840}"/>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DF43EAEB-1E08-CB83-7153-015949A4DADF}"/>
              </a:ext>
            </a:extLst>
          </p:cNvPr>
          <p:cNvSpPr>
            <a:spLocks noGrp="1"/>
          </p:cNvSpPr>
          <p:nvPr>
            <p:ph type="sldNum" sz="quarter" idx="5"/>
          </p:nvPr>
        </p:nvSpPr>
        <p:spPr/>
      </p:sp>
    </p:spTree>
    <p:extLst>
      <p:ext uri="{BB962C8B-B14F-4D97-AF65-F5344CB8AC3E}">
        <p14:creationId xmlns:p14="http://schemas.microsoft.com/office/powerpoint/2010/main" val="122125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 | Software is a different kind of engineering</a:t>
            </a:r>
          </a:p>
          <a:p>
            <a:r>
              <a:t>Suggested elapsed workshop minutes: 38–42 (90 minutes total).</a:t>
            </a:r>
          </a:p>
          <a:p>
            <a:endParaRPr/>
          </a:p>
          <a:p>
            <a:r>
              <a:t>PRESENTER GUIDE</a:t>
            </a:r>
          </a:p>
          <a:p>
            <a:r>
              <a:t>EXPLAIN THE ANALOGY WITH CARE: small physical variations are often handled by engineering tolerances; software can have discontinuous consequences from one character. Software requirements emerge because users do not fully know what they want, users change their minds, and construction reveals unstated constraints. These are tendencies, not a universal claim that civil engineering has no discovery or software has no tolerances. The resulting abilities are learning quickly and changing quickly and safely. Source: SEFOP book Section 03 and Purdue workshop slide 10.</a:t>
            </a:r>
          </a:p>
          <a:p>
            <a:endParaRPr/>
          </a:p>
          <a:p>
            <a:r>
              <a:t>STORY TALKING POINTS</a:t>
            </a:r>
          </a:p>
          <a:p>
            <a:r>
              <a:t>- A bridge tolerates tiny errors and is designed from requirements known reasonably well.</a:t>
            </a:r>
          </a:p>
          <a:p>
            <a:r>
              <a:t>  Software is flexible and fragile at once: one wrong sign can change every recommendation while</a:t>
            </a:r>
          </a:p>
          <a:p>
            <a:r>
              <a:t>  the program still runs, and it is built with highly imperfect information.</a:t>
            </a:r>
          </a:p>
          <a:p>
            <a:r>
              <a:t>- Building software is a discovery process: users do not fully know what they want, they change</a:t>
            </a:r>
          </a:p>
          <a:p>
            <a:r>
              <a:t>  their minds, and building reveals problems nobody foresaw. So the team must learn quickly and</a:t>
            </a:r>
          </a:p>
          <a:p>
            <a:r>
              <a:t>  adapt its software quickly and safely.</a:t>
            </a:r>
          </a:p>
          <a:p>
            <a:r>
              <a:t>- Connecting idea: adaptability make quick and safe change possible. This is achieved through</a:t>
            </a:r>
          </a:p>
          <a:p>
            <a:r>
              <a:t>design and testing.</a:t>
            </a:r>
          </a:p>
          <a:p>
            <a:endParaRPr/>
          </a:p>
          <a:p>
            <a:r>
              <a:t>Workshop source: assets/slide-story.md. Format reference: AGIFORS Annual Symposium 2026 deck.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 | Design and testing make quick, safe change possible</a:t>
            </a:r>
          </a:p>
          <a:p>
            <a:r>
              <a:t>Suggested elapsed workshop minutes: 42–46 (90 minutes total).</a:t>
            </a:r>
          </a:p>
          <a:p>
            <a:endParaRPr/>
          </a:p>
          <a:p>
            <a:r>
              <a:t>PRESENTER GUIDE</a:t>
            </a:r>
          </a:p>
          <a:p>
            <a:r>
              <a:t>DEFINE MODULE: a piece of code with a boundary and a clear responsibility. Connections represent dependencies; more connections make a change harder to understand and check. The highlighted module is the same in both diagrams. Separate test boxes show that modules with clear boundaries can be checked individually. Modularity does not mean eliminating necessary connections or guaranteeing that every change fits in one module. Tests check promised behavior and make improving the design safer. Source: SEFOP book Section 04, forces-without-with.svg.</a:t>
            </a:r>
          </a:p>
          <a:p>
            <a:endParaRPr/>
          </a:p>
          <a:p>
            <a:r>
              <a:t>STORY TALKING POINTS</a:t>
            </a:r>
          </a:p>
          <a:p>
            <a:r>
              <a:t>- Design is how the code is structured into modules, each with one clear responsibility. A change</a:t>
            </a:r>
          </a:p>
          <a:p>
            <a:r>
              <a:t>  stays small and isolated, and each module can be understood and checked on its own.</a:t>
            </a:r>
          </a:p>
          <a:p>
            <a:r>
              <a:t>- Testing checks automatically that the code complies with what it should do: it runs the code on</a:t>
            </a:r>
          </a:p>
          <a:p>
            <a:r>
              <a:t>  cases whose right answer is known, in seconds and as often as needed. That is verification, and</a:t>
            </a:r>
          </a:p>
          <a:p>
            <a:r>
              <a:t>  it is the safety layer that catches a mistake the moment a change introduces it.</a:t>
            </a:r>
          </a:p>
          <a:p>
            <a:r>
              <a:t>- Each needs the other: a clear design makes code testable, and tests make it safe to improve the</a:t>
            </a:r>
          </a:p>
          <a:p>
            <a:r>
              <a:t>  design.</a:t>
            </a:r>
          </a:p>
          <a:p>
            <a:r>
              <a:t>- Connecting idea: here we show the purpose of modularization, in the next slide we show how to </a:t>
            </a:r>
          </a:p>
          <a:p>
            <a:r>
              <a:t>evaluate a change.</a:t>
            </a:r>
          </a:p>
          <a:p>
            <a:endParaRPr/>
          </a:p>
          <a:p>
            <a:r>
              <a:t>Workshop source: assets/slide-story.md. Format reference: AGIFORS Annual Symposium 2026 deck.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 | What an automated test is</a:t>
            </a:r>
          </a:p>
          <a:p>
            <a:r>
              <a:t>Suggested elapsed workshop minutes: 46–51 (90 minutes total).</a:t>
            </a:r>
          </a:p>
          <a:p>
            <a:endParaRPr/>
          </a:p>
          <a:p>
            <a:r>
              <a:t>PRESENTER GUIDE</a:t>
            </a:r>
          </a:p>
          <a:p>
            <a:r>
              <a:t>READ THE FIGURES: green unit tests check one module in isolation; yellow integration tests check modules with their real collaborators; blue end-to-end tests exercise the whole program. Each highlighted region represents the scope of one example test, not every test the suite contains. The pyramid suggests many fast unit tests, fewer integration tests and a small number of more costly end-to-end tests; it is guidance, not a quota. EVERY LEVEL still follows Arrange, Act, Assert. Explain orally using slide 8 example 1: arrange the 500 kg flight and shipments 500 kg/$3,000, 250 kg/$2,000, 250 kg/$1,800; run the program; assert Bighorn and Cedar, revenue $3,800 and weight 500 kg. A test must compare with an expected answer; merely running the program is not a check. Source: SEFOP book Section 05, unit-test-pyramid.svg and unit-test-levels.svg.</a:t>
            </a:r>
          </a:p>
          <a:p>
            <a:endParaRPr/>
          </a:p>
          <a:p>
            <a:r>
              <a:t>STORY TALKING POINTS</a:t>
            </a:r>
          </a:p>
          <a:p>
            <a:r>
              <a:t>- A test is a small program that runs the code on a case whose right answer is known and checks</a:t>
            </a:r>
          </a:p>
          <a:p>
            <a:r>
              <a:t>  the result. It has three steps: arrange the case, act by running the code, assert the expected</a:t>
            </a:r>
          </a:p>
          <a:p>
            <a:r>
              <a:t>  result.</a:t>
            </a:r>
          </a:p>
          <a:p>
            <a:r>
              <a:t>- A test runner runs every test automatically, in seconds, with the same result each time; a</a:t>
            </a:r>
          </a:p>
          <a:p>
            <a:r>
              <a:t>  failed check names exactly what broke. Run after every change, it shows at once whether the</a:t>
            </a:r>
          </a:p>
          <a:p>
            <a:r>
              <a:t>  change broke something.</a:t>
            </a:r>
          </a:p>
          <a:p>
            <a:r>
              <a:t>- Connecting idea: with design and tests understood, here is how they look in our example,</a:t>
            </a:r>
          </a:p>
          <a:p>
            <a:r>
              <a:t>  starting with its design.</a:t>
            </a:r>
          </a:p>
          <a:p>
            <a:endParaRPr/>
          </a:p>
          <a:p>
            <a:r>
              <a:t>Workshop source: assets/slide-story.md. Format reference: AGIFORS Annual Symposium 2026 deck.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 | A DSS example design</a:t>
            </a:r>
          </a:p>
          <a:p>
            <a:r>
              <a:t>Suggested elapsed workshop minutes: 51–59 (90 minutes total).</a:t>
            </a:r>
          </a:p>
          <a:p>
            <a:endParaRPr/>
          </a:p>
          <a:p>
            <a:r>
              <a:t>PRESENTER GUIDE</a:t>
            </a:r>
          </a:p>
          <a:p>
            <a:r>
              <a:t>LIVE DEMO: Run python -m cli optimize_cargo SC101 from the prepared environment. Show each stage announcement, then interpret the recommendation: S1–S4, $9,600, 1,000 kg, two customers. Open src/: reading is adapters/json_data_loader.py; preprocessing, optimization and postprocessing are the folders under use_cases/solving/; output is adapters/console_result_writer.py. Explain each module’s single responsibility. Arrows show execution flow rather than dependency direction. Do not write code live. A successful run is not yet evidence of correctness; transition to the tests.</a:t>
            </a:r>
          </a:p>
          <a:p>
            <a:endParaRPr/>
          </a:p>
          <a:p>
            <a:r>
              <a:t>STORY TALKING POINTS</a:t>
            </a:r>
          </a:p>
          <a:p>
            <a:r>
              <a:t>- A DSS is usually divided into the same modules: reading data, preprocessing, optimization,</a:t>
            </a:r>
          </a:p>
          <a:p>
            <a:r>
              <a:t>  postprocessing, and presenting the result.</a:t>
            </a:r>
          </a:p>
          <a:p>
            <a:r>
              <a:t>- Run the first version on flight SC101: the console announces each stage in a box: Read data,</a:t>
            </a:r>
          </a:p>
          <a:p>
            <a:r>
              <a:t>  Preprocess, Solve, Postprocess, Result.</a:t>
            </a:r>
          </a:p>
          <a:p>
            <a:r>
              <a:t>- Open the repository: each box is one place in `src/`. Reading data is</a:t>
            </a:r>
          </a:p>
          <a:p>
            <a:r>
              <a:t>  `adapters/json_data_loader.py`; preprocessing, optimization and postprocessing are folders</a:t>
            </a:r>
          </a:p>
          <a:p>
            <a:r>
              <a:t>  under `use_cases/solving/`; presenting the result is `adapters/console_result_writer.py`.</a:t>
            </a:r>
          </a:p>
          <a:p>
            <a:r>
              <a:t>- Interpret the proposed load with the audience.</a:t>
            </a:r>
          </a:p>
          <a:p>
            <a:r>
              <a:t>- Connecting idea: the program produces a load, but does it compute what the model states? Tests</a:t>
            </a:r>
          </a:p>
          <a:p>
            <a:r>
              <a:t>  are the evidence.</a:t>
            </a:r>
          </a:p>
          <a:p>
            <a:endParaRPr/>
          </a:p>
          <a:p>
            <a:r>
              <a:t>Workshop source: assets/slide-story.md. Format reference: AGIFORS Annual Symposium 2026 deck.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 | Audience: the planner's examples become acceptance tests</a:t>
            </a:r>
          </a:p>
          <a:p>
            <a:r>
              <a:t>Suggested elapsed workshop minutes: 59–65 (90 minutes total).</a:t>
            </a:r>
          </a:p>
          <a:p>
            <a:endParaRPr/>
          </a:p>
          <a:p>
            <a:r>
              <a:t>PRESENTER GUIDE</a:t>
            </a:r>
          </a:p>
          <a:p>
            <a:r>
              <a:t>ACTIVITY: Ask pairs to predict whether this prepared check would catch ignoring weight capacity and allowing fractional shipments. Require reasoning before the debrief. The expected answer is Atlas only, $3,000 and 300 kg. A capacity defect can select Atlas plus Cedar at 600 kg even if preprocessing already excludes the 900 kg shipment. A fractional model can add part of Cedar after preprocessing and exceed $3,000; if the oversize shipment remains available, the fractional optimum is $5,000. The exact wrong result depends on where the bug is introduced. The expected-load/revenue assertion detects those behaviors. Example 1 does not distinguish fractional and binary optimal solutions. LIVE DEMO: open tests/integration/test_situations.py and tests/resources/oversize_shipment_left_behind/data.json, then run pytest. These test functions run the real CLI and real solver even though they use the integration marker. Explain that acceptance describes the promised business behavior, whereas unit/integration/end-to-end describes execution scope. Passing tests give evidence for the covered cases, not proof that no bugs exist.</a:t>
            </a:r>
          </a:p>
          <a:p>
            <a:endParaRPr/>
          </a:p>
          <a:p>
            <a:r>
              <a:t>STORY TALKING POINTS</a:t>
            </a:r>
          </a:p>
          <a:p>
            <a:r>
              <a:t>- Example 2 of slide 8 as a test. Arrange: a 500 kg limit; shipments of 300 kg for $3,000, 900 kg</a:t>
            </a:r>
          </a:p>
          <a:p>
            <a:r>
              <a:t>  for $9,000, and 300 kg for $800. Act: ask for a load. Assert: only the first shipment flies,</a:t>
            </a:r>
          </a:p>
          <a:p>
            <a:r>
              <a:t>  earning $3,000.</a:t>
            </a:r>
          </a:p>
          <a:p>
            <a:r>
              <a:t>- Predict with your partner: would this test catch code that ignores the weight limit? Code that</a:t>
            </a:r>
          </a:p>
          <a:p>
            <a:r>
              <a:t>  splits a shipment?</a:t>
            </a:r>
          </a:p>
          <a:p>
            <a:r>
              <a:t>- Then open the repository: the planner's examples are stored as test flights and run with every</a:t>
            </a:r>
          </a:p>
          <a:p>
            <a:r>
              <a:t>  other test.</a:t>
            </a:r>
          </a:p>
          <a:p>
            <a:r>
              <a:t>- Connecting idea: the tests pass, so the first version is verified and goes into the planner's</a:t>
            </a:r>
          </a:p>
          <a:p>
            <a:r>
              <a:t>  hands.</a:t>
            </a:r>
          </a:p>
          <a:p>
            <a:endParaRPr/>
          </a:p>
          <a:p>
            <a:r>
              <a:t>Workshop source: assets/slide-story.md. Format reference: AGIFORS Annual Symposium 2026 deck.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 The cycle runs again: the planner asks for client diversity</a:t>
            </a:r>
          </a:p>
          <a:p>
            <a:r>
              <a:t>Suggested elapsed workshop minutes: 65–71 (90 minutes total).</a:t>
            </a:r>
          </a:p>
          <a:p>
            <a:endParaRPr/>
          </a:p>
          <a:p>
            <a:r>
              <a:t>PRESENTER GUIDE</a:t>
            </a:r>
          </a:p>
          <a:p>
            <a:r>
              <a:t>SECOND TURN, NOT A FEATURE DEMO: On SC101, S1–S4 serve Atlas and Bighorn only; Cedar, Dune, Elk and Fremont have nothing. The planner asks to serve more distinct customers within an acceptable revenue sacrifice. A customer counts once even when several shipments fly. Revisit requirements, examples, model, code, tests, local deployment and use. Do not show an implemented diversity model, new command, allowance values or computed alternatives. Aircraft weight remains hard. Modular design and tests make this next turn manageable.</a:t>
            </a:r>
          </a:p>
          <a:p>
            <a:endParaRPr/>
          </a:p>
          <a:p>
            <a:r>
              <a:t>STORY TALKING POINTS</a:t>
            </a:r>
          </a:p>
          <a:p>
            <a:r>
              <a:t>- In use, the planner notices that four of the six customers get nothing on a flight, and asks</a:t>
            </a:r>
          </a:p>
          <a:p>
            <a:r>
              <a:t>  the tool to serve more customers within an acceptable revenue sacrifice.</a:t>
            </a:r>
          </a:p>
          <a:p>
            <a:r>
              <a:t>- The request goes round the same cycle: validate it with user stories, examples and a new model;</a:t>
            </a:r>
          </a:p>
          <a:p>
            <a:r>
              <a:t>  verify it with design and tests; deploy it; use it. Modular, tested software is what makes the</a:t>
            </a:r>
          </a:p>
          <a:p>
            <a:r>
              <a:t>  second round fast and safe.</a:t>
            </a:r>
          </a:p>
          <a:p>
            <a:r>
              <a:t>- Connecting idea: every round asks for the same skills; zooming out, here is what this</a:t>
            </a:r>
          </a:p>
          <a:p>
            <a:r>
              <a:t>  profession needs.</a:t>
            </a:r>
          </a:p>
          <a:p>
            <a:endParaRPr/>
          </a:p>
          <a:p>
            <a:r>
              <a:t>Workshop source: assets/slide-story.md. Format reference: AGIFORS Annual Symposium 2026 deck.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5265E-8522-2EF8-2153-8307665AA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9664D3-E6F9-1EB4-7CEA-067D0E55DAB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24DD203-9C1D-2194-9BD4-CF103C387E4F}"/>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0DE34F74-2CD4-00A5-CEF5-F28FA9B85D17}"/>
              </a:ext>
            </a:extLst>
          </p:cNvPr>
          <p:cNvSpPr>
            <a:spLocks noGrp="1"/>
          </p:cNvSpPr>
          <p:nvPr>
            <p:ph type="sldNum" sz="quarter" idx="5"/>
          </p:nvPr>
        </p:nvSpPr>
        <p:spPr/>
      </p:sp>
    </p:spTree>
    <p:extLst>
      <p:ext uri="{BB962C8B-B14F-4D97-AF65-F5344CB8AC3E}">
        <p14:creationId xmlns:p14="http://schemas.microsoft.com/office/powerpoint/2010/main" val="5350868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16 | What this profession needs</a:t>
            </a:r>
          </a:p>
          <a:p>
            <a:r>
              <a:t>Suggested elapsed workshop minutes: 71–76 (90 minutes total).</a:t>
            </a:r>
          </a:p>
          <a:p>
            <a:endParaRPr/>
          </a:p>
          <a:p>
            <a:r>
              <a:t>PRESENTER GUIDE</a:t>
            </a:r>
          </a:p>
          <a:p>
            <a:r>
              <a:t>THREE ELEMENTS, IN FRANCISCO’S OWN WORDS: Business skills. Software skills. People skills. Connect each to your own experience and to the audience’s career opportunities. Leave the screen simple and elaborate verbally. No invented personal anecdote, job history, credential or separate career track has been added.</a:t>
            </a:r>
          </a:p>
          <a:p>
            <a:endParaRPr/>
          </a:p>
          <a:p>
            <a:r>
              <a:t>STORY TALKING POINTS</a:t>
            </a:r>
          </a:p>
          <a:p>
            <a:r>
              <a:t>- Business skills.</a:t>
            </a:r>
          </a:p>
          <a:p>
            <a:r>
              <a:t>- Software skills.</a:t>
            </a:r>
          </a:p>
          <a:p>
            <a:r>
              <a:t>- People skills.</a:t>
            </a:r>
          </a:p>
          <a:p>
            <a:r>
              <a:t>- Connect those skills to Francisco's experience and to students' career opportunities.</a:t>
            </a:r>
          </a:p>
          <a:p>
            <a:r>
              <a:t>- Connecting idea: one workshop shows the tip of these skills; SEFOP is where to keep learning.</a:t>
            </a:r>
          </a:p>
          <a:p>
            <a:endParaRPr/>
          </a:p>
          <a:p>
            <a:r>
              <a:t>Workshop source: assets/slide-story.md. Format reference: AGIFORS Annual Symposium 2026 deck.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17 | SEFOP: where to keep learning</a:t>
            </a:r>
          </a:p>
          <a:p>
            <a:r>
              <a:rPr dirty="0"/>
              <a:t>Suggested elapsed workshop minutes: 76–80 (90 minutes total).</a:t>
            </a:r>
          </a:p>
          <a:p>
            <a:endParaRPr dirty="0"/>
          </a:p>
          <a:p>
            <a:r>
              <a:rPr dirty="0"/>
              <a:t>PRESENTER GUIDE</a:t>
            </a:r>
          </a:p>
          <a:p>
            <a:r>
              <a:rPr dirty="0"/>
              <a:t>RESOURCES: Read the book: https://github.com/sefop/sefop-training-hub . Run this workshop: https://github.com/sefop/sefop-sctc-2026 . Ask questions: https://github.com/sefop/sefop-training-hub/discussions . The QR opens the training hub. All three resource labels are clickable. The training hub also points to the SEFOP organization’s discussion board at https://github.com/orgs/sefop/discussions . Explain where the lifecycle, design and testing chapters can be found; invite attendees to keep learning and try the program after the workshop.</a:t>
            </a:r>
          </a:p>
          <a:p>
            <a:endParaRPr dirty="0"/>
          </a:p>
          <a:p>
            <a:r>
              <a:rPr dirty="0"/>
              <a:t>STORY TALKING POINTS</a:t>
            </a:r>
          </a:p>
          <a:p>
            <a:r>
              <a:rPr dirty="0"/>
              <a:t>- The SEFOP training hub and its book: github.com/</a:t>
            </a:r>
            <a:r>
              <a:rPr dirty="0" err="1"/>
              <a:t>sefop</a:t>
            </a:r>
            <a:r>
              <a:rPr dirty="0"/>
              <a:t>/</a:t>
            </a:r>
            <a:r>
              <a:rPr dirty="0" err="1"/>
              <a:t>sefop</a:t>
            </a:r>
            <a:r>
              <a:rPr dirty="0"/>
              <a:t>-training-hub</a:t>
            </a:r>
          </a:p>
          <a:p>
            <a:r>
              <a:rPr dirty="0"/>
              <a:t>- This workshop's repository, to run and read at home: github.com/</a:t>
            </a:r>
            <a:r>
              <a:rPr dirty="0" err="1"/>
              <a:t>sefop</a:t>
            </a:r>
            <a:r>
              <a:rPr dirty="0"/>
              <a:t>/sefop-sctc-2026</a:t>
            </a:r>
          </a:p>
          <a:p>
            <a:r>
              <a:rPr dirty="0"/>
              <a:t>- The discussion board, for questions after today: github.com/</a:t>
            </a:r>
            <a:r>
              <a:rPr dirty="0" err="1"/>
              <a:t>sefop</a:t>
            </a:r>
            <a:r>
              <a:rPr dirty="0"/>
              <a:t>/</a:t>
            </a:r>
            <a:r>
              <a:rPr dirty="0" err="1"/>
              <a:t>sefop</a:t>
            </a:r>
            <a:r>
              <a:rPr dirty="0"/>
              <a:t>-training-hub/discussions</a:t>
            </a:r>
          </a:p>
          <a:p>
            <a:r>
              <a:rPr dirty="0"/>
              <a:t>- Connecting idea: with the materials shared, the floor opens for questions.</a:t>
            </a:r>
          </a:p>
          <a:p>
            <a:endParaRPr dirty="0"/>
          </a:p>
          <a:p>
            <a:r>
              <a:rPr dirty="0"/>
              <a:t>Workshop source: assets/slide-story.md. Format reference: AGIFORS Annual Symposium 2026 deck.</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18 | Questions and discussion</a:t>
            </a:r>
          </a:p>
          <a:p>
            <a:r>
              <a:t>Suggested elapsed workshop minutes: 80–90 (90 minutes total).</a:t>
            </a:r>
          </a:p>
          <a:p>
            <a:endParaRPr/>
          </a:p>
          <a:p>
            <a:r>
              <a:t>PRESENTER GUIDE</a:t>
            </a:r>
          </a:p>
          <a:p>
            <a:r>
              <a:t>DISCUSSION, 10 MINUTES: What remains unclear about turning a business request into decision-support software? Where would you apply learning and adaptation in your own project? Leave the QR visible throughout. If questions slow, invite an example from a student project and trace its next request through validation and verification. Close by returning to the cycle: the next business request begins another turn.</a:t>
            </a:r>
          </a:p>
          <a:p>
            <a:endParaRPr/>
          </a:p>
          <a:p>
            <a:r>
              <a:t>STORY TALKING POINTS</a:t>
            </a:r>
          </a:p>
          <a:p>
            <a:r>
              <a:t>- What remains unclear about turning a business request into decision-support software?</a:t>
            </a:r>
          </a:p>
          <a:p>
            <a:r>
              <a:t>- Where would you apply learning and adaptation in your own project?</a:t>
            </a:r>
          </a:p>
          <a:p>
            <a:r>
              <a:t>- Connecting idea: there is no next slide; the next business request starts validation and</a:t>
            </a:r>
          </a:p>
          <a:p>
            <a:r>
              <a:t>  verification again, back round the cycle of slide 5.</a:t>
            </a:r>
          </a:p>
          <a:p>
            <a:endParaRPr/>
          </a:p>
          <a:p>
            <a:r>
              <a:t>Workshop source: assets/slide-story.md. Format reference: AGIFORS Annual Symposium 2026 deck.</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967FF14-F878-45E8-AFB4-46D953F41C81}" type="datetime1">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3B6F46-0C3C-4175-8B43-348544656D81}" type="datetime1">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346EC6-7322-4DBC-84C7-E11D30942555}" type="datetime1">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2848B31-6056-4B86-B43A-9DBD0BACB6B8}" type="datetime1">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E9A4DAE-E39A-4AB4-9A37-8C4CE854B5ED}" type="datetime1">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CC0320F-0C3E-448D-9224-8CF88A1B4ED1}" type="datetime1">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C46C6B-8CC5-4835-9317-0254AF58E7FA}" type="datetime1">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9839325" y="6356350"/>
            <a:ext cx="21336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12DB2F-C7F6-4FDA-BA62-32815EE05B27}" type="datetime1">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7BFFA9-8A0F-4C1F-BDA9-E4A846D0523F}" type="datetime1">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869591-628F-4BAB-AD9F-697EBD829841}" type="datetime1">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AEFADA-DB7A-4DBF-B5C8-201C4683F8E6}" type="datetime1">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506CE3-984D-4D4B-A976-00BBA5D668A5}" type="datetime1">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4.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sefop/sefop-training-hub"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hyperlink" Target="https://github.com/sefop/sefop-training-hub/discussions" TargetMode="External"/><Relationship Id="rId4" Type="http://schemas.openxmlformats.org/officeDocument/2006/relationships/hyperlink" Target="https://github.com/sefop/sefop-sctc-2026"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hyperlink" Target="https://github.com/sefop/sefop-training-hub"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42B"/>
        </a:solidFill>
        <a:effectLst/>
      </p:bgPr>
    </p:bg>
    <p:spTree>
      <p:nvGrpSpPr>
        <p:cNvPr id="1" name=""/>
        <p:cNvGrpSpPr/>
        <p:nvPr/>
      </p:nvGrpSpPr>
      <p:grpSpPr>
        <a:xfrm>
          <a:off x="0" y="0"/>
          <a:ext cx="0" cy="0"/>
          <a:chOff x="0" y="0"/>
          <a:chExt cx="0" cy="0"/>
        </a:xfrm>
      </p:grpSpPr>
      <p:sp>
        <p:nvSpPr>
          <p:cNvPr id="5" name="TextBox 4"/>
          <p:cNvSpPr txBox="1"/>
          <p:nvPr/>
        </p:nvSpPr>
        <p:spPr>
          <a:xfrm>
            <a:off x="685800" y="615880"/>
            <a:ext cx="9601200" cy="276999"/>
          </a:xfrm>
          <a:prstGeom prst="rect">
            <a:avLst/>
          </a:prstGeom>
          <a:noFill/>
        </p:spPr>
        <p:txBody>
          <a:bodyPr wrap="square" lIns="0" tIns="0" rIns="0" bIns="0" anchor="ctr">
            <a:spAutoFit/>
          </a:bodyPr>
          <a:lstStyle/>
          <a:p>
            <a:pPr algn="l"/>
            <a:r>
              <a:rPr lang="en-US" sz="1800" b="0" dirty="0">
                <a:solidFill>
                  <a:srgbClr val="E2EBF2"/>
                </a:solidFill>
                <a:latin typeface="Aptos"/>
              </a:rPr>
              <a:t>Southern Colorado Transportation Conference 2026</a:t>
            </a:r>
            <a:endParaRPr sz="1800" b="0" dirty="0">
              <a:solidFill>
                <a:srgbClr val="E2EBF2"/>
              </a:solidFill>
              <a:latin typeface="Aptos"/>
            </a:endParaRPr>
          </a:p>
        </p:txBody>
      </p:sp>
      <p:sp>
        <p:nvSpPr>
          <p:cNvPr id="6" name="TextBox 5"/>
          <p:cNvSpPr txBox="1"/>
          <p:nvPr/>
        </p:nvSpPr>
        <p:spPr>
          <a:xfrm>
            <a:off x="1085850" y="1933778"/>
            <a:ext cx="10058400" cy="1107996"/>
          </a:xfrm>
          <a:prstGeom prst="rect">
            <a:avLst/>
          </a:prstGeom>
          <a:solidFill>
            <a:srgbClr val="07142B"/>
          </a:solidFill>
        </p:spPr>
        <p:txBody>
          <a:bodyPr wrap="square" lIns="0" tIns="0" rIns="0" bIns="0" anchor="ctr">
            <a:spAutoFit/>
          </a:bodyPr>
          <a:lstStyle/>
          <a:p>
            <a:pPr algn="ctr"/>
            <a:r>
              <a:rPr lang="en-US" sz="4000" b="1" dirty="0">
                <a:solidFill>
                  <a:schemeClr val="bg1"/>
                </a:solidFill>
                <a:latin typeface="Aptos Display"/>
              </a:rPr>
              <a:t>Airlines Optimization Workshop:</a:t>
            </a:r>
          </a:p>
          <a:p>
            <a:pPr algn="ctr"/>
            <a:r>
              <a:rPr lang="en-US" sz="3200" dirty="0">
                <a:solidFill>
                  <a:schemeClr val="bg1"/>
                </a:solidFill>
                <a:latin typeface="Aptos Display"/>
              </a:rPr>
              <a:t>Industry best practices for a decision-support system</a:t>
            </a:r>
            <a:endParaRPr sz="3200" dirty="0">
              <a:solidFill>
                <a:schemeClr val="bg1"/>
              </a:solidFill>
              <a:latin typeface="Aptos Display"/>
            </a:endParaRPr>
          </a:p>
        </p:txBody>
      </p:sp>
      <p:sp>
        <p:nvSpPr>
          <p:cNvPr id="7" name="Rectangle 6"/>
          <p:cNvSpPr/>
          <p:nvPr/>
        </p:nvSpPr>
        <p:spPr>
          <a:xfrm>
            <a:off x="685800" y="3834187"/>
            <a:ext cx="1051560" cy="54864"/>
          </a:xfrm>
          <a:prstGeom prst="rect">
            <a:avLst/>
          </a:prstGeom>
          <a:solidFill>
            <a:srgbClr val="F97316"/>
          </a:solidFill>
          <a:ln>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0" y="4591500"/>
            <a:ext cx="12192000" cy="984885"/>
          </a:xfrm>
          <a:prstGeom prst="rect">
            <a:avLst/>
          </a:prstGeom>
          <a:noFill/>
        </p:spPr>
        <p:txBody>
          <a:bodyPr wrap="square" lIns="0" tIns="0" rIns="0" bIns="0" anchor="ctr">
            <a:spAutoFit/>
          </a:bodyPr>
          <a:lstStyle/>
          <a:p>
            <a:pPr algn="ctr"/>
            <a:r>
              <a:rPr sz="2800" b="1" dirty="0">
                <a:solidFill>
                  <a:srgbClr val="FFFFFF"/>
                </a:solidFill>
                <a:latin typeface="Aptos"/>
              </a:rPr>
              <a:t>Francisco Zenteno Smith</a:t>
            </a:r>
            <a:endParaRPr lang="en-US" sz="2800" b="1" dirty="0">
              <a:solidFill>
                <a:srgbClr val="FFFFFF"/>
              </a:solidFill>
              <a:latin typeface="Aptos"/>
            </a:endParaRPr>
          </a:p>
          <a:p>
            <a:pPr algn="ctr"/>
            <a:r>
              <a:rPr lang="en-US" dirty="0">
                <a:solidFill>
                  <a:srgbClr val="FFFFFF"/>
                </a:solidFill>
                <a:latin typeface="Aptos"/>
              </a:rPr>
              <a:t>Senior Operations Research Scientist</a:t>
            </a:r>
          </a:p>
          <a:p>
            <a:pPr algn="ctr"/>
            <a:r>
              <a:rPr lang="en-US" dirty="0">
                <a:solidFill>
                  <a:srgbClr val="FFFFFF"/>
                </a:solidFill>
                <a:latin typeface="Aptos"/>
              </a:rPr>
              <a:t>American Airlines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lide title"/>
          <p:cNvSpPr txBox="1"/>
          <p:nvPr/>
        </p:nvSpPr>
        <p:spPr>
          <a:xfrm>
            <a:off x="502920" y="246888"/>
            <a:ext cx="11544300" cy="1188720"/>
          </a:xfrm>
          <a:prstGeom prst="rect">
            <a:avLst/>
          </a:prstGeom>
          <a:noFill/>
        </p:spPr>
        <p:txBody>
          <a:bodyPr wrap="square" lIns="0" tIns="0" rIns="0" bIns="0" anchor="t">
            <a:noAutofit/>
          </a:bodyPr>
          <a:lstStyle/>
          <a:p>
            <a:pPr algn="l">
              <a:lnSpc>
                <a:spcPct val="106000"/>
              </a:lnSpc>
              <a:spcBef>
                <a:spcPts val="0"/>
              </a:spcBef>
              <a:spcAft>
                <a:spcPts val="0"/>
              </a:spcAft>
            </a:pPr>
            <a:r>
              <a:rPr lang="en-US" sz="4000" b="1" dirty="0">
                <a:solidFill>
                  <a:srgbClr val="0F2343"/>
                </a:solidFill>
                <a:latin typeface="Aptos Display"/>
              </a:rPr>
              <a:t>About me</a:t>
            </a:r>
            <a:endParaRPr sz="4000" b="1" dirty="0">
              <a:solidFill>
                <a:srgbClr val="0F2343"/>
              </a:solidFill>
              <a:latin typeface="Aptos Display"/>
            </a:endParaRPr>
          </a:p>
        </p:txBody>
      </p:sp>
      <p:sp>
        <p:nvSpPr>
          <p:cNvPr id="3" name="Rectangle 2"/>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1"/>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1</a:t>
            </a:r>
          </a:p>
        </p:txBody>
      </p:sp>
      <p:sp>
        <p:nvSpPr>
          <p:cNvPr id="21" name="TextBox 20">
            <a:extLst>
              <a:ext uri="{FF2B5EF4-FFF2-40B4-BE49-F238E27FC236}">
                <a16:creationId xmlns:a16="http://schemas.microsoft.com/office/drawing/2014/main" id="{79ACB328-ACAC-BB7F-0A9C-8C534476800F}"/>
              </a:ext>
            </a:extLst>
          </p:cNvPr>
          <p:cNvSpPr txBox="1"/>
          <p:nvPr/>
        </p:nvSpPr>
        <p:spPr>
          <a:xfrm>
            <a:off x="502920" y="2149419"/>
            <a:ext cx="8046720" cy="3046988"/>
          </a:xfrm>
          <a:prstGeom prst="rect">
            <a:avLst/>
          </a:prstGeom>
          <a:noFill/>
        </p:spPr>
        <p:txBody>
          <a:bodyPr wrap="square">
            <a:spAutoFit/>
          </a:bodyPr>
          <a:lstStyle/>
          <a:p>
            <a:pPr algn="l"/>
            <a:r>
              <a:rPr sz="2400" b="0" i="0" dirty="0">
                <a:solidFill>
                  <a:srgbClr val="2D3748"/>
                </a:solidFill>
                <a:latin typeface="Aptos" panose="020B0004020202020204" pitchFamily="34" charset="0"/>
              </a:rPr>
              <a:t>Senior Operations Research Scientist</a:t>
            </a:r>
            <a:r>
              <a:rPr lang="en-US" sz="2400" b="0" i="0" dirty="0">
                <a:solidFill>
                  <a:srgbClr val="2D3748"/>
                </a:solidFill>
                <a:latin typeface="Aptos" panose="020B0004020202020204" pitchFamily="34" charset="0"/>
              </a:rPr>
              <a:t> at </a:t>
            </a:r>
            <a:r>
              <a:rPr sz="2400" b="0" i="0" dirty="0">
                <a:solidFill>
                  <a:srgbClr val="2D3748"/>
                </a:solidFill>
                <a:latin typeface="Aptos" panose="020B0004020202020204" pitchFamily="34" charset="0"/>
              </a:rPr>
              <a:t>
</a:t>
            </a:r>
            <a:r>
              <a:rPr lang="en-US" sz="2400" dirty="0">
                <a:solidFill>
                  <a:srgbClr val="2D3748"/>
                </a:solidFill>
                <a:latin typeface="Aptos" panose="020B0004020202020204" pitchFamily="34" charset="0"/>
              </a:rPr>
              <a:t>&gt; 10</a:t>
            </a:r>
            <a:r>
              <a:rPr sz="2400" b="0" i="0" dirty="0">
                <a:solidFill>
                  <a:srgbClr val="2D3748"/>
                </a:solidFill>
                <a:latin typeface="Aptos" panose="020B0004020202020204" pitchFamily="34" charset="0"/>
              </a:rPr>
              <a:t> years in applied Operations Research.</a:t>
            </a:r>
            <a:endParaRPr lang="en-US" sz="2400" b="0" i="0" dirty="0">
              <a:solidFill>
                <a:srgbClr val="2D3748"/>
              </a:solidFill>
              <a:latin typeface="Aptos" panose="020B0004020202020204" pitchFamily="34" charset="0"/>
            </a:endParaRPr>
          </a:p>
          <a:p>
            <a:pPr algn="l"/>
            <a:endParaRPr lang="en-US" sz="2400" dirty="0">
              <a:solidFill>
                <a:srgbClr val="2D3748"/>
              </a:solidFill>
              <a:latin typeface="Aptos" panose="020B0004020202020204" pitchFamily="34" charset="0"/>
            </a:endParaRPr>
          </a:p>
          <a:p>
            <a:pPr algn="l"/>
            <a:r>
              <a:rPr lang="en-US" sz="2400" dirty="0">
                <a:solidFill>
                  <a:srgbClr val="2D3748"/>
                </a:solidFill>
                <a:latin typeface="Aptos" panose="020B0004020202020204" pitchFamily="34" charset="0"/>
              </a:rPr>
              <a:t>Education</a:t>
            </a:r>
          </a:p>
          <a:p>
            <a:pPr marL="342900" indent="-342900" algn="l">
              <a:buFontTx/>
              <a:buChar char="-"/>
            </a:pPr>
            <a:r>
              <a:rPr lang="en-US" sz="2400" b="0" i="0" dirty="0">
                <a:solidFill>
                  <a:srgbClr val="2D3748"/>
                </a:solidFill>
                <a:latin typeface="Aptos" panose="020B0004020202020204" pitchFamily="34" charset="0"/>
              </a:rPr>
              <a:t>Bache</a:t>
            </a:r>
            <a:r>
              <a:rPr lang="en-US" sz="2400" dirty="0">
                <a:solidFill>
                  <a:srgbClr val="2D3748"/>
                </a:solidFill>
                <a:latin typeface="Aptos" panose="020B0004020202020204" pitchFamily="34" charset="0"/>
              </a:rPr>
              <a:t>lors in Industrial Engineering PUC</a:t>
            </a:r>
          </a:p>
          <a:p>
            <a:pPr marL="342900" indent="-342900" algn="l">
              <a:buFontTx/>
              <a:buChar char="-"/>
            </a:pPr>
            <a:r>
              <a:rPr lang="en-US" sz="2400" b="0" i="0" dirty="0">
                <a:solidFill>
                  <a:srgbClr val="2D3748"/>
                </a:solidFill>
                <a:latin typeface="Aptos" panose="020B0004020202020204" pitchFamily="34" charset="0"/>
              </a:rPr>
              <a:t>Masters in Operations Research PUC</a:t>
            </a:r>
            <a:r>
              <a:rPr sz="2400" b="0" i="0" dirty="0">
                <a:solidFill>
                  <a:srgbClr val="2D3748"/>
                </a:solidFill>
                <a:latin typeface="Aptos" panose="020B0004020202020204" pitchFamily="34" charset="0"/>
              </a:rPr>
              <a:t>
</a:t>
            </a:r>
            <a:r>
              <a:rPr lang="en-US" sz="2400" b="0" i="0" dirty="0">
                <a:solidFill>
                  <a:srgbClr val="2D3748"/>
                </a:solidFill>
                <a:latin typeface="Aptos" panose="020B0004020202020204" pitchFamily="34" charset="0"/>
              </a:rPr>
              <a:t>Masters in Computer Science UCSD</a:t>
            </a:r>
          </a:p>
          <a:p>
            <a:pPr marL="342900" indent="-342900" algn="l">
              <a:buFontTx/>
              <a:buChar char="-"/>
            </a:pPr>
            <a:endParaRPr lang="en-US" sz="2400" dirty="0">
              <a:solidFill>
                <a:srgbClr val="2D3748"/>
              </a:solidFill>
              <a:latin typeface="Aptos" panose="020B0004020202020204" pitchFamily="34" charset="0"/>
            </a:endParaRPr>
          </a:p>
        </p:txBody>
      </p:sp>
      <p:pic>
        <p:nvPicPr>
          <p:cNvPr id="23" name="Picture 22">
            <a:extLst>
              <a:ext uri="{FF2B5EF4-FFF2-40B4-BE49-F238E27FC236}">
                <a16:creationId xmlns:a16="http://schemas.microsoft.com/office/drawing/2014/main" id="{CDAE9276-8ADB-3660-AAAE-29013FB3AEE8}"/>
              </a:ext>
            </a:extLst>
          </p:cNvPr>
          <p:cNvPicPr>
            <a:picLocks noChangeAspect="1"/>
          </p:cNvPicPr>
          <p:nvPr/>
        </p:nvPicPr>
        <p:blipFill>
          <a:blip r:embed="rId3"/>
          <a:stretch>
            <a:fillRect/>
          </a:stretch>
        </p:blipFill>
        <p:spPr>
          <a:xfrm>
            <a:off x="6378514" y="3112198"/>
            <a:ext cx="2171126" cy="2917994"/>
          </a:xfrm>
          <a:prstGeom prst="rect">
            <a:avLst/>
          </a:prstGeom>
        </p:spPr>
      </p:pic>
      <p:pic>
        <p:nvPicPr>
          <p:cNvPr id="25" name="Picture 24" descr="UCSD Logo, symbol, meaning, history, PNG, brand">
            <a:extLst>
              <a:ext uri="{FF2B5EF4-FFF2-40B4-BE49-F238E27FC236}">
                <a16:creationId xmlns:a16="http://schemas.microsoft.com/office/drawing/2014/main" id="{B9BE2318-8370-26EF-19AA-AC06A952EA0C}"/>
              </a:ext>
            </a:extLst>
          </p:cNvPr>
          <p:cNvPicPr>
            <a:picLocks noChangeAspect="1"/>
          </p:cNvPicPr>
          <p:nvPr/>
        </p:nvPicPr>
        <p:blipFill>
          <a:blip r:embed="rId4"/>
          <a:stretch>
            <a:fillRect/>
          </a:stretch>
        </p:blipFill>
        <p:spPr>
          <a:xfrm>
            <a:off x="8122907" y="3626697"/>
            <a:ext cx="4272878" cy="2403494"/>
          </a:xfrm>
          <a:prstGeom prst="rect">
            <a:avLst/>
          </a:prstGeom>
        </p:spPr>
      </p:pic>
      <p:pic>
        <p:nvPicPr>
          <p:cNvPr id="27" name="Picture 26">
            <a:extLst>
              <a:ext uri="{FF2B5EF4-FFF2-40B4-BE49-F238E27FC236}">
                <a16:creationId xmlns:a16="http://schemas.microsoft.com/office/drawing/2014/main" id="{69C1DB49-576C-5CE9-F049-3370BF077BB5}"/>
              </a:ext>
            </a:extLst>
          </p:cNvPr>
          <p:cNvPicPr>
            <a:picLocks noChangeAspect="1"/>
          </p:cNvPicPr>
          <p:nvPr/>
        </p:nvPicPr>
        <p:blipFill>
          <a:blip r:embed="rId5"/>
          <a:stretch>
            <a:fillRect/>
          </a:stretch>
        </p:blipFill>
        <p:spPr>
          <a:xfrm>
            <a:off x="6096000" y="1855705"/>
            <a:ext cx="5065782" cy="769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A70D174B-D3BD-AD06-AE89-10A6D68A40CF}"/>
            </a:ext>
          </a:extLst>
        </p:cNvPr>
        <p:cNvGrpSpPr/>
        <p:nvPr/>
      </p:nvGrpSpPr>
      <p:grpSpPr>
        <a:xfrm>
          <a:off x="0" y="0"/>
          <a:ext cx="0" cy="0"/>
          <a:chOff x="0" y="0"/>
          <a:chExt cx="0" cy="0"/>
        </a:xfrm>
      </p:grpSpPr>
      <p:sp>
        <p:nvSpPr>
          <p:cNvPr id="2" name="Slide title">
            <a:extLst>
              <a:ext uri="{FF2B5EF4-FFF2-40B4-BE49-F238E27FC236}">
                <a16:creationId xmlns:a16="http://schemas.microsoft.com/office/drawing/2014/main" id="{6BAA50DE-F8B3-61FE-2901-B9DB721F725C}"/>
              </a:ext>
            </a:extLst>
          </p:cNvPr>
          <p:cNvSpPr txBox="1"/>
          <p:nvPr/>
        </p:nvSpPr>
        <p:spPr>
          <a:xfrm>
            <a:off x="502920" y="246888"/>
            <a:ext cx="11544300" cy="1188720"/>
          </a:xfrm>
          <a:prstGeom prst="rect">
            <a:avLst/>
          </a:prstGeom>
          <a:noFill/>
        </p:spPr>
        <p:txBody>
          <a:bodyPr wrap="square" lIns="0" tIns="0" rIns="0" bIns="0" anchor="t">
            <a:noAutofit/>
          </a:bodyPr>
          <a:lstStyle/>
          <a:p>
            <a:pPr algn="l">
              <a:lnSpc>
                <a:spcPct val="106000"/>
              </a:lnSpc>
              <a:spcBef>
                <a:spcPts val="0"/>
              </a:spcBef>
              <a:spcAft>
                <a:spcPts val="0"/>
              </a:spcAft>
            </a:pPr>
            <a:r>
              <a:rPr lang="en-US" sz="4000" b="1" dirty="0">
                <a:solidFill>
                  <a:srgbClr val="0F2343"/>
                </a:solidFill>
                <a:latin typeface="Aptos Display"/>
              </a:rPr>
              <a:t>Resources for today</a:t>
            </a:r>
            <a:endParaRPr sz="4000" b="1" dirty="0">
              <a:solidFill>
                <a:srgbClr val="0F2343"/>
              </a:solidFill>
              <a:latin typeface="Aptos Display"/>
            </a:endParaRPr>
          </a:p>
        </p:txBody>
      </p:sp>
      <p:sp>
        <p:nvSpPr>
          <p:cNvPr id="3" name="Rectangle 2">
            <a:extLst>
              <a:ext uri="{FF2B5EF4-FFF2-40B4-BE49-F238E27FC236}">
                <a16:creationId xmlns:a16="http://schemas.microsoft.com/office/drawing/2014/main" id="{2A3D6B22-BE56-9DB2-E73F-2DA91A620841}"/>
              </a:ext>
            </a:extLst>
          </p:cNvPr>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1">
            <a:extLst>
              <a:ext uri="{FF2B5EF4-FFF2-40B4-BE49-F238E27FC236}">
                <a16:creationId xmlns:a16="http://schemas.microsoft.com/office/drawing/2014/main" id="{7C2FCA52-A7C4-401F-1803-7C9924F20017}"/>
              </a:ext>
            </a:extLst>
          </p:cNvPr>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1</a:t>
            </a:r>
          </a:p>
        </p:txBody>
      </p:sp>
      <p:pic>
        <p:nvPicPr>
          <p:cNvPr id="17" name="Picture 16">
            <a:extLst>
              <a:ext uri="{FF2B5EF4-FFF2-40B4-BE49-F238E27FC236}">
                <a16:creationId xmlns:a16="http://schemas.microsoft.com/office/drawing/2014/main" id="{2449385C-F2CE-AB91-79ED-09774D4DCCAE}"/>
              </a:ext>
            </a:extLst>
          </p:cNvPr>
          <p:cNvPicPr>
            <a:picLocks noChangeAspect="1"/>
          </p:cNvPicPr>
          <p:nvPr/>
        </p:nvPicPr>
        <p:blipFill>
          <a:blip r:embed="rId3"/>
          <a:stretch>
            <a:fillRect/>
          </a:stretch>
        </p:blipFill>
        <p:spPr>
          <a:xfrm>
            <a:off x="5111265" y="-222735"/>
            <a:ext cx="7080735" cy="7080735"/>
          </a:xfrm>
          <a:prstGeom prst="rect">
            <a:avLst/>
          </a:prstGeom>
          <a:ln>
            <a:noFill/>
          </a:ln>
        </p:spPr>
      </p:pic>
      <p:sp>
        <p:nvSpPr>
          <p:cNvPr id="18" name="TextBox 17">
            <a:extLst>
              <a:ext uri="{FF2B5EF4-FFF2-40B4-BE49-F238E27FC236}">
                <a16:creationId xmlns:a16="http://schemas.microsoft.com/office/drawing/2014/main" id="{2FE648C8-27EB-DE2C-822B-40AEA5641233}"/>
              </a:ext>
            </a:extLst>
          </p:cNvPr>
          <p:cNvSpPr txBox="1"/>
          <p:nvPr/>
        </p:nvSpPr>
        <p:spPr>
          <a:xfrm>
            <a:off x="365760" y="2143571"/>
            <a:ext cx="4495607" cy="4370427"/>
          </a:xfrm>
          <a:prstGeom prst="rect">
            <a:avLst/>
          </a:prstGeom>
          <a:noFill/>
        </p:spPr>
        <p:txBody>
          <a:bodyPr wrap="square" tIns="0" rIns="45720" bIns="0">
            <a:spAutoFit/>
          </a:bodyPr>
          <a:lstStyle/>
          <a:p>
            <a:pPr marL="285750" indent="-285750" algn="l">
              <a:buFont typeface="Arial" panose="020B0604020202020204" pitchFamily="34" charset="0"/>
              <a:buChar char="•"/>
            </a:pPr>
            <a:r>
              <a:rPr lang="en-US" sz="2400" dirty="0">
                <a:solidFill>
                  <a:srgbClr val="0F2343"/>
                </a:solidFill>
                <a:latin typeface="Aptos"/>
              </a:rPr>
              <a:t>After the workshop you will have the repo and this ppt to explore it.</a:t>
            </a:r>
          </a:p>
          <a:p>
            <a:pPr marL="285750" indent="-285750" algn="l">
              <a:buFont typeface="Arial" panose="020B0604020202020204" pitchFamily="34" charset="0"/>
              <a:buChar char="•"/>
            </a:pPr>
            <a:endParaRPr lang="en-US" sz="2400" dirty="0">
              <a:solidFill>
                <a:srgbClr val="0F2343"/>
              </a:solidFill>
              <a:latin typeface="Aptos"/>
            </a:endParaRPr>
          </a:p>
          <a:p>
            <a:pPr marL="285750" indent="-285750" algn="l">
              <a:buFont typeface="Arial" panose="020B0604020202020204" pitchFamily="34" charset="0"/>
              <a:buChar char="•"/>
            </a:pPr>
            <a:r>
              <a:rPr lang="en-US" sz="2400" dirty="0">
                <a:solidFill>
                  <a:srgbClr val="0F2343"/>
                </a:solidFill>
                <a:latin typeface="Aptos"/>
              </a:rPr>
              <a:t>No laptop required during the session.</a:t>
            </a:r>
          </a:p>
          <a:p>
            <a:pPr marL="285750" indent="-285750" algn="l">
              <a:buFont typeface="Arial" panose="020B0604020202020204" pitchFamily="34" charset="0"/>
              <a:buChar char="•"/>
            </a:pPr>
            <a:endParaRPr lang="en-US" sz="2400" dirty="0">
              <a:solidFill>
                <a:srgbClr val="0F2343"/>
              </a:solidFill>
              <a:latin typeface="Aptos"/>
            </a:endParaRPr>
          </a:p>
          <a:p>
            <a:pPr marL="285750" indent="-285750" algn="l">
              <a:buFont typeface="Arial" panose="020B0604020202020204" pitchFamily="34" charset="0"/>
              <a:buChar char="•"/>
            </a:pPr>
            <a:r>
              <a:rPr lang="en-US" sz="2400" dirty="0">
                <a:solidFill>
                  <a:srgbClr val="0F2343"/>
                </a:solidFill>
                <a:latin typeface="Aptos"/>
              </a:rPr>
              <a:t>Have some paper and pencil to do some exercises.</a:t>
            </a:r>
          </a:p>
          <a:p>
            <a:pPr marL="285750" indent="-285750" algn="l">
              <a:buFont typeface="Arial" panose="020B0604020202020204" pitchFamily="34" charset="0"/>
              <a:buChar char="•"/>
            </a:pPr>
            <a:endParaRPr lang="en-US" sz="2400" dirty="0">
              <a:solidFill>
                <a:srgbClr val="0F2343"/>
              </a:solidFill>
              <a:latin typeface="Aptos"/>
            </a:endParaRPr>
          </a:p>
          <a:p>
            <a:pPr marL="285750" indent="-285750" algn="l">
              <a:buFont typeface="Arial" panose="020B0604020202020204" pitchFamily="34" charset="0"/>
              <a:buChar char="•"/>
            </a:pPr>
            <a:r>
              <a:rPr lang="en-US" sz="2400" dirty="0">
                <a:solidFill>
                  <a:srgbClr val="0F2343"/>
                </a:solidFill>
                <a:latin typeface="Aptos"/>
              </a:rPr>
              <a:t>Form pairs.</a:t>
            </a:r>
          </a:p>
          <a:p>
            <a:pPr marL="285750" indent="-285750" algn="l">
              <a:buFont typeface="Arial" panose="020B0604020202020204" pitchFamily="34" charset="0"/>
              <a:buChar char="•"/>
            </a:pPr>
            <a:endParaRPr lang="en-US" sz="2000" dirty="0">
              <a:solidFill>
                <a:srgbClr val="0F2343"/>
              </a:solidFill>
              <a:latin typeface="Aptos"/>
            </a:endParaRPr>
          </a:p>
        </p:txBody>
      </p:sp>
    </p:spTree>
    <p:extLst>
      <p:ext uri="{BB962C8B-B14F-4D97-AF65-F5344CB8AC3E}">
        <p14:creationId xmlns:p14="http://schemas.microsoft.com/office/powerpoint/2010/main" val="3609246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EB56A-4F3C-DABE-B785-1BB860713E41}"/>
            </a:ext>
          </a:extLst>
        </p:cNvPr>
        <p:cNvGrpSpPr/>
        <p:nvPr/>
      </p:nvGrpSpPr>
      <p:grpSpPr>
        <a:xfrm>
          <a:off x="0" y="0"/>
          <a:ext cx="0" cy="0"/>
          <a:chOff x="0" y="0"/>
          <a:chExt cx="0" cy="0"/>
        </a:xfrm>
      </p:grpSpPr>
      <p:sp>
        <p:nvSpPr>
          <p:cNvPr id="2" name="Slide title">
            <a:extLst>
              <a:ext uri="{FF2B5EF4-FFF2-40B4-BE49-F238E27FC236}">
                <a16:creationId xmlns:a16="http://schemas.microsoft.com/office/drawing/2014/main" id="{1CE97122-A849-A217-C89C-1B141C04EB87}"/>
              </a:ext>
            </a:extLst>
          </p:cNvPr>
          <p:cNvSpPr txBox="1"/>
          <p:nvPr/>
        </p:nvSpPr>
        <p:spPr>
          <a:xfrm>
            <a:off x="190500" y="246888"/>
            <a:ext cx="11856720" cy="1188720"/>
          </a:xfrm>
          <a:prstGeom prst="rect">
            <a:avLst/>
          </a:prstGeom>
          <a:noFill/>
        </p:spPr>
        <p:txBody>
          <a:bodyPr wrap="square" lIns="0" tIns="0" rIns="0" bIns="0" anchor="t">
            <a:noAutofit/>
          </a:bodyPr>
          <a:lstStyle/>
          <a:p>
            <a:pPr algn="l">
              <a:lnSpc>
                <a:spcPct val="106000"/>
              </a:lnSpc>
              <a:spcBef>
                <a:spcPts val="0"/>
              </a:spcBef>
              <a:spcAft>
                <a:spcPts val="0"/>
              </a:spcAft>
            </a:pPr>
            <a:r>
              <a:rPr lang="en-US" sz="4000" b="1" dirty="0">
                <a:solidFill>
                  <a:srgbClr val="0F2343"/>
                </a:solidFill>
                <a:latin typeface="Aptos Display"/>
              </a:rPr>
              <a:t>Goal today: touching the surface of a DSS</a:t>
            </a:r>
            <a:endParaRPr sz="4000" b="1" dirty="0">
              <a:solidFill>
                <a:srgbClr val="0F2343"/>
              </a:solidFill>
              <a:latin typeface="Aptos Display"/>
            </a:endParaRPr>
          </a:p>
        </p:txBody>
      </p:sp>
      <p:sp>
        <p:nvSpPr>
          <p:cNvPr id="3" name="Rectangle 2">
            <a:extLst>
              <a:ext uri="{FF2B5EF4-FFF2-40B4-BE49-F238E27FC236}">
                <a16:creationId xmlns:a16="http://schemas.microsoft.com/office/drawing/2014/main" id="{76B89CCE-F292-6936-D106-FFF75C5B0387}"/>
              </a:ext>
            </a:extLst>
          </p:cNvPr>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1">
            <a:extLst>
              <a:ext uri="{FF2B5EF4-FFF2-40B4-BE49-F238E27FC236}">
                <a16:creationId xmlns:a16="http://schemas.microsoft.com/office/drawing/2014/main" id="{E58CD427-6E8C-354E-7D88-163ABF1C738C}"/>
              </a:ext>
            </a:extLst>
          </p:cNvPr>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1</a:t>
            </a:r>
          </a:p>
        </p:txBody>
      </p:sp>
      <p:pic>
        <p:nvPicPr>
          <p:cNvPr id="16" name="Picture 15">
            <a:extLst>
              <a:ext uri="{FF2B5EF4-FFF2-40B4-BE49-F238E27FC236}">
                <a16:creationId xmlns:a16="http://schemas.microsoft.com/office/drawing/2014/main" id="{C0E74C81-61F4-B7CD-7B41-F95B40AAC2CB}"/>
              </a:ext>
            </a:extLst>
          </p:cNvPr>
          <p:cNvPicPr>
            <a:picLocks noChangeAspect="1"/>
          </p:cNvPicPr>
          <p:nvPr/>
        </p:nvPicPr>
        <p:blipFill>
          <a:blip r:embed="rId3"/>
          <a:stretch>
            <a:fillRect/>
          </a:stretch>
        </p:blipFill>
        <p:spPr>
          <a:xfrm>
            <a:off x="0" y="890137"/>
            <a:ext cx="12192000" cy="6861646"/>
          </a:xfrm>
          <a:prstGeom prst="rect">
            <a:avLst/>
          </a:prstGeom>
        </p:spPr>
      </p:pic>
    </p:spTree>
    <p:extLst>
      <p:ext uri="{BB962C8B-B14F-4D97-AF65-F5344CB8AC3E}">
        <p14:creationId xmlns:p14="http://schemas.microsoft.com/office/powerpoint/2010/main" val="1536977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38521-53AF-E4D3-7966-E7B4D03534B5}"/>
            </a:ext>
          </a:extLst>
        </p:cNvPr>
        <p:cNvGrpSpPr/>
        <p:nvPr/>
      </p:nvGrpSpPr>
      <p:grpSpPr>
        <a:xfrm>
          <a:off x="0" y="0"/>
          <a:ext cx="0" cy="0"/>
          <a:chOff x="0" y="0"/>
          <a:chExt cx="0" cy="0"/>
        </a:xfrm>
      </p:grpSpPr>
      <p:sp>
        <p:nvSpPr>
          <p:cNvPr id="2" name="Slide title">
            <a:extLst>
              <a:ext uri="{FF2B5EF4-FFF2-40B4-BE49-F238E27FC236}">
                <a16:creationId xmlns:a16="http://schemas.microsoft.com/office/drawing/2014/main" id="{17252CF2-9167-36BC-0786-AB5E20E7B9DD}"/>
              </a:ext>
            </a:extLst>
          </p:cNvPr>
          <p:cNvSpPr txBox="1"/>
          <p:nvPr/>
        </p:nvSpPr>
        <p:spPr>
          <a:xfrm>
            <a:off x="502920" y="246888"/>
            <a:ext cx="11544300" cy="1188720"/>
          </a:xfrm>
          <a:prstGeom prst="rect">
            <a:avLst/>
          </a:prstGeom>
          <a:noFill/>
        </p:spPr>
        <p:txBody>
          <a:bodyPr wrap="square" lIns="0" tIns="0" rIns="0" bIns="0" anchor="t">
            <a:noAutofit/>
          </a:bodyPr>
          <a:lstStyle/>
          <a:p>
            <a:pPr algn="l">
              <a:lnSpc>
                <a:spcPct val="106000"/>
              </a:lnSpc>
              <a:spcBef>
                <a:spcPts val="0"/>
              </a:spcBef>
              <a:spcAft>
                <a:spcPts val="0"/>
              </a:spcAft>
            </a:pPr>
            <a:r>
              <a:rPr lang="en-US" sz="4000" b="1" dirty="0">
                <a:solidFill>
                  <a:srgbClr val="0F2343"/>
                </a:solidFill>
                <a:latin typeface="Aptos Display"/>
              </a:rPr>
              <a:t>Agenda for today</a:t>
            </a:r>
            <a:endParaRPr sz="4000" b="1" dirty="0">
              <a:solidFill>
                <a:srgbClr val="0F2343"/>
              </a:solidFill>
              <a:latin typeface="Aptos Display"/>
            </a:endParaRPr>
          </a:p>
        </p:txBody>
      </p:sp>
      <p:sp>
        <p:nvSpPr>
          <p:cNvPr id="3" name="Rectangle 2">
            <a:extLst>
              <a:ext uri="{FF2B5EF4-FFF2-40B4-BE49-F238E27FC236}">
                <a16:creationId xmlns:a16="http://schemas.microsoft.com/office/drawing/2014/main" id="{773D04AA-A053-150D-391D-4D55E58049C7}"/>
              </a:ext>
            </a:extLst>
          </p:cNvPr>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1">
            <a:extLst>
              <a:ext uri="{FF2B5EF4-FFF2-40B4-BE49-F238E27FC236}">
                <a16:creationId xmlns:a16="http://schemas.microsoft.com/office/drawing/2014/main" id="{9F4409AE-6E6D-C95C-4E4A-EFC03DFD12E5}"/>
              </a:ext>
            </a:extLst>
          </p:cNvPr>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1</a:t>
            </a:r>
          </a:p>
        </p:txBody>
      </p:sp>
      <p:sp>
        <p:nvSpPr>
          <p:cNvPr id="6" name="TextBox 5">
            <a:extLst>
              <a:ext uri="{FF2B5EF4-FFF2-40B4-BE49-F238E27FC236}">
                <a16:creationId xmlns:a16="http://schemas.microsoft.com/office/drawing/2014/main" id="{6D7F48B3-920B-D521-CDEA-836A4673C7FB}"/>
              </a:ext>
            </a:extLst>
          </p:cNvPr>
          <p:cNvSpPr txBox="1"/>
          <p:nvPr/>
        </p:nvSpPr>
        <p:spPr>
          <a:xfrm>
            <a:off x="458724" y="1749871"/>
            <a:ext cx="11274552" cy="3807004"/>
          </a:xfrm>
          <a:prstGeom prst="rect">
            <a:avLst/>
          </a:prstGeom>
          <a:noFill/>
        </p:spPr>
        <p:txBody>
          <a:bodyPr wrap="square" tIns="0" rIns="45720" bIns="0">
            <a:spAutoFit/>
          </a:bodyPr>
          <a:lstStyle/>
          <a:p>
            <a:pPr marL="285750" indent="-285750" algn="l">
              <a:lnSpc>
                <a:spcPct val="200000"/>
              </a:lnSpc>
              <a:buFont typeface="Arial" panose="020B0604020202020204" pitchFamily="34" charset="0"/>
              <a:buChar char="•"/>
            </a:pPr>
            <a:r>
              <a:rPr lang="en-US" sz="3200" b="1" dirty="0">
                <a:solidFill>
                  <a:srgbClr val="0F2343"/>
                </a:solidFill>
                <a:latin typeface="Aptos"/>
              </a:rPr>
              <a:t>Part I – What is a decision-support system?</a:t>
            </a:r>
          </a:p>
          <a:p>
            <a:pPr marL="285750" indent="-285750" algn="l">
              <a:lnSpc>
                <a:spcPct val="200000"/>
              </a:lnSpc>
              <a:buFont typeface="Arial" panose="020B0604020202020204" pitchFamily="34" charset="0"/>
              <a:buChar char="•"/>
            </a:pPr>
            <a:r>
              <a:rPr lang="en-US" sz="3200" dirty="0">
                <a:solidFill>
                  <a:srgbClr val="0F2343"/>
                </a:solidFill>
                <a:latin typeface="Aptos"/>
              </a:rPr>
              <a:t>Part II – Are we solving the right problem?</a:t>
            </a:r>
          </a:p>
          <a:p>
            <a:pPr marL="285750" indent="-285750" algn="l">
              <a:lnSpc>
                <a:spcPct val="200000"/>
              </a:lnSpc>
              <a:buFont typeface="Arial" panose="020B0604020202020204" pitchFamily="34" charset="0"/>
              <a:buChar char="•"/>
            </a:pPr>
            <a:r>
              <a:rPr lang="en-US" sz="3200" dirty="0">
                <a:solidFill>
                  <a:srgbClr val="0F2343"/>
                </a:solidFill>
                <a:latin typeface="Aptos"/>
              </a:rPr>
              <a:t>Part III – Are we solving the problem right?</a:t>
            </a:r>
          </a:p>
          <a:p>
            <a:pPr marL="285750" indent="-285750">
              <a:lnSpc>
                <a:spcPct val="200000"/>
              </a:lnSpc>
              <a:buFont typeface="Arial" panose="020B0604020202020204" pitchFamily="34" charset="0"/>
              <a:buChar char="•"/>
            </a:pPr>
            <a:r>
              <a:rPr lang="en-US" sz="3200" dirty="0">
                <a:solidFill>
                  <a:srgbClr val="0F2343"/>
                </a:solidFill>
                <a:latin typeface="Aptos"/>
              </a:rPr>
              <a:t>Part IV – Closing &amp; conclusions</a:t>
            </a:r>
            <a:endParaRPr lang="en-US" sz="2800" dirty="0">
              <a:solidFill>
                <a:srgbClr val="0F2343"/>
              </a:solidFill>
              <a:latin typeface="Aptos"/>
            </a:endParaRPr>
          </a:p>
        </p:txBody>
      </p:sp>
    </p:spTree>
    <p:extLst>
      <p:ext uri="{BB962C8B-B14F-4D97-AF65-F5344CB8AC3E}">
        <p14:creationId xmlns:p14="http://schemas.microsoft.com/office/powerpoint/2010/main" val="2886573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17633-C639-25E4-A452-0C27E1049332}"/>
            </a:ext>
          </a:extLst>
        </p:cNvPr>
        <p:cNvGrpSpPr/>
        <p:nvPr/>
      </p:nvGrpSpPr>
      <p:grpSpPr>
        <a:xfrm>
          <a:off x="0" y="0"/>
          <a:ext cx="0" cy="0"/>
          <a:chOff x="0" y="0"/>
          <a:chExt cx="0" cy="0"/>
        </a:xfrm>
      </p:grpSpPr>
      <p:sp>
        <p:nvSpPr>
          <p:cNvPr id="2" name="Slide title">
            <a:extLst>
              <a:ext uri="{FF2B5EF4-FFF2-40B4-BE49-F238E27FC236}">
                <a16:creationId xmlns:a16="http://schemas.microsoft.com/office/drawing/2014/main" id="{AD085262-5ED5-ECF1-9256-9F90ADC4A70B}"/>
              </a:ext>
            </a:extLst>
          </p:cNvPr>
          <p:cNvSpPr txBox="1"/>
          <p:nvPr/>
        </p:nvSpPr>
        <p:spPr>
          <a:xfrm>
            <a:off x="502920" y="246888"/>
            <a:ext cx="11544300" cy="1188720"/>
          </a:xfrm>
          <a:prstGeom prst="rect">
            <a:avLst/>
          </a:prstGeom>
          <a:noFill/>
        </p:spPr>
        <p:txBody>
          <a:bodyPr wrap="square" lIns="0" tIns="0" rIns="0" bIns="0" anchor="t">
            <a:noAutofit/>
          </a:bodyPr>
          <a:lstStyle/>
          <a:p>
            <a:pPr algn="l">
              <a:lnSpc>
                <a:spcPct val="106000"/>
              </a:lnSpc>
              <a:spcBef>
                <a:spcPts val="0"/>
              </a:spcBef>
              <a:spcAft>
                <a:spcPts val="0"/>
              </a:spcAft>
            </a:pPr>
            <a:r>
              <a:rPr lang="en-US" sz="4000" b="1" dirty="0">
                <a:solidFill>
                  <a:srgbClr val="0F2343"/>
                </a:solidFill>
                <a:latin typeface="Aptos Display"/>
              </a:rPr>
              <a:t>What is a decision-support system?</a:t>
            </a:r>
            <a:endParaRPr sz="4000" b="1" dirty="0">
              <a:solidFill>
                <a:srgbClr val="0F2343"/>
              </a:solidFill>
              <a:latin typeface="Aptos Display"/>
            </a:endParaRPr>
          </a:p>
        </p:txBody>
      </p:sp>
      <p:sp>
        <p:nvSpPr>
          <p:cNvPr id="3" name="Rectangle 2">
            <a:extLst>
              <a:ext uri="{FF2B5EF4-FFF2-40B4-BE49-F238E27FC236}">
                <a16:creationId xmlns:a16="http://schemas.microsoft.com/office/drawing/2014/main" id="{4CA973A8-EDFF-31F3-5A57-5322244B6608}"/>
              </a:ext>
            </a:extLst>
          </p:cNvPr>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1">
            <a:extLst>
              <a:ext uri="{FF2B5EF4-FFF2-40B4-BE49-F238E27FC236}">
                <a16:creationId xmlns:a16="http://schemas.microsoft.com/office/drawing/2014/main" id="{28A241DC-AFE0-CE02-1979-EDAD685A14C1}"/>
              </a:ext>
            </a:extLst>
          </p:cNvPr>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1</a:t>
            </a:r>
          </a:p>
        </p:txBody>
      </p:sp>
      <p:pic>
        <p:nvPicPr>
          <p:cNvPr id="6" name="fleet" descr="fleet">
            <a:extLst>
              <a:ext uri="{FF2B5EF4-FFF2-40B4-BE49-F238E27FC236}">
                <a16:creationId xmlns:a16="http://schemas.microsoft.com/office/drawing/2014/main" id="{FE746FC9-2D82-CEF7-E977-2B772CB51C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1328" y="3319041"/>
            <a:ext cx="1828800" cy="1828800"/>
          </a:xfrm>
          <a:prstGeom prst="rect">
            <a:avLst/>
          </a:prstGeom>
        </p:spPr>
      </p:pic>
      <p:sp>
        <p:nvSpPr>
          <p:cNvPr id="7" name="Text: Plan the fleet">
            <a:extLst>
              <a:ext uri="{FF2B5EF4-FFF2-40B4-BE49-F238E27FC236}">
                <a16:creationId xmlns:a16="http://schemas.microsoft.com/office/drawing/2014/main" id="{5F70B599-8E48-65C5-5666-7211BBC9F2D3}"/>
              </a:ext>
            </a:extLst>
          </p:cNvPr>
          <p:cNvSpPr txBox="1"/>
          <p:nvPr/>
        </p:nvSpPr>
        <p:spPr>
          <a:xfrm>
            <a:off x="649224" y="5395422"/>
            <a:ext cx="3493008" cy="502920"/>
          </a:xfrm>
          <a:prstGeom prst="rect">
            <a:avLst/>
          </a:prstGeom>
          <a:noFill/>
        </p:spPr>
        <p:txBody>
          <a:bodyPr wrap="square" lIns="0" tIns="0" rIns="0" bIns="0" anchor="ctr">
            <a:noAutofit/>
          </a:bodyPr>
          <a:lstStyle/>
          <a:p>
            <a:pPr algn="ctr">
              <a:lnSpc>
                <a:spcPct val="106000"/>
              </a:lnSpc>
              <a:spcBef>
                <a:spcPts val="0"/>
              </a:spcBef>
              <a:spcAft>
                <a:spcPts val="0"/>
              </a:spcAft>
            </a:pPr>
            <a:r>
              <a:rPr sz="2700" b="1" dirty="0">
                <a:solidFill>
                  <a:srgbClr val="0F2343"/>
                </a:solidFill>
                <a:latin typeface="Aptos"/>
              </a:rPr>
              <a:t>Plan the fleet</a:t>
            </a:r>
          </a:p>
        </p:txBody>
      </p:sp>
      <p:sp>
        <p:nvSpPr>
          <p:cNvPr id="8" name="Text: Annually">
            <a:extLst>
              <a:ext uri="{FF2B5EF4-FFF2-40B4-BE49-F238E27FC236}">
                <a16:creationId xmlns:a16="http://schemas.microsoft.com/office/drawing/2014/main" id="{09427772-7F24-0F06-02F0-04D426030DD7}"/>
              </a:ext>
            </a:extLst>
          </p:cNvPr>
          <p:cNvSpPr txBox="1"/>
          <p:nvPr/>
        </p:nvSpPr>
        <p:spPr>
          <a:xfrm>
            <a:off x="841248" y="5914315"/>
            <a:ext cx="3108960" cy="502920"/>
          </a:xfrm>
          <a:prstGeom prst="rect">
            <a:avLst/>
          </a:prstGeom>
          <a:noFill/>
        </p:spPr>
        <p:txBody>
          <a:bodyPr wrap="square" lIns="0" tIns="0" rIns="0" bIns="0" anchor="ctr">
            <a:noAutofit/>
          </a:bodyPr>
          <a:lstStyle/>
          <a:p>
            <a:pPr algn="ctr">
              <a:lnSpc>
                <a:spcPct val="106000"/>
              </a:lnSpc>
              <a:spcBef>
                <a:spcPts val="0"/>
              </a:spcBef>
              <a:spcAft>
                <a:spcPts val="0"/>
              </a:spcAft>
            </a:pPr>
            <a:r>
              <a:rPr sz="2600" b="1" dirty="0">
                <a:solidFill>
                  <a:srgbClr val="F97316"/>
                </a:solidFill>
                <a:latin typeface="Aptos"/>
              </a:rPr>
              <a:t>Annually</a:t>
            </a:r>
          </a:p>
        </p:txBody>
      </p:sp>
      <p:pic>
        <p:nvPicPr>
          <p:cNvPr id="9" name="crew" descr="crew">
            <a:extLst>
              <a:ext uri="{FF2B5EF4-FFF2-40B4-BE49-F238E27FC236}">
                <a16:creationId xmlns:a16="http://schemas.microsoft.com/office/drawing/2014/main" id="{D877AF5A-B17D-DA07-A810-3D69343049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75504" y="3319041"/>
            <a:ext cx="1828800" cy="1828800"/>
          </a:xfrm>
          <a:prstGeom prst="rect">
            <a:avLst/>
          </a:prstGeom>
        </p:spPr>
      </p:pic>
      <p:sp>
        <p:nvSpPr>
          <p:cNvPr id="10" name="Text: Schedule crews">
            <a:extLst>
              <a:ext uri="{FF2B5EF4-FFF2-40B4-BE49-F238E27FC236}">
                <a16:creationId xmlns:a16="http://schemas.microsoft.com/office/drawing/2014/main" id="{8D7D20ED-72D8-A880-0315-3DAC24607721}"/>
              </a:ext>
            </a:extLst>
          </p:cNvPr>
          <p:cNvSpPr txBox="1"/>
          <p:nvPr/>
        </p:nvSpPr>
        <p:spPr>
          <a:xfrm>
            <a:off x="4343400" y="5395422"/>
            <a:ext cx="3493008" cy="502920"/>
          </a:xfrm>
          <a:prstGeom prst="rect">
            <a:avLst/>
          </a:prstGeom>
          <a:noFill/>
        </p:spPr>
        <p:txBody>
          <a:bodyPr wrap="square" lIns="0" tIns="0" rIns="0" bIns="0" anchor="ctr">
            <a:noAutofit/>
          </a:bodyPr>
          <a:lstStyle/>
          <a:p>
            <a:pPr algn="ctr">
              <a:lnSpc>
                <a:spcPct val="106000"/>
              </a:lnSpc>
              <a:spcBef>
                <a:spcPts val="0"/>
              </a:spcBef>
              <a:spcAft>
                <a:spcPts val="0"/>
              </a:spcAft>
            </a:pPr>
            <a:r>
              <a:rPr sz="2700" b="1">
                <a:solidFill>
                  <a:srgbClr val="0F2343"/>
                </a:solidFill>
                <a:latin typeface="Aptos"/>
              </a:rPr>
              <a:t>Schedule crews</a:t>
            </a:r>
          </a:p>
        </p:txBody>
      </p:sp>
      <p:sp>
        <p:nvSpPr>
          <p:cNvPr id="11" name="Text: Monthly">
            <a:extLst>
              <a:ext uri="{FF2B5EF4-FFF2-40B4-BE49-F238E27FC236}">
                <a16:creationId xmlns:a16="http://schemas.microsoft.com/office/drawing/2014/main" id="{C36DE821-15AA-F958-BBBC-B5086CE188D1}"/>
              </a:ext>
            </a:extLst>
          </p:cNvPr>
          <p:cNvSpPr txBox="1"/>
          <p:nvPr/>
        </p:nvSpPr>
        <p:spPr>
          <a:xfrm>
            <a:off x="4535424" y="5914315"/>
            <a:ext cx="3108960" cy="502920"/>
          </a:xfrm>
          <a:prstGeom prst="rect">
            <a:avLst/>
          </a:prstGeom>
          <a:noFill/>
        </p:spPr>
        <p:txBody>
          <a:bodyPr wrap="square" lIns="0" tIns="0" rIns="0" bIns="0" anchor="ctr">
            <a:noAutofit/>
          </a:bodyPr>
          <a:lstStyle/>
          <a:p>
            <a:pPr algn="ctr">
              <a:lnSpc>
                <a:spcPct val="106000"/>
              </a:lnSpc>
              <a:spcBef>
                <a:spcPts val="0"/>
              </a:spcBef>
              <a:spcAft>
                <a:spcPts val="0"/>
              </a:spcAft>
            </a:pPr>
            <a:r>
              <a:rPr sz="2600" b="1">
                <a:solidFill>
                  <a:srgbClr val="F97316"/>
                </a:solidFill>
                <a:latin typeface="Aptos"/>
              </a:rPr>
              <a:t>Monthly</a:t>
            </a:r>
          </a:p>
        </p:txBody>
      </p:sp>
      <p:pic>
        <p:nvPicPr>
          <p:cNvPr id="12" name="disruption" descr="disruption">
            <a:extLst>
              <a:ext uri="{FF2B5EF4-FFF2-40B4-BE49-F238E27FC236}">
                <a16:creationId xmlns:a16="http://schemas.microsoft.com/office/drawing/2014/main" id="{5584C9F2-F804-BE7D-3B12-B86CCED0B09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69680" y="3319041"/>
            <a:ext cx="1828800" cy="1828800"/>
          </a:xfrm>
          <a:prstGeom prst="rect">
            <a:avLst/>
          </a:prstGeom>
        </p:spPr>
      </p:pic>
      <p:sp>
        <p:nvSpPr>
          <p:cNvPr id="13" name="Text: Recover operations">
            <a:extLst>
              <a:ext uri="{FF2B5EF4-FFF2-40B4-BE49-F238E27FC236}">
                <a16:creationId xmlns:a16="http://schemas.microsoft.com/office/drawing/2014/main" id="{E0649B19-C305-E36C-9BBD-577FEC101B90}"/>
              </a:ext>
            </a:extLst>
          </p:cNvPr>
          <p:cNvSpPr txBox="1"/>
          <p:nvPr/>
        </p:nvSpPr>
        <p:spPr>
          <a:xfrm>
            <a:off x="8037575" y="5395422"/>
            <a:ext cx="3493008" cy="502920"/>
          </a:xfrm>
          <a:prstGeom prst="rect">
            <a:avLst/>
          </a:prstGeom>
          <a:noFill/>
        </p:spPr>
        <p:txBody>
          <a:bodyPr wrap="square" lIns="0" tIns="0" rIns="0" bIns="0" anchor="ctr">
            <a:noAutofit/>
          </a:bodyPr>
          <a:lstStyle/>
          <a:p>
            <a:pPr algn="ctr">
              <a:lnSpc>
                <a:spcPct val="106000"/>
              </a:lnSpc>
              <a:spcBef>
                <a:spcPts val="0"/>
              </a:spcBef>
              <a:spcAft>
                <a:spcPts val="0"/>
              </a:spcAft>
            </a:pPr>
            <a:r>
              <a:rPr sz="2700" b="1">
                <a:solidFill>
                  <a:srgbClr val="0F2343"/>
                </a:solidFill>
                <a:latin typeface="Aptos"/>
              </a:rPr>
              <a:t>Recover operations</a:t>
            </a:r>
          </a:p>
        </p:txBody>
      </p:sp>
      <p:sp>
        <p:nvSpPr>
          <p:cNvPr id="14" name="Text: Daily">
            <a:extLst>
              <a:ext uri="{FF2B5EF4-FFF2-40B4-BE49-F238E27FC236}">
                <a16:creationId xmlns:a16="http://schemas.microsoft.com/office/drawing/2014/main" id="{85C32A7B-FF16-7B83-C05E-A848ECA7CB8B}"/>
              </a:ext>
            </a:extLst>
          </p:cNvPr>
          <p:cNvSpPr txBox="1"/>
          <p:nvPr/>
        </p:nvSpPr>
        <p:spPr>
          <a:xfrm>
            <a:off x="8229600" y="5914315"/>
            <a:ext cx="3108960" cy="502920"/>
          </a:xfrm>
          <a:prstGeom prst="rect">
            <a:avLst/>
          </a:prstGeom>
          <a:noFill/>
        </p:spPr>
        <p:txBody>
          <a:bodyPr wrap="square" lIns="0" tIns="0" rIns="0" bIns="0" anchor="ctr">
            <a:noAutofit/>
          </a:bodyPr>
          <a:lstStyle/>
          <a:p>
            <a:pPr algn="ctr">
              <a:lnSpc>
                <a:spcPct val="106000"/>
              </a:lnSpc>
              <a:spcBef>
                <a:spcPts val="0"/>
              </a:spcBef>
              <a:spcAft>
                <a:spcPts val="0"/>
              </a:spcAft>
            </a:pPr>
            <a:r>
              <a:rPr sz="2600" b="1">
                <a:solidFill>
                  <a:srgbClr val="F97316"/>
                </a:solidFill>
                <a:latin typeface="Aptos"/>
              </a:rPr>
              <a:t>Daily</a:t>
            </a:r>
          </a:p>
        </p:txBody>
      </p:sp>
      <p:sp>
        <p:nvSpPr>
          <p:cNvPr id="15" name="TextBox 14">
            <a:extLst>
              <a:ext uri="{FF2B5EF4-FFF2-40B4-BE49-F238E27FC236}">
                <a16:creationId xmlns:a16="http://schemas.microsoft.com/office/drawing/2014/main" id="{8041EEF0-3C1F-1C1B-6FD7-B3E34A553B02}"/>
              </a:ext>
            </a:extLst>
          </p:cNvPr>
          <p:cNvSpPr txBox="1"/>
          <p:nvPr/>
        </p:nvSpPr>
        <p:spPr>
          <a:xfrm>
            <a:off x="365760" y="1824531"/>
            <a:ext cx="11567160" cy="1248290"/>
          </a:xfrm>
          <a:prstGeom prst="rect">
            <a:avLst/>
          </a:prstGeom>
          <a:noFill/>
        </p:spPr>
        <p:txBody>
          <a:bodyPr wrap="square" tIns="0" rIns="45720" bIns="0">
            <a:spAutoFit/>
          </a:bodyPr>
          <a:lstStyle/>
          <a:p>
            <a:pPr marL="285750" indent="-285750" algn="l">
              <a:buFont typeface="Arial" panose="020B0604020202020204" pitchFamily="34" charset="0"/>
              <a:buChar char="•"/>
            </a:pPr>
            <a:r>
              <a:rPr sz="2400" b="0" dirty="0">
                <a:solidFill>
                  <a:srgbClr val="0F2343"/>
                </a:solidFill>
                <a:latin typeface="Aptos"/>
              </a:rPr>
              <a:t>Operations Research (OR) turns data + business needs + mathematics </a:t>
            </a:r>
            <a:r>
              <a:rPr lang="en-US" sz="2400" b="0" dirty="0">
                <a:solidFill>
                  <a:srgbClr val="0F2343"/>
                </a:solidFill>
                <a:latin typeface="Aptos"/>
                <a:sym typeface="Wingdings" panose="05000000000000000000" pitchFamily="2" charset="2"/>
              </a:rPr>
              <a:t> </a:t>
            </a:r>
            <a:r>
              <a:rPr sz="2400" b="0" dirty="0">
                <a:solidFill>
                  <a:srgbClr val="0F2343"/>
                </a:solidFill>
                <a:latin typeface="Aptos"/>
              </a:rPr>
              <a:t>decision.</a:t>
            </a:r>
          </a:p>
          <a:p>
            <a:pPr algn="l">
              <a:lnSpc>
                <a:spcPct val="150000"/>
              </a:lnSpc>
            </a:pPr>
            <a:r>
              <a:rPr lang="en-US" sz="2000" b="1" dirty="0">
                <a:solidFill>
                  <a:srgbClr val="0F2343"/>
                </a:solidFill>
                <a:latin typeface="Aptos"/>
              </a:rPr>
              <a:t>	</a:t>
            </a:r>
            <a:r>
              <a:rPr sz="2000" dirty="0">
                <a:solidFill>
                  <a:srgbClr val="0F2343"/>
                </a:solidFill>
                <a:latin typeface="Aptos"/>
              </a:rPr>
              <a:t>A</a:t>
            </a:r>
            <a:r>
              <a:rPr lang="en-US" sz="2000" dirty="0">
                <a:solidFill>
                  <a:srgbClr val="0F2343"/>
                </a:solidFill>
                <a:latin typeface="Aptos"/>
              </a:rPr>
              <a:t>n</a:t>
            </a:r>
            <a:r>
              <a:rPr sz="2000" dirty="0">
                <a:solidFill>
                  <a:srgbClr val="0F2343"/>
                </a:solidFill>
                <a:latin typeface="Aptos"/>
              </a:rPr>
              <a:t> </a:t>
            </a:r>
            <a:r>
              <a:rPr lang="en-US" sz="2000" b="1" dirty="0">
                <a:solidFill>
                  <a:srgbClr val="0F2343"/>
                </a:solidFill>
                <a:latin typeface="Aptos"/>
              </a:rPr>
              <a:t>analysis </a:t>
            </a:r>
            <a:r>
              <a:rPr lang="en-US" sz="2000" b="0" dirty="0">
                <a:solidFill>
                  <a:srgbClr val="0F2343"/>
                </a:solidFill>
                <a:latin typeface="Aptos"/>
              </a:rPr>
              <a:t>delivers</a:t>
            </a:r>
            <a:r>
              <a:rPr sz="2000" b="0" dirty="0">
                <a:solidFill>
                  <a:srgbClr val="0F2343"/>
                </a:solidFill>
                <a:latin typeface="Aptos"/>
              </a:rPr>
              <a:t> a one-time decision</a:t>
            </a:r>
            <a:r>
              <a:rPr lang="en-US" sz="2000" dirty="0">
                <a:solidFill>
                  <a:srgbClr val="0F2343"/>
                </a:solidFill>
                <a:latin typeface="Aptos"/>
              </a:rPr>
              <a:t>.</a:t>
            </a:r>
          </a:p>
          <a:p>
            <a:pPr algn="l">
              <a:lnSpc>
                <a:spcPct val="150000"/>
              </a:lnSpc>
            </a:pPr>
            <a:r>
              <a:rPr lang="en-US" sz="2000" b="1" dirty="0">
                <a:solidFill>
                  <a:srgbClr val="0F2343"/>
                </a:solidFill>
                <a:latin typeface="Aptos"/>
              </a:rPr>
              <a:t>	</a:t>
            </a:r>
            <a:r>
              <a:rPr sz="2000" dirty="0">
                <a:solidFill>
                  <a:srgbClr val="0F2343"/>
                </a:solidFill>
                <a:latin typeface="Aptos"/>
              </a:rPr>
              <a:t>A </a:t>
            </a:r>
            <a:r>
              <a:rPr lang="en-US" sz="2000" b="1" dirty="0">
                <a:solidFill>
                  <a:srgbClr val="0F2343"/>
                </a:solidFill>
                <a:latin typeface="Aptos"/>
              </a:rPr>
              <a:t>decision-support system</a:t>
            </a:r>
            <a:r>
              <a:rPr sz="2000" b="0" dirty="0">
                <a:solidFill>
                  <a:srgbClr val="0F2343"/>
                </a:solidFill>
                <a:latin typeface="Aptos"/>
              </a:rPr>
              <a:t> </a:t>
            </a:r>
            <a:r>
              <a:rPr lang="en-US" sz="2000" b="0" dirty="0">
                <a:solidFill>
                  <a:srgbClr val="0F2343"/>
                </a:solidFill>
                <a:latin typeface="Aptos"/>
              </a:rPr>
              <a:t>delivers a recurring decision.</a:t>
            </a:r>
            <a:endParaRPr lang="en-US" sz="2000" dirty="0">
              <a:solidFill>
                <a:srgbClr val="0F2343"/>
              </a:solidFill>
              <a:latin typeface="Aptos"/>
            </a:endParaRPr>
          </a:p>
        </p:txBody>
      </p:sp>
      <p:sp>
        <p:nvSpPr>
          <p:cNvPr id="4" name="Speech Bubble: Rectangle 3">
            <a:extLst>
              <a:ext uri="{FF2B5EF4-FFF2-40B4-BE49-F238E27FC236}">
                <a16:creationId xmlns:a16="http://schemas.microsoft.com/office/drawing/2014/main" id="{CC4C49D7-396A-014B-0555-091ACBBC0C30}"/>
              </a:ext>
            </a:extLst>
          </p:cNvPr>
          <p:cNvSpPr/>
          <p:nvPr/>
        </p:nvSpPr>
        <p:spPr>
          <a:xfrm>
            <a:off x="7919336" y="2296441"/>
            <a:ext cx="3429372" cy="2330605"/>
          </a:xfrm>
          <a:prstGeom prst="wedgeRectCallout">
            <a:avLst>
              <a:gd name="adj1" fmla="val -67007"/>
              <a:gd name="adj2" fmla="val -20754"/>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solidFill>
                  <a:schemeClr val="tx1"/>
                </a:solidFill>
                <a:latin typeface="Aptos" panose="020B0004020202020204" pitchFamily="34" charset="0"/>
              </a:rPr>
              <a:t>What is the implication?</a:t>
            </a:r>
          </a:p>
        </p:txBody>
      </p:sp>
    </p:spTree>
    <p:extLst>
      <p:ext uri="{BB962C8B-B14F-4D97-AF65-F5344CB8AC3E}">
        <p14:creationId xmlns:p14="http://schemas.microsoft.com/office/powerpoint/2010/main" val="3672355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1" grpId="0"/>
      <p:bldP spid="13" grpId="0"/>
      <p:bldP spid="14" grpId="0"/>
      <p:bldP spid="15" grpId="0"/>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lide title"/>
          <p:cNvSpPr txBox="1"/>
          <p:nvPr/>
        </p:nvSpPr>
        <p:spPr>
          <a:xfrm>
            <a:off x="502920" y="246888"/>
            <a:ext cx="11446910" cy="1188720"/>
          </a:xfrm>
          <a:prstGeom prst="rect">
            <a:avLst/>
          </a:prstGeom>
          <a:noFill/>
        </p:spPr>
        <p:txBody>
          <a:bodyPr wrap="square" lIns="0" tIns="0" rIns="0" bIns="0" anchor="t">
            <a:noAutofit/>
          </a:bodyPr>
          <a:lstStyle/>
          <a:p>
            <a:pPr algn="l">
              <a:lnSpc>
                <a:spcPct val="106000"/>
              </a:lnSpc>
              <a:spcBef>
                <a:spcPts val="0"/>
              </a:spcBef>
              <a:spcAft>
                <a:spcPts val="0"/>
              </a:spcAft>
            </a:pPr>
            <a:r>
              <a:rPr sz="4000" b="1" dirty="0">
                <a:solidFill>
                  <a:srgbClr val="0F2343"/>
                </a:solidFill>
                <a:latin typeface="Aptos Display"/>
              </a:rPr>
              <a:t>What would you need before trusting</a:t>
            </a:r>
            <a:r>
              <a:rPr lang="en-US" sz="4000" b="1" dirty="0">
                <a:solidFill>
                  <a:srgbClr val="0F2343"/>
                </a:solidFill>
                <a:latin typeface="Aptos Display"/>
              </a:rPr>
              <a:t> </a:t>
            </a:r>
            <a:r>
              <a:rPr sz="4000" b="1" dirty="0">
                <a:solidFill>
                  <a:srgbClr val="0F2343"/>
                </a:solidFill>
                <a:latin typeface="Aptos Display"/>
              </a:rPr>
              <a:t>a</a:t>
            </a:r>
            <a:r>
              <a:rPr lang="en-US" sz="4000" b="1" dirty="0">
                <a:solidFill>
                  <a:srgbClr val="0F2343"/>
                </a:solidFill>
                <a:latin typeface="Aptos Display"/>
              </a:rPr>
              <a:t> recommendation from a mathematical model</a:t>
            </a:r>
            <a:r>
              <a:rPr sz="4000" b="1" dirty="0">
                <a:solidFill>
                  <a:srgbClr val="0F2343"/>
                </a:solidFill>
                <a:latin typeface="Aptos Display"/>
              </a:rPr>
              <a:t>?</a:t>
            </a:r>
          </a:p>
        </p:txBody>
      </p:sp>
      <p:sp>
        <p:nvSpPr>
          <p:cNvPr id="3" name="Rectangle 2"/>
          <p:cNvSpPr/>
          <p:nvPr/>
        </p:nvSpPr>
        <p:spPr>
          <a:xfrm>
            <a:off x="530352" y="163906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2"/>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2</a:t>
            </a:r>
          </a:p>
        </p:txBody>
      </p:sp>
      <p:sp>
        <p:nvSpPr>
          <p:cNvPr id="6" name="Rounded Rectangle 5"/>
          <p:cNvSpPr/>
          <p:nvPr/>
        </p:nvSpPr>
        <p:spPr>
          <a:xfrm>
            <a:off x="877824" y="2066543"/>
            <a:ext cx="4325112" cy="2587752"/>
          </a:xfrm>
          <a:prstGeom prst="roundRect">
            <a:avLst>
              <a:gd name="adj" fmla="val 12000"/>
            </a:avLst>
          </a:prstGeom>
          <a:solidFill>
            <a:srgbClr val="FFFFFF"/>
          </a:solidFill>
          <a:ln w="3175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96696" y="2304288"/>
            <a:ext cx="4087368" cy="2249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 OPTIMAL"/>
          <p:cNvSpPr txBox="1"/>
          <p:nvPr/>
        </p:nvSpPr>
        <p:spPr>
          <a:xfrm>
            <a:off x="1133856" y="2862072"/>
            <a:ext cx="3813048" cy="731520"/>
          </a:xfrm>
          <a:prstGeom prst="rect">
            <a:avLst/>
          </a:prstGeom>
          <a:noFill/>
        </p:spPr>
        <p:txBody>
          <a:bodyPr wrap="square" lIns="0" tIns="0" rIns="0" bIns="0" anchor="ctr">
            <a:noAutofit/>
          </a:bodyPr>
          <a:lstStyle/>
          <a:p>
            <a:pPr algn="ctr">
              <a:lnSpc>
                <a:spcPct val="106000"/>
              </a:lnSpc>
              <a:spcBef>
                <a:spcPts val="0"/>
              </a:spcBef>
              <a:spcAft>
                <a:spcPts val="0"/>
              </a:spcAft>
            </a:pPr>
            <a:r>
              <a:rPr lang="en-US" sz="4300" b="1" dirty="0">
                <a:solidFill>
                  <a:srgbClr val="0F2343"/>
                </a:solidFill>
                <a:latin typeface="Aptos"/>
              </a:rPr>
              <a:t>MODEL SAYS</a:t>
            </a:r>
          </a:p>
          <a:p>
            <a:pPr algn="ctr">
              <a:lnSpc>
                <a:spcPct val="106000"/>
              </a:lnSpc>
              <a:spcBef>
                <a:spcPts val="0"/>
              </a:spcBef>
              <a:spcAft>
                <a:spcPts val="0"/>
              </a:spcAft>
            </a:pPr>
            <a:r>
              <a:rPr sz="4300" b="1" dirty="0">
                <a:solidFill>
                  <a:srgbClr val="0F2343"/>
                </a:solidFill>
                <a:latin typeface="Aptos"/>
              </a:rPr>
              <a:t>OPTIMAL</a:t>
            </a:r>
          </a:p>
        </p:txBody>
      </p:sp>
      <p:sp>
        <p:nvSpPr>
          <p:cNvPr id="9" name="Rectangle 8"/>
          <p:cNvSpPr/>
          <p:nvPr/>
        </p:nvSpPr>
        <p:spPr>
          <a:xfrm>
            <a:off x="2743200" y="4663440"/>
            <a:ext cx="594360" cy="411480"/>
          </a:xfrm>
          <a:prstGeom prst="rect">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176272" y="5056632"/>
            <a:ext cx="1719072" cy="118872"/>
          </a:xfrm>
          <a:prstGeom prst="roundRect">
            <a:avLst>
              <a:gd name="adj" fmla="val 12000"/>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a:off x="7772400" y="5074920"/>
            <a:ext cx="2834640" cy="0"/>
          </a:xfrm>
          <a:prstGeom prst="line">
            <a:avLst/>
          </a:prstGeom>
          <a:ln w="25400">
            <a:solidFill>
              <a:srgbClr val="64748B"/>
            </a:solidFill>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77824" y="5852160"/>
            <a:ext cx="10145080" cy="457200"/>
          </a:xfrm>
          <a:prstGeom prst="roundRect">
            <a:avLst>
              <a:gd name="adj" fmla="val 12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rgbClr val="07142B"/>
                </a:solidFill>
                <a:latin typeface="Aptos" panose="020B0004020202020204" pitchFamily="34" charset="0"/>
              </a:rPr>
              <a:t>Question for the audience</a:t>
            </a:r>
            <a:endParaRPr sz="2800" b="1" dirty="0">
              <a:solidFill>
                <a:srgbClr val="07142B"/>
              </a:solidFill>
              <a:latin typeface="Aptos" panose="020B0004020202020204" pitchFamily="34" charset="0"/>
            </a:endParaRPr>
          </a:p>
        </p:txBody>
      </p:sp>
      <p:pic>
        <p:nvPicPr>
          <p:cNvPr id="20" name="Picture 19" descr="Curious human line icon isolated on white background | Premium Vector">
            <a:extLst>
              <a:ext uri="{FF2B5EF4-FFF2-40B4-BE49-F238E27FC236}">
                <a16:creationId xmlns:a16="http://schemas.microsoft.com/office/drawing/2014/main" id="{6450489D-FF6A-9916-38D8-41B10BF35346}"/>
              </a:ext>
            </a:extLst>
          </p:cNvPr>
          <p:cNvPicPr>
            <a:picLocks noChangeAspect="1"/>
          </p:cNvPicPr>
          <p:nvPr/>
        </p:nvPicPr>
        <p:blipFill>
          <a:blip r:embed="rId3"/>
          <a:stretch>
            <a:fillRect/>
          </a:stretch>
        </p:blipFill>
        <p:spPr>
          <a:xfrm>
            <a:off x="7714908" y="2173201"/>
            <a:ext cx="2949623" cy="2949623"/>
          </a:xfrm>
          <a:prstGeom prst="rect">
            <a:avLst/>
          </a:prstGeom>
          <a:ln>
            <a:solidFill>
              <a:schemeClr val="tx1"/>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lide title"/>
          <p:cNvSpPr txBox="1"/>
          <p:nvPr/>
        </p:nvSpPr>
        <p:spPr>
          <a:xfrm>
            <a:off x="502920" y="246888"/>
            <a:ext cx="11183112" cy="1188720"/>
          </a:xfrm>
          <a:prstGeom prst="rect">
            <a:avLst/>
          </a:prstGeom>
          <a:noFill/>
        </p:spPr>
        <p:txBody>
          <a:bodyPr wrap="square" lIns="0" tIns="0" rIns="0" bIns="0" anchor="t">
            <a:noAutofit/>
          </a:bodyPr>
          <a:lstStyle/>
          <a:p>
            <a:pPr algn="l">
              <a:lnSpc>
                <a:spcPct val="106000"/>
              </a:lnSpc>
              <a:spcBef>
                <a:spcPts val="0"/>
              </a:spcBef>
              <a:spcAft>
                <a:spcPts val="0"/>
              </a:spcAft>
            </a:pPr>
            <a:r>
              <a:rPr lang="en-US" sz="4000" b="1" dirty="0">
                <a:solidFill>
                  <a:srgbClr val="0F2343"/>
                </a:solidFill>
                <a:latin typeface="Aptos Display"/>
              </a:rPr>
              <a:t>A useful</a:t>
            </a:r>
            <a:r>
              <a:rPr sz="4000" b="1" dirty="0">
                <a:solidFill>
                  <a:srgbClr val="0F2343"/>
                </a:solidFill>
                <a:latin typeface="Aptos Display"/>
              </a:rPr>
              <a:t> </a:t>
            </a:r>
            <a:r>
              <a:rPr lang="en-US" sz="4000" b="1" dirty="0">
                <a:solidFill>
                  <a:srgbClr val="0F2343"/>
                </a:solidFill>
                <a:latin typeface="Aptos Display"/>
              </a:rPr>
              <a:t>DSS</a:t>
            </a:r>
            <a:r>
              <a:rPr sz="4000" b="1" dirty="0">
                <a:solidFill>
                  <a:srgbClr val="0F2343"/>
                </a:solidFill>
                <a:latin typeface="Aptos Display"/>
              </a:rPr>
              <a:t> requires</a:t>
            </a:r>
            <a:r>
              <a:rPr lang="en-US" sz="4000" b="1" dirty="0">
                <a:solidFill>
                  <a:srgbClr val="0F2343"/>
                </a:solidFill>
                <a:latin typeface="Aptos Display"/>
              </a:rPr>
              <a:t> </a:t>
            </a:r>
            <a:r>
              <a:rPr sz="4000" b="1" dirty="0">
                <a:solidFill>
                  <a:srgbClr val="0F2343"/>
                </a:solidFill>
                <a:latin typeface="Aptos Display"/>
              </a:rPr>
              <a:t>validation and verification</a:t>
            </a:r>
          </a:p>
        </p:txBody>
      </p:sp>
      <p:sp>
        <p:nvSpPr>
          <p:cNvPr id="3" name="Rectangle 2"/>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3"/>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3</a:t>
            </a:r>
          </a:p>
        </p:txBody>
      </p:sp>
      <p:sp>
        <p:nvSpPr>
          <p:cNvPr id="6" name="Rounded Rectangle 5"/>
          <p:cNvSpPr/>
          <p:nvPr/>
        </p:nvSpPr>
        <p:spPr>
          <a:xfrm>
            <a:off x="658368" y="2048372"/>
            <a:ext cx="3337560" cy="1874519"/>
          </a:xfrm>
          <a:prstGeom prst="roundRect">
            <a:avLst>
              <a:gd name="adj" fmla="val 12000"/>
            </a:avLst>
          </a:prstGeom>
          <a:solidFill>
            <a:srgbClr val="FFFFFF"/>
          </a:solidFill>
          <a:ln w="1905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868302" y="2483626"/>
            <a:ext cx="237012" cy="237012"/>
          </a:xfrm>
          <a:prstGeom prst="ellipse">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2539837" y="2483626"/>
            <a:ext cx="237012" cy="237012"/>
          </a:xfrm>
          <a:prstGeom prst="ellipse">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828800" y="2789767"/>
            <a:ext cx="325892" cy="345643"/>
          </a:xfrm>
          <a:prstGeom prst="roundRect">
            <a:avLst>
              <a:gd name="adj" fmla="val 12000"/>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490459" y="2789767"/>
            <a:ext cx="325892" cy="345643"/>
          </a:xfrm>
          <a:prstGeom prst="roundRect">
            <a:avLst>
              <a:gd name="adj" fmla="val 12000"/>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164567" y="2335493"/>
            <a:ext cx="316016" cy="316016"/>
          </a:xfrm>
          <a:prstGeom prst="ellipse">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065812" y="2740389"/>
            <a:ext cx="513527" cy="483900"/>
          </a:xfrm>
          <a:prstGeom prst="roundRect">
            <a:avLst>
              <a:gd name="adj" fmla="val 12000"/>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 Business problem"/>
          <p:cNvSpPr txBox="1"/>
          <p:nvPr/>
        </p:nvSpPr>
        <p:spPr>
          <a:xfrm>
            <a:off x="749808" y="3401684"/>
            <a:ext cx="3154680" cy="393192"/>
          </a:xfrm>
          <a:prstGeom prst="rect">
            <a:avLst/>
          </a:prstGeom>
          <a:noFill/>
        </p:spPr>
        <p:txBody>
          <a:bodyPr wrap="square" lIns="0" tIns="0" rIns="0" bIns="0" anchor="ctr">
            <a:noAutofit/>
          </a:bodyPr>
          <a:lstStyle/>
          <a:p>
            <a:pPr algn="ctr">
              <a:lnSpc>
                <a:spcPct val="106000"/>
              </a:lnSpc>
              <a:spcBef>
                <a:spcPts val="0"/>
              </a:spcBef>
              <a:spcAft>
                <a:spcPts val="0"/>
              </a:spcAft>
            </a:pPr>
            <a:r>
              <a:rPr sz="2500" b="1">
                <a:solidFill>
                  <a:srgbClr val="0F2343"/>
                </a:solidFill>
                <a:latin typeface="Aptos"/>
              </a:rPr>
              <a:t>Business problem</a:t>
            </a:r>
          </a:p>
        </p:txBody>
      </p:sp>
      <p:sp>
        <p:nvSpPr>
          <p:cNvPr id="14" name="Rounded Rectangle 13"/>
          <p:cNvSpPr/>
          <p:nvPr/>
        </p:nvSpPr>
        <p:spPr>
          <a:xfrm>
            <a:off x="4425696" y="2048372"/>
            <a:ext cx="3337560" cy="1874519"/>
          </a:xfrm>
          <a:prstGeom prst="roundRect">
            <a:avLst>
              <a:gd name="adj" fmla="val 12000"/>
            </a:avLst>
          </a:prstGeom>
          <a:solidFill>
            <a:srgbClr val="FFFFFF"/>
          </a:solidFill>
          <a:ln w="1905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 Mathematical model"/>
          <p:cNvSpPr txBox="1"/>
          <p:nvPr/>
        </p:nvSpPr>
        <p:spPr>
          <a:xfrm>
            <a:off x="4517136" y="3401684"/>
            <a:ext cx="3154680" cy="393192"/>
          </a:xfrm>
          <a:prstGeom prst="rect">
            <a:avLst/>
          </a:prstGeom>
          <a:noFill/>
        </p:spPr>
        <p:txBody>
          <a:bodyPr wrap="square" lIns="0" tIns="0" rIns="0" bIns="0" anchor="ctr">
            <a:noAutofit/>
          </a:bodyPr>
          <a:lstStyle/>
          <a:p>
            <a:pPr algn="ctr">
              <a:lnSpc>
                <a:spcPct val="106000"/>
              </a:lnSpc>
              <a:spcBef>
                <a:spcPts val="0"/>
              </a:spcBef>
              <a:spcAft>
                <a:spcPts val="0"/>
              </a:spcAft>
            </a:pPr>
            <a:r>
              <a:rPr sz="2500" b="1">
                <a:solidFill>
                  <a:srgbClr val="0F2343"/>
                </a:solidFill>
                <a:latin typeface="Aptos"/>
              </a:rPr>
              <a:t>Mathematical model</a:t>
            </a:r>
          </a:p>
        </p:txBody>
      </p:sp>
      <p:sp>
        <p:nvSpPr>
          <p:cNvPr id="17" name="Rounded Rectangle 16"/>
          <p:cNvSpPr/>
          <p:nvPr/>
        </p:nvSpPr>
        <p:spPr>
          <a:xfrm>
            <a:off x="8193024" y="2048372"/>
            <a:ext cx="3337560" cy="1874519"/>
          </a:xfrm>
          <a:prstGeom prst="roundRect">
            <a:avLst>
              <a:gd name="adj" fmla="val 12000"/>
            </a:avLst>
          </a:prstGeom>
          <a:solidFill>
            <a:srgbClr val="FFFFFF"/>
          </a:solidFill>
          <a:ln w="1905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flipH="1">
            <a:off x="9462211" y="2513252"/>
            <a:ext cx="197510" cy="26664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462211" y="2779892"/>
            <a:ext cx="197510" cy="266639"/>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054742" y="2513252"/>
            <a:ext cx="197510" cy="26664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10054742" y="2779892"/>
            <a:ext cx="197510" cy="266639"/>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9778227" y="2434248"/>
            <a:ext cx="167884" cy="691287"/>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23" name="Text: Code"/>
          <p:cNvSpPr txBox="1"/>
          <p:nvPr/>
        </p:nvSpPr>
        <p:spPr>
          <a:xfrm>
            <a:off x="8284464" y="3401684"/>
            <a:ext cx="3154680" cy="393192"/>
          </a:xfrm>
          <a:prstGeom prst="rect">
            <a:avLst/>
          </a:prstGeom>
          <a:noFill/>
        </p:spPr>
        <p:txBody>
          <a:bodyPr wrap="square" lIns="0" tIns="0" rIns="0" bIns="0" anchor="ctr">
            <a:noAutofit/>
          </a:bodyPr>
          <a:lstStyle/>
          <a:p>
            <a:pPr algn="ctr">
              <a:lnSpc>
                <a:spcPct val="106000"/>
              </a:lnSpc>
              <a:spcBef>
                <a:spcPts val="0"/>
              </a:spcBef>
              <a:spcAft>
                <a:spcPts val="0"/>
              </a:spcAft>
            </a:pPr>
            <a:r>
              <a:rPr sz="2500" b="1">
                <a:solidFill>
                  <a:srgbClr val="0F2343"/>
                </a:solidFill>
                <a:latin typeface="Aptos"/>
              </a:rPr>
              <a:t>Code</a:t>
            </a:r>
          </a:p>
        </p:txBody>
      </p:sp>
      <p:cxnSp>
        <p:nvCxnSpPr>
          <p:cNvPr id="24" name="Connector 23"/>
          <p:cNvCxnSpPr/>
          <p:nvPr/>
        </p:nvCxnSpPr>
        <p:spPr>
          <a:xfrm>
            <a:off x="4050791" y="2990204"/>
            <a:ext cx="320041" cy="0"/>
          </a:xfrm>
          <a:prstGeom prst="line">
            <a:avLst/>
          </a:prstGeom>
          <a:ln w="31750">
            <a:solidFill>
              <a:srgbClr val="F9731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18120" y="2990204"/>
            <a:ext cx="320040" cy="0"/>
          </a:xfrm>
          <a:prstGeom prst="line">
            <a:avLst/>
          </a:prstGeom>
          <a:ln w="31750">
            <a:solidFill>
              <a:srgbClr val="F9731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a:cxnSpLocks/>
          </p:cNvCxnSpPr>
          <p:nvPr/>
        </p:nvCxnSpPr>
        <p:spPr>
          <a:xfrm>
            <a:off x="1552702" y="4169780"/>
            <a:ext cx="4144010" cy="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552702" y="4004424"/>
            <a:ext cx="0" cy="173737"/>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696712" y="3996043"/>
            <a:ext cx="0" cy="173737"/>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29" name="Text: Validation"/>
          <p:cNvSpPr txBox="1"/>
          <p:nvPr/>
        </p:nvSpPr>
        <p:spPr>
          <a:xfrm>
            <a:off x="1179229" y="4750792"/>
            <a:ext cx="4517483" cy="502920"/>
          </a:xfrm>
          <a:prstGeom prst="rect">
            <a:avLst/>
          </a:prstGeom>
          <a:noFill/>
        </p:spPr>
        <p:txBody>
          <a:bodyPr wrap="square" lIns="0" tIns="0" rIns="0" bIns="0" anchor="ctr">
            <a:noAutofit/>
          </a:bodyPr>
          <a:lstStyle/>
          <a:p>
            <a:pPr algn="ctr">
              <a:lnSpc>
                <a:spcPct val="106000"/>
              </a:lnSpc>
              <a:spcBef>
                <a:spcPts val="0"/>
              </a:spcBef>
              <a:spcAft>
                <a:spcPts val="0"/>
              </a:spcAft>
            </a:pPr>
            <a:r>
              <a:rPr sz="2900" b="1" dirty="0">
                <a:solidFill>
                  <a:srgbClr val="0F2343"/>
                </a:solidFill>
                <a:latin typeface="Aptos"/>
              </a:rPr>
              <a:t>Validation</a:t>
            </a:r>
          </a:p>
        </p:txBody>
      </p:sp>
      <p:sp>
        <p:nvSpPr>
          <p:cNvPr id="30" name="Text: The right problem?"/>
          <p:cNvSpPr txBox="1"/>
          <p:nvPr/>
        </p:nvSpPr>
        <p:spPr>
          <a:xfrm>
            <a:off x="1179229" y="5346724"/>
            <a:ext cx="4517483" cy="1027061"/>
          </a:xfrm>
          <a:prstGeom prst="rect">
            <a:avLst/>
          </a:prstGeom>
          <a:noFill/>
        </p:spPr>
        <p:txBody>
          <a:bodyPr wrap="square" lIns="0" tIns="0" rIns="0" bIns="0" anchor="t">
            <a:noAutofit/>
          </a:bodyPr>
          <a:lstStyle/>
          <a:p>
            <a:pPr algn="ctr">
              <a:lnSpc>
                <a:spcPct val="106000"/>
              </a:lnSpc>
              <a:spcBef>
                <a:spcPts val="0"/>
              </a:spcBef>
              <a:spcAft>
                <a:spcPts val="0"/>
              </a:spcAft>
            </a:pPr>
            <a:r>
              <a:rPr lang="en-US" sz="2500" b="0" dirty="0">
                <a:solidFill>
                  <a:srgbClr val="0F2343"/>
                </a:solidFill>
                <a:latin typeface="Aptos"/>
              </a:rPr>
              <a:t>Are we solving the right problem</a:t>
            </a:r>
            <a:r>
              <a:rPr sz="2500" b="0" dirty="0">
                <a:solidFill>
                  <a:srgbClr val="0F2343"/>
                </a:solidFill>
                <a:latin typeface="Aptos"/>
              </a:rPr>
              <a:t>?</a:t>
            </a:r>
            <a:endParaRPr lang="en-US" sz="2500" b="0" dirty="0">
              <a:solidFill>
                <a:srgbClr val="0F2343"/>
              </a:solidFill>
              <a:latin typeface="Aptos"/>
            </a:endParaRPr>
          </a:p>
          <a:p>
            <a:pPr algn="ctr">
              <a:lnSpc>
                <a:spcPct val="106000"/>
              </a:lnSpc>
              <a:spcBef>
                <a:spcPts val="0"/>
              </a:spcBef>
              <a:spcAft>
                <a:spcPts val="0"/>
              </a:spcAft>
            </a:pPr>
            <a:r>
              <a:rPr lang="en-US" sz="2000" i="1" dirty="0">
                <a:solidFill>
                  <a:srgbClr val="0F2343"/>
                </a:solidFill>
                <a:latin typeface="Aptos"/>
              </a:rPr>
              <a:t>(consulting problem)</a:t>
            </a:r>
            <a:endParaRPr lang="en-US" sz="2000" b="0" i="1" dirty="0">
              <a:solidFill>
                <a:srgbClr val="0F2343"/>
              </a:solidFill>
              <a:latin typeface="Aptos"/>
            </a:endParaRPr>
          </a:p>
          <a:p>
            <a:pPr algn="ctr">
              <a:lnSpc>
                <a:spcPct val="106000"/>
              </a:lnSpc>
              <a:spcBef>
                <a:spcPts val="0"/>
              </a:spcBef>
              <a:spcAft>
                <a:spcPts val="0"/>
              </a:spcAft>
            </a:pPr>
            <a:endParaRPr sz="2500" b="0" dirty="0">
              <a:solidFill>
                <a:srgbClr val="0F2343"/>
              </a:solidFill>
              <a:latin typeface="Aptos"/>
            </a:endParaRPr>
          </a:p>
        </p:txBody>
      </p:sp>
      <p:cxnSp>
        <p:nvCxnSpPr>
          <p:cNvPr id="31" name="Connector 30"/>
          <p:cNvCxnSpPr>
            <a:cxnSpLocks/>
          </p:cNvCxnSpPr>
          <p:nvPr/>
        </p:nvCxnSpPr>
        <p:spPr>
          <a:xfrm>
            <a:off x="6126480" y="4169780"/>
            <a:ext cx="4352396" cy="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126480" y="3996043"/>
            <a:ext cx="0" cy="173737"/>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478876" y="3996043"/>
            <a:ext cx="0" cy="173737"/>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34" name="Text: Verification"/>
          <p:cNvSpPr txBox="1"/>
          <p:nvPr/>
        </p:nvSpPr>
        <p:spPr>
          <a:xfrm>
            <a:off x="6563558" y="4730005"/>
            <a:ext cx="4490819" cy="502920"/>
          </a:xfrm>
          <a:prstGeom prst="rect">
            <a:avLst/>
          </a:prstGeom>
          <a:noFill/>
        </p:spPr>
        <p:txBody>
          <a:bodyPr wrap="square" lIns="0" tIns="0" rIns="0" bIns="0" anchor="ctr">
            <a:noAutofit/>
          </a:bodyPr>
          <a:lstStyle/>
          <a:p>
            <a:pPr algn="ctr">
              <a:lnSpc>
                <a:spcPct val="106000"/>
              </a:lnSpc>
              <a:spcBef>
                <a:spcPts val="0"/>
              </a:spcBef>
              <a:spcAft>
                <a:spcPts val="0"/>
              </a:spcAft>
            </a:pPr>
            <a:r>
              <a:rPr sz="2900" b="1" dirty="0">
                <a:solidFill>
                  <a:srgbClr val="0F2343"/>
                </a:solidFill>
                <a:latin typeface="Aptos"/>
              </a:rPr>
              <a:t>Verification</a:t>
            </a:r>
          </a:p>
        </p:txBody>
      </p:sp>
      <p:sp>
        <p:nvSpPr>
          <p:cNvPr id="35" name="Text: Solved right?"/>
          <p:cNvSpPr txBox="1"/>
          <p:nvPr/>
        </p:nvSpPr>
        <p:spPr>
          <a:xfrm>
            <a:off x="6169769" y="5315801"/>
            <a:ext cx="5367355" cy="841927"/>
          </a:xfrm>
          <a:prstGeom prst="rect">
            <a:avLst/>
          </a:prstGeom>
          <a:noFill/>
        </p:spPr>
        <p:txBody>
          <a:bodyPr wrap="square" lIns="0" tIns="0" rIns="0" bIns="0" anchor="t">
            <a:noAutofit/>
          </a:bodyPr>
          <a:lstStyle/>
          <a:p>
            <a:pPr algn="ctr">
              <a:lnSpc>
                <a:spcPct val="106000"/>
              </a:lnSpc>
              <a:spcBef>
                <a:spcPts val="0"/>
              </a:spcBef>
              <a:spcAft>
                <a:spcPts val="0"/>
              </a:spcAft>
            </a:pPr>
            <a:r>
              <a:rPr lang="en-US" sz="2500" b="0" dirty="0">
                <a:solidFill>
                  <a:srgbClr val="0F2343"/>
                </a:solidFill>
                <a:latin typeface="Aptos"/>
              </a:rPr>
              <a:t>Are we solving the problem right</a:t>
            </a:r>
            <a:r>
              <a:rPr sz="2500" b="0" dirty="0">
                <a:solidFill>
                  <a:srgbClr val="0F2343"/>
                </a:solidFill>
                <a:latin typeface="Aptos"/>
              </a:rPr>
              <a:t>?</a:t>
            </a:r>
            <a:endParaRPr lang="en-US" sz="2500" b="0" dirty="0">
              <a:solidFill>
                <a:srgbClr val="0F2343"/>
              </a:solidFill>
              <a:latin typeface="Aptos"/>
            </a:endParaRPr>
          </a:p>
          <a:p>
            <a:pPr algn="ctr">
              <a:lnSpc>
                <a:spcPct val="106000"/>
              </a:lnSpc>
            </a:pPr>
            <a:r>
              <a:rPr lang="en-US" sz="2000" i="1" dirty="0">
                <a:solidFill>
                  <a:srgbClr val="0F2343"/>
                </a:solidFill>
                <a:latin typeface="Aptos"/>
              </a:rPr>
              <a:t>(software problem)</a:t>
            </a:r>
          </a:p>
          <a:p>
            <a:pPr algn="ctr">
              <a:lnSpc>
                <a:spcPct val="106000"/>
              </a:lnSpc>
              <a:spcBef>
                <a:spcPts val="0"/>
              </a:spcBef>
              <a:spcAft>
                <a:spcPts val="0"/>
              </a:spcAft>
            </a:pPr>
            <a:endParaRPr sz="2500" b="0" dirty="0">
              <a:solidFill>
                <a:srgbClr val="0F2343"/>
              </a:solidFill>
              <a:latin typeface="Aptos"/>
            </a:endParaRPr>
          </a:p>
        </p:txBody>
      </p:sp>
      <p:sp>
        <p:nvSpPr>
          <p:cNvPr id="40" name="TextBox 39">
            <a:extLst>
              <a:ext uri="{FF2B5EF4-FFF2-40B4-BE49-F238E27FC236}">
                <a16:creationId xmlns:a16="http://schemas.microsoft.com/office/drawing/2014/main" id="{EECE84F1-75B7-ACCB-BA87-95B7455F737D}"/>
              </a:ext>
            </a:extLst>
          </p:cNvPr>
          <p:cNvSpPr txBox="1"/>
          <p:nvPr/>
        </p:nvSpPr>
        <p:spPr>
          <a:xfrm>
            <a:off x="2961064" y="4167149"/>
            <a:ext cx="1327286" cy="369332"/>
          </a:xfrm>
          <a:prstGeom prst="rect">
            <a:avLst/>
          </a:prstGeom>
          <a:noFill/>
        </p:spPr>
        <p:txBody>
          <a:bodyPr wrap="none" rtlCol="0">
            <a:spAutoFit/>
          </a:bodyPr>
          <a:lstStyle/>
          <a:p>
            <a:r>
              <a:rPr lang="en-US" b="1" dirty="0">
                <a:solidFill>
                  <a:srgbClr val="F97316"/>
                </a:solidFill>
                <a:latin typeface="Aptos" panose="020B0004020202020204" pitchFamily="34" charset="0"/>
              </a:rPr>
              <a:t>translation</a:t>
            </a:r>
          </a:p>
        </p:txBody>
      </p:sp>
      <p:sp>
        <p:nvSpPr>
          <p:cNvPr id="41" name="TextBox 40">
            <a:extLst>
              <a:ext uri="{FF2B5EF4-FFF2-40B4-BE49-F238E27FC236}">
                <a16:creationId xmlns:a16="http://schemas.microsoft.com/office/drawing/2014/main" id="{F3BA9670-478E-C84E-DEF8-1F11ECBC36BD}"/>
              </a:ext>
            </a:extLst>
          </p:cNvPr>
          <p:cNvSpPr txBox="1"/>
          <p:nvPr/>
        </p:nvSpPr>
        <p:spPr>
          <a:xfrm>
            <a:off x="7731505" y="4156483"/>
            <a:ext cx="1327286" cy="369332"/>
          </a:xfrm>
          <a:prstGeom prst="rect">
            <a:avLst/>
          </a:prstGeom>
          <a:noFill/>
        </p:spPr>
        <p:txBody>
          <a:bodyPr wrap="none" rtlCol="0">
            <a:spAutoFit/>
          </a:bodyPr>
          <a:lstStyle/>
          <a:p>
            <a:r>
              <a:rPr lang="en-US" b="1" dirty="0">
                <a:solidFill>
                  <a:srgbClr val="F97316"/>
                </a:solidFill>
                <a:latin typeface="Aptos" panose="020B0004020202020204" pitchFamily="34" charset="0"/>
              </a:rPr>
              <a:t>translation</a:t>
            </a: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0C484C15-D885-FB0C-4F95-FE1CCD51E826}"/>
                  </a:ext>
                </a:extLst>
              </p:cNvPr>
              <p:cNvSpPr txBox="1"/>
              <p:nvPr/>
            </p:nvSpPr>
            <p:spPr>
              <a:xfrm>
                <a:off x="5205862" y="2304276"/>
                <a:ext cx="1624868" cy="993734"/>
              </a:xfrm>
              <a:prstGeom prst="rect">
                <a:avLst/>
              </a:prstGeom>
              <a:noFill/>
            </p:spPr>
            <p:txBody>
              <a:bodyPr wrap="none" lIns="0" tIns="0" rIns="0" bIns="0" rtlCol="0">
                <a:spAutoFit/>
              </a:bodyPr>
              <a:lstStyle/>
              <a:p>
                <a14:m>
                  <m:oMathPara xmlns:m="http://schemas.openxmlformats.org/officeDocument/2006/math">
                    <m:oMath>
                      <m:r>
                        <a:rPr lang="en-US" sz="3200" b="1" i="1" smtClean="0">
                          <a:latin typeface="Cambria Math" panose="02040503050406030204" pitchFamily="18" charset="0"/>
                        </a:rPr>
                        <m:t>𝑴𝒊𝒏</m:t>
                      </m:r>
                      <m:r>
                        <a:rPr lang="en-US" sz="3200" b="1" i="1" smtClean="0">
                          <a:latin typeface="Cambria Math" panose="02040503050406030204" pitchFamily="18" charset="0"/>
                        </a:rPr>
                        <m:t> </m:t>
                      </m:r>
                      <m:sSup>
                        <m:sSupPr>
                          <m:ctrlPr>
                            <a:rPr lang="en-US" sz="3200" b="1" i="1" smtClean="0">
                              <a:latin typeface="Cambria Math" panose="02040503050406030204" pitchFamily="18" charset="0"/>
                            </a:rPr>
                          </m:ctrlPr>
                        </m:sSupPr>
                        <m:e>
                          <m:r>
                            <a:rPr lang="en-US" sz="3200" b="1" i="1" smtClean="0">
                              <a:latin typeface="Cambria Math" panose="02040503050406030204" pitchFamily="18" charset="0"/>
                            </a:rPr>
                            <m:t>𝒄</m:t>
                          </m:r>
                        </m:e>
                        <m:sup>
                          <m:r>
                            <a:rPr lang="en-US" sz="3200" b="1" i="1" smtClean="0">
                              <a:latin typeface="Cambria Math" panose="02040503050406030204" pitchFamily="18" charset="0"/>
                            </a:rPr>
                            <m:t>𝑻</m:t>
                          </m:r>
                        </m:sup>
                      </m:sSup>
                      <m:r>
                        <a:rPr lang="en-US" sz="3200" b="1" i="1" smtClean="0">
                          <a:latin typeface="Cambria Math" panose="02040503050406030204" pitchFamily="18" charset="0"/>
                        </a:rPr>
                        <m:t>𝒙</m:t>
                      </m:r>
                    </m:oMath>
                  </m:oMathPara>
                </a14:m>
                <a:endParaRPr lang="en-US" sz="3200" b="1" dirty="0"/>
              </a:p>
              <a:p>
                <a14:m>
                  <m:oMathPara xmlns:m="http://schemas.openxmlformats.org/officeDocument/2006/math">
                    <m:oMath>
                      <m:r>
                        <a:rPr lang="en-US" sz="3200" b="1" i="1" smtClean="0">
                          <a:latin typeface="Cambria Math" panose="02040503050406030204" pitchFamily="18" charset="0"/>
                        </a:rPr>
                        <m:t>𝑨𝒙</m:t>
                      </m:r>
                      <m:r>
                        <a:rPr lang="en-US" sz="3200" b="1" i="1" smtClean="0">
                          <a:latin typeface="Cambria Math" panose="02040503050406030204" pitchFamily="18" charset="0"/>
                        </a:rPr>
                        <m:t>≤</m:t>
                      </m:r>
                      <m:r>
                        <a:rPr lang="en-US" sz="3200" b="1" i="1" smtClean="0">
                          <a:latin typeface="Cambria Math" panose="02040503050406030204" pitchFamily="18" charset="0"/>
                        </a:rPr>
                        <m:t>𝒃</m:t>
                      </m:r>
                    </m:oMath>
                  </m:oMathPara>
                </a14:m>
                <a:endParaRPr lang="en-US" sz="3200" b="1" dirty="0"/>
              </a:p>
            </p:txBody>
          </p:sp>
        </mc:Choice>
        <mc:Fallback>
          <p:sp>
            <p:nvSpPr>
              <p:cNvPr id="42" name="TextBox 41">
                <a:extLst>
                  <a:ext uri="{FF2B5EF4-FFF2-40B4-BE49-F238E27FC236}">
                    <a16:creationId xmlns:a16="http://schemas.microsoft.com/office/drawing/2014/main" id="{0C484C15-D885-FB0C-4F95-FE1CCD51E826}"/>
                  </a:ext>
                </a:extLst>
              </p:cNvPr>
              <p:cNvSpPr txBox="1">
                <a:spLocks noRot="1" noChangeAspect="1" noMove="1" noResize="1" noEditPoints="1" noAdjustHandles="1" noChangeArrowheads="1" noChangeShapeType="1" noTextEdit="1"/>
              </p:cNvSpPr>
              <p:nvPr/>
            </p:nvSpPr>
            <p:spPr>
              <a:xfrm>
                <a:off x="5205862" y="2304276"/>
                <a:ext cx="1624868" cy="993734"/>
              </a:xfrm>
              <a:prstGeom prst="rect">
                <a:avLst/>
              </a:prstGeom>
              <a:blipFill>
                <a:blip r:embed="rId3"/>
                <a:stretch>
                  <a:fillRect/>
                </a:stretch>
              </a:blipFill>
            </p:spPr>
            <p:txBody>
              <a:bodyPr/>
              <a:lstStyle/>
              <a:p>
                <a:r>
                  <a:rPr 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lide title"/>
          <p:cNvSpPr txBox="1"/>
          <p:nvPr/>
        </p:nvSpPr>
        <p:spPr>
          <a:xfrm>
            <a:off x="502920" y="292608"/>
            <a:ext cx="11183112" cy="1051560"/>
          </a:xfrm>
          <a:prstGeom prst="rect">
            <a:avLst/>
          </a:prstGeom>
          <a:noFill/>
        </p:spPr>
        <p:txBody>
          <a:bodyPr wrap="square" lIns="0" tIns="0" rIns="0" bIns="0" anchor="t">
            <a:noAutofit/>
          </a:bodyPr>
          <a:lstStyle/>
          <a:p>
            <a:pPr algn="l">
              <a:lnSpc>
                <a:spcPct val="106000"/>
              </a:lnSpc>
              <a:spcBef>
                <a:spcPts val="0"/>
              </a:spcBef>
              <a:spcAft>
                <a:spcPts val="0"/>
              </a:spcAft>
            </a:pPr>
            <a:r>
              <a:rPr sz="4000" b="1" dirty="0">
                <a:solidFill>
                  <a:srgbClr val="0F2343"/>
                </a:solidFill>
                <a:latin typeface="Aptos Display"/>
              </a:rPr>
              <a:t>Working on a DSS is a cycle</a:t>
            </a:r>
          </a:p>
        </p:txBody>
      </p:sp>
      <p:sp>
        <p:nvSpPr>
          <p:cNvPr id="3" name="Rectangle 2"/>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5"/>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5</a:t>
            </a:r>
          </a:p>
        </p:txBody>
      </p:sp>
      <p:sp>
        <p:nvSpPr>
          <p:cNvPr id="6" name="Freeform 5"/>
          <p:cNvSpPr/>
          <p:nvPr/>
        </p:nvSpPr>
        <p:spPr>
          <a:xfrm>
            <a:off x="7281367" y="2450592"/>
            <a:ext cx="475488" cy="72238"/>
          </a:xfrm>
          <a:custGeom>
            <a:avLst/>
            <a:gdLst/>
            <a:ahLst/>
            <a:cxnLst/>
            <a:rect l="l" t="t" r="r" b="b"/>
            <a:pathLst>
              <a:path w="520" h="79">
                <a:moveTo>
                  <a:pt x="0" y="0"/>
                </a:moveTo>
                <a:lnTo>
                  <a:pt x="16" y="2"/>
                </a:lnTo>
                <a:lnTo>
                  <a:pt x="33" y="4"/>
                </a:lnTo>
                <a:lnTo>
                  <a:pt x="49" y="6"/>
                </a:lnTo>
                <a:lnTo>
                  <a:pt x="66" y="8"/>
                </a:lnTo>
                <a:lnTo>
                  <a:pt x="82" y="10"/>
                </a:lnTo>
                <a:lnTo>
                  <a:pt x="99" y="13"/>
                </a:lnTo>
                <a:lnTo>
                  <a:pt x="115" y="15"/>
                </a:lnTo>
                <a:lnTo>
                  <a:pt x="132" y="17"/>
                </a:lnTo>
                <a:lnTo>
                  <a:pt x="148" y="19"/>
                </a:lnTo>
                <a:lnTo>
                  <a:pt x="165" y="22"/>
                </a:lnTo>
                <a:lnTo>
                  <a:pt x="181" y="24"/>
                </a:lnTo>
                <a:lnTo>
                  <a:pt x="198" y="26"/>
                </a:lnTo>
                <a:lnTo>
                  <a:pt x="214" y="29"/>
                </a:lnTo>
                <a:lnTo>
                  <a:pt x="230" y="31"/>
                </a:lnTo>
                <a:lnTo>
                  <a:pt x="247" y="34"/>
                </a:lnTo>
                <a:lnTo>
                  <a:pt x="263" y="36"/>
                </a:lnTo>
                <a:lnTo>
                  <a:pt x="279" y="39"/>
                </a:lnTo>
                <a:lnTo>
                  <a:pt x="295" y="41"/>
                </a:lnTo>
                <a:lnTo>
                  <a:pt x="312" y="44"/>
                </a:lnTo>
                <a:lnTo>
                  <a:pt x="328" y="46"/>
                </a:lnTo>
                <a:lnTo>
                  <a:pt x="344" y="49"/>
                </a:lnTo>
                <a:lnTo>
                  <a:pt x="360" y="52"/>
                </a:lnTo>
                <a:lnTo>
                  <a:pt x="376" y="54"/>
                </a:lnTo>
                <a:lnTo>
                  <a:pt x="392" y="57"/>
                </a:lnTo>
                <a:lnTo>
                  <a:pt x="408" y="60"/>
                </a:lnTo>
                <a:lnTo>
                  <a:pt x="424" y="62"/>
                </a:lnTo>
                <a:lnTo>
                  <a:pt x="440" y="65"/>
                </a:lnTo>
                <a:lnTo>
                  <a:pt x="456" y="68"/>
                </a:lnTo>
                <a:lnTo>
                  <a:pt x="472" y="71"/>
                </a:lnTo>
                <a:lnTo>
                  <a:pt x="488" y="74"/>
                </a:lnTo>
                <a:lnTo>
                  <a:pt x="504" y="77"/>
                </a:lnTo>
                <a:lnTo>
                  <a:pt x="520" y="79"/>
                </a:lnTo>
              </a:path>
            </a:pathLst>
          </a:custGeom>
          <a:noFill/>
          <a:ln w="21590">
            <a:solidFill>
              <a:srgbClr val="64748B"/>
            </a:solidFill>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reeform 6"/>
          <p:cNvSpPr/>
          <p:nvPr/>
        </p:nvSpPr>
        <p:spPr>
          <a:xfrm>
            <a:off x="9669780" y="3253435"/>
            <a:ext cx="351130" cy="373075"/>
          </a:xfrm>
          <a:custGeom>
            <a:avLst/>
            <a:gdLst/>
            <a:ahLst/>
            <a:cxnLst/>
            <a:rect l="l" t="t" r="r" b="b"/>
            <a:pathLst>
              <a:path w="384" h="408">
                <a:moveTo>
                  <a:pt x="0" y="0"/>
                </a:moveTo>
                <a:lnTo>
                  <a:pt x="8" y="6"/>
                </a:lnTo>
                <a:lnTo>
                  <a:pt x="16" y="12"/>
                </a:lnTo>
                <a:lnTo>
                  <a:pt x="24" y="19"/>
                </a:lnTo>
                <a:lnTo>
                  <a:pt x="32" y="25"/>
                </a:lnTo>
                <a:lnTo>
                  <a:pt x="40" y="31"/>
                </a:lnTo>
                <a:lnTo>
                  <a:pt x="48" y="37"/>
                </a:lnTo>
                <a:lnTo>
                  <a:pt x="56" y="44"/>
                </a:lnTo>
                <a:lnTo>
                  <a:pt x="63" y="50"/>
                </a:lnTo>
                <a:lnTo>
                  <a:pt x="71" y="56"/>
                </a:lnTo>
                <a:lnTo>
                  <a:pt x="78" y="63"/>
                </a:lnTo>
                <a:lnTo>
                  <a:pt x="86" y="69"/>
                </a:lnTo>
                <a:lnTo>
                  <a:pt x="93" y="76"/>
                </a:lnTo>
                <a:lnTo>
                  <a:pt x="101" y="82"/>
                </a:lnTo>
                <a:lnTo>
                  <a:pt x="108" y="88"/>
                </a:lnTo>
                <a:lnTo>
                  <a:pt x="115" y="95"/>
                </a:lnTo>
                <a:lnTo>
                  <a:pt x="123" y="101"/>
                </a:lnTo>
                <a:lnTo>
                  <a:pt x="130" y="108"/>
                </a:lnTo>
                <a:lnTo>
                  <a:pt x="137" y="114"/>
                </a:lnTo>
                <a:lnTo>
                  <a:pt x="144" y="121"/>
                </a:lnTo>
                <a:lnTo>
                  <a:pt x="151" y="127"/>
                </a:lnTo>
                <a:lnTo>
                  <a:pt x="158" y="134"/>
                </a:lnTo>
                <a:lnTo>
                  <a:pt x="164" y="140"/>
                </a:lnTo>
                <a:lnTo>
                  <a:pt x="171" y="147"/>
                </a:lnTo>
                <a:lnTo>
                  <a:pt x="178" y="153"/>
                </a:lnTo>
                <a:lnTo>
                  <a:pt x="184" y="160"/>
                </a:lnTo>
                <a:lnTo>
                  <a:pt x="191" y="166"/>
                </a:lnTo>
                <a:lnTo>
                  <a:pt x="197" y="173"/>
                </a:lnTo>
                <a:lnTo>
                  <a:pt x="204" y="179"/>
                </a:lnTo>
                <a:lnTo>
                  <a:pt x="210" y="186"/>
                </a:lnTo>
                <a:lnTo>
                  <a:pt x="217" y="193"/>
                </a:lnTo>
                <a:lnTo>
                  <a:pt x="223" y="199"/>
                </a:lnTo>
                <a:lnTo>
                  <a:pt x="229" y="206"/>
                </a:lnTo>
                <a:lnTo>
                  <a:pt x="235" y="212"/>
                </a:lnTo>
                <a:lnTo>
                  <a:pt x="241" y="219"/>
                </a:lnTo>
                <a:lnTo>
                  <a:pt x="247" y="226"/>
                </a:lnTo>
                <a:lnTo>
                  <a:pt x="253" y="232"/>
                </a:lnTo>
                <a:lnTo>
                  <a:pt x="259" y="239"/>
                </a:lnTo>
                <a:lnTo>
                  <a:pt x="265" y="246"/>
                </a:lnTo>
                <a:lnTo>
                  <a:pt x="270" y="252"/>
                </a:lnTo>
                <a:lnTo>
                  <a:pt x="276" y="259"/>
                </a:lnTo>
                <a:lnTo>
                  <a:pt x="282" y="266"/>
                </a:lnTo>
                <a:lnTo>
                  <a:pt x="287" y="272"/>
                </a:lnTo>
                <a:lnTo>
                  <a:pt x="293" y="279"/>
                </a:lnTo>
                <a:lnTo>
                  <a:pt x="298" y="286"/>
                </a:lnTo>
                <a:lnTo>
                  <a:pt x="304" y="292"/>
                </a:lnTo>
                <a:lnTo>
                  <a:pt x="309" y="299"/>
                </a:lnTo>
                <a:lnTo>
                  <a:pt x="314" y="306"/>
                </a:lnTo>
                <a:lnTo>
                  <a:pt x="319" y="313"/>
                </a:lnTo>
                <a:lnTo>
                  <a:pt x="324" y="319"/>
                </a:lnTo>
                <a:lnTo>
                  <a:pt x="329" y="326"/>
                </a:lnTo>
                <a:lnTo>
                  <a:pt x="334" y="333"/>
                </a:lnTo>
                <a:lnTo>
                  <a:pt x="339" y="340"/>
                </a:lnTo>
                <a:lnTo>
                  <a:pt x="344" y="347"/>
                </a:lnTo>
                <a:lnTo>
                  <a:pt x="349" y="353"/>
                </a:lnTo>
                <a:lnTo>
                  <a:pt x="353" y="360"/>
                </a:lnTo>
                <a:lnTo>
                  <a:pt x="358" y="367"/>
                </a:lnTo>
                <a:lnTo>
                  <a:pt x="363" y="374"/>
                </a:lnTo>
                <a:lnTo>
                  <a:pt x="367" y="381"/>
                </a:lnTo>
                <a:lnTo>
                  <a:pt x="371" y="388"/>
                </a:lnTo>
                <a:lnTo>
                  <a:pt x="376" y="394"/>
                </a:lnTo>
                <a:lnTo>
                  <a:pt x="380" y="401"/>
                </a:lnTo>
                <a:lnTo>
                  <a:pt x="384" y="408"/>
                </a:lnTo>
              </a:path>
            </a:pathLst>
          </a:custGeom>
          <a:noFill/>
          <a:ln w="21590">
            <a:solidFill>
              <a:srgbClr val="64748B"/>
            </a:solidFill>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eeform 7"/>
          <p:cNvSpPr/>
          <p:nvPr/>
        </p:nvSpPr>
        <p:spPr>
          <a:xfrm>
            <a:off x="9669780" y="4420210"/>
            <a:ext cx="351130" cy="373075"/>
          </a:xfrm>
          <a:custGeom>
            <a:avLst/>
            <a:gdLst/>
            <a:ahLst/>
            <a:cxnLst/>
            <a:rect l="l" t="t" r="r" b="b"/>
            <a:pathLst>
              <a:path w="384" h="408">
                <a:moveTo>
                  <a:pt x="384" y="0"/>
                </a:moveTo>
                <a:lnTo>
                  <a:pt x="380" y="7"/>
                </a:lnTo>
                <a:lnTo>
                  <a:pt x="376" y="14"/>
                </a:lnTo>
                <a:lnTo>
                  <a:pt x="371" y="20"/>
                </a:lnTo>
                <a:lnTo>
                  <a:pt x="367" y="27"/>
                </a:lnTo>
                <a:lnTo>
                  <a:pt x="363" y="34"/>
                </a:lnTo>
                <a:lnTo>
                  <a:pt x="358" y="41"/>
                </a:lnTo>
                <a:lnTo>
                  <a:pt x="353" y="48"/>
                </a:lnTo>
                <a:lnTo>
                  <a:pt x="349" y="55"/>
                </a:lnTo>
                <a:lnTo>
                  <a:pt x="344" y="61"/>
                </a:lnTo>
                <a:lnTo>
                  <a:pt x="339" y="68"/>
                </a:lnTo>
                <a:lnTo>
                  <a:pt x="334" y="75"/>
                </a:lnTo>
                <a:lnTo>
                  <a:pt x="329" y="82"/>
                </a:lnTo>
                <a:lnTo>
                  <a:pt x="324" y="89"/>
                </a:lnTo>
                <a:lnTo>
                  <a:pt x="319" y="95"/>
                </a:lnTo>
                <a:lnTo>
                  <a:pt x="314" y="102"/>
                </a:lnTo>
                <a:lnTo>
                  <a:pt x="309" y="109"/>
                </a:lnTo>
                <a:lnTo>
                  <a:pt x="304" y="116"/>
                </a:lnTo>
                <a:lnTo>
                  <a:pt x="298" y="122"/>
                </a:lnTo>
                <a:lnTo>
                  <a:pt x="293" y="129"/>
                </a:lnTo>
                <a:lnTo>
                  <a:pt x="287" y="136"/>
                </a:lnTo>
                <a:lnTo>
                  <a:pt x="282" y="142"/>
                </a:lnTo>
                <a:lnTo>
                  <a:pt x="276" y="149"/>
                </a:lnTo>
                <a:lnTo>
                  <a:pt x="270" y="156"/>
                </a:lnTo>
                <a:lnTo>
                  <a:pt x="265" y="162"/>
                </a:lnTo>
                <a:lnTo>
                  <a:pt x="259" y="169"/>
                </a:lnTo>
                <a:lnTo>
                  <a:pt x="253" y="176"/>
                </a:lnTo>
                <a:lnTo>
                  <a:pt x="247" y="182"/>
                </a:lnTo>
                <a:lnTo>
                  <a:pt x="241" y="189"/>
                </a:lnTo>
                <a:lnTo>
                  <a:pt x="235" y="196"/>
                </a:lnTo>
                <a:lnTo>
                  <a:pt x="229" y="202"/>
                </a:lnTo>
                <a:lnTo>
                  <a:pt x="223" y="209"/>
                </a:lnTo>
                <a:lnTo>
                  <a:pt x="217" y="215"/>
                </a:lnTo>
                <a:lnTo>
                  <a:pt x="210" y="222"/>
                </a:lnTo>
                <a:lnTo>
                  <a:pt x="204" y="229"/>
                </a:lnTo>
                <a:lnTo>
                  <a:pt x="197" y="235"/>
                </a:lnTo>
                <a:lnTo>
                  <a:pt x="191" y="242"/>
                </a:lnTo>
                <a:lnTo>
                  <a:pt x="184" y="248"/>
                </a:lnTo>
                <a:lnTo>
                  <a:pt x="178" y="255"/>
                </a:lnTo>
                <a:lnTo>
                  <a:pt x="171" y="261"/>
                </a:lnTo>
                <a:lnTo>
                  <a:pt x="164" y="268"/>
                </a:lnTo>
                <a:lnTo>
                  <a:pt x="158" y="274"/>
                </a:lnTo>
                <a:lnTo>
                  <a:pt x="151" y="281"/>
                </a:lnTo>
                <a:lnTo>
                  <a:pt x="144" y="287"/>
                </a:lnTo>
                <a:lnTo>
                  <a:pt x="137" y="294"/>
                </a:lnTo>
                <a:lnTo>
                  <a:pt x="130" y="300"/>
                </a:lnTo>
                <a:lnTo>
                  <a:pt x="123" y="307"/>
                </a:lnTo>
                <a:lnTo>
                  <a:pt x="115" y="313"/>
                </a:lnTo>
                <a:lnTo>
                  <a:pt x="108" y="320"/>
                </a:lnTo>
                <a:lnTo>
                  <a:pt x="101" y="326"/>
                </a:lnTo>
                <a:lnTo>
                  <a:pt x="93" y="332"/>
                </a:lnTo>
                <a:lnTo>
                  <a:pt x="86" y="339"/>
                </a:lnTo>
                <a:lnTo>
                  <a:pt x="78" y="345"/>
                </a:lnTo>
                <a:lnTo>
                  <a:pt x="71" y="352"/>
                </a:lnTo>
                <a:lnTo>
                  <a:pt x="63" y="358"/>
                </a:lnTo>
                <a:lnTo>
                  <a:pt x="56" y="364"/>
                </a:lnTo>
                <a:lnTo>
                  <a:pt x="48" y="371"/>
                </a:lnTo>
                <a:lnTo>
                  <a:pt x="40" y="377"/>
                </a:lnTo>
                <a:lnTo>
                  <a:pt x="32" y="383"/>
                </a:lnTo>
                <a:lnTo>
                  <a:pt x="24" y="389"/>
                </a:lnTo>
                <a:lnTo>
                  <a:pt x="16" y="396"/>
                </a:lnTo>
                <a:lnTo>
                  <a:pt x="8" y="402"/>
                </a:lnTo>
                <a:lnTo>
                  <a:pt x="0" y="408"/>
                </a:lnTo>
              </a:path>
            </a:pathLst>
          </a:custGeom>
          <a:noFill/>
          <a:ln w="21590">
            <a:solidFill>
              <a:srgbClr val="64748B"/>
            </a:solidFill>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Freeform 8"/>
          <p:cNvSpPr/>
          <p:nvPr/>
        </p:nvSpPr>
        <p:spPr>
          <a:xfrm>
            <a:off x="7281367" y="5523890"/>
            <a:ext cx="475488" cy="72238"/>
          </a:xfrm>
          <a:custGeom>
            <a:avLst/>
            <a:gdLst/>
            <a:ahLst/>
            <a:cxnLst/>
            <a:rect l="l" t="t" r="r" b="b"/>
            <a:pathLst>
              <a:path w="520" h="79">
                <a:moveTo>
                  <a:pt x="520" y="0"/>
                </a:moveTo>
                <a:lnTo>
                  <a:pt x="504" y="2"/>
                </a:lnTo>
                <a:lnTo>
                  <a:pt x="488" y="5"/>
                </a:lnTo>
                <a:lnTo>
                  <a:pt x="472" y="8"/>
                </a:lnTo>
                <a:lnTo>
                  <a:pt x="456" y="11"/>
                </a:lnTo>
                <a:lnTo>
                  <a:pt x="440" y="14"/>
                </a:lnTo>
                <a:lnTo>
                  <a:pt x="424" y="17"/>
                </a:lnTo>
                <a:lnTo>
                  <a:pt x="408" y="19"/>
                </a:lnTo>
                <a:lnTo>
                  <a:pt x="392" y="22"/>
                </a:lnTo>
                <a:lnTo>
                  <a:pt x="376" y="25"/>
                </a:lnTo>
                <a:lnTo>
                  <a:pt x="360" y="27"/>
                </a:lnTo>
                <a:lnTo>
                  <a:pt x="344" y="30"/>
                </a:lnTo>
                <a:lnTo>
                  <a:pt x="328" y="33"/>
                </a:lnTo>
                <a:lnTo>
                  <a:pt x="312" y="35"/>
                </a:lnTo>
                <a:lnTo>
                  <a:pt x="295" y="38"/>
                </a:lnTo>
                <a:lnTo>
                  <a:pt x="279" y="40"/>
                </a:lnTo>
                <a:lnTo>
                  <a:pt x="263" y="43"/>
                </a:lnTo>
                <a:lnTo>
                  <a:pt x="247" y="45"/>
                </a:lnTo>
                <a:lnTo>
                  <a:pt x="230" y="48"/>
                </a:lnTo>
                <a:lnTo>
                  <a:pt x="214" y="50"/>
                </a:lnTo>
                <a:lnTo>
                  <a:pt x="198" y="53"/>
                </a:lnTo>
                <a:lnTo>
                  <a:pt x="181" y="55"/>
                </a:lnTo>
                <a:lnTo>
                  <a:pt x="165" y="57"/>
                </a:lnTo>
                <a:lnTo>
                  <a:pt x="148" y="60"/>
                </a:lnTo>
                <a:lnTo>
                  <a:pt x="132" y="62"/>
                </a:lnTo>
                <a:lnTo>
                  <a:pt x="115" y="64"/>
                </a:lnTo>
                <a:lnTo>
                  <a:pt x="99" y="66"/>
                </a:lnTo>
                <a:lnTo>
                  <a:pt x="82" y="69"/>
                </a:lnTo>
                <a:lnTo>
                  <a:pt x="66" y="71"/>
                </a:lnTo>
                <a:lnTo>
                  <a:pt x="49" y="73"/>
                </a:lnTo>
                <a:lnTo>
                  <a:pt x="33" y="75"/>
                </a:lnTo>
                <a:lnTo>
                  <a:pt x="16" y="77"/>
                </a:lnTo>
                <a:lnTo>
                  <a:pt x="0" y="79"/>
                </a:lnTo>
              </a:path>
            </a:pathLst>
          </a:custGeom>
          <a:noFill/>
          <a:ln w="21590">
            <a:solidFill>
              <a:srgbClr val="64748B"/>
            </a:solidFill>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Freeform 9"/>
          <p:cNvSpPr/>
          <p:nvPr/>
        </p:nvSpPr>
        <p:spPr>
          <a:xfrm>
            <a:off x="4422953" y="5523890"/>
            <a:ext cx="475488" cy="72238"/>
          </a:xfrm>
          <a:custGeom>
            <a:avLst/>
            <a:gdLst/>
            <a:ahLst/>
            <a:cxnLst/>
            <a:rect l="l" t="t" r="r" b="b"/>
            <a:pathLst>
              <a:path w="520" h="79">
                <a:moveTo>
                  <a:pt x="520" y="79"/>
                </a:moveTo>
                <a:lnTo>
                  <a:pt x="504" y="77"/>
                </a:lnTo>
                <a:lnTo>
                  <a:pt x="487" y="75"/>
                </a:lnTo>
                <a:lnTo>
                  <a:pt x="471" y="73"/>
                </a:lnTo>
                <a:lnTo>
                  <a:pt x="454" y="71"/>
                </a:lnTo>
                <a:lnTo>
                  <a:pt x="438" y="69"/>
                </a:lnTo>
                <a:lnTo>
                  <a:pt x="421" y="66"/>
                </a:lnTo>
                <a:lnTo>
                  <a:pt x="405" y="64"/>
                </a:lnTo>
                <a:lnTo>
                  <a:pt x="388" y="62"/>
                </a:lnTo>
                <a:lnTo>
                  <a:pt x="372" y="60"/>
                </a:lnTo>
                <a:lnTo>
                  <a:pt x="355" y="57"/>
                </a:lnTo>
                <a:lnTo>
                  <a:pt x="339" y="55"/>
                </a:lnTo>
                <a:lnTo>
                  <a:pt x="322" y="53"/>
                </a:lnTo>
                <a:lnTo>
                  <a:pt x="306" y="50"/>
                </a:lnTo>
                <a:lnTo>
                  <a:pt x="290" y="48"/>
                </a:lnTo>
                <a:lnTo>
                  <a:pt x="273" y="45"/>
                </a:lnTo>
                <a:lnTo>
                  <a:pt x="257" y="43"/>
                </a:lnTo>
                <a:lnTo>
                  <a:pt x="241" y="40"/>
                </a:lnTo>
                <a:lnTo>
                  <a:pt x="225" y="38"/>
                </a:lnTo>
                <a:lnTo>
                  <a:pt x="208" y="35"/>
                </a:lnTo>
                <a:lnTo>
                  <a:pt x="192" y="33"/>
                </a:lnTo>
                <a:lnTo>
                  <a:pt x="176" y="30"/>
                </a:lnTo>
                <a:lnTo>
                  <a:pt x="160" y="27"/>
                </a:lnTo>
                <a:lnTo>
                  <a:pt x="144" y="25"/>
                </a:lnTo>
                <a:lnTo>
                  <a:pt x="128" y="22"/>
                </a:lnTo>
                <a:lnTo>
                  <a:pt x="112" y="19"/>
                </a:lnTo>
                <a:lnTo>
                  <a:pt x="96" y="17"/>
                </a:lnTo>
                <a:lnTo>
                  <a:pt x="80" y="14"/>
                </a:lnTo>
                <a:lnTo>
                  <a:pt x="64" y="11"/>
                </a:lnTo>
                <a:lnTo>
                  <a:pt x="48" y="8"/>
                </a:lnTo>
                <a:lnTo>
                  <a:pt x="32" y="5"/>
                </a:lnTo>
                <a:lnTo>
                  <a:pt x="16" y="2"/>
                </a:lnTo>
                <a:lnTo>
                  <a:pt x="0" y="0"/>
                </a:lnTo>
              </a:path>
            </a:pathLst>
          </a:custGeom>
          <a:noFill/>
          <a:ln w="21590">
            <a:solidFill>
              <a:srgbClr val="64748B"/>
            </a:solidFill>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Freeform 10"/>
          <p:cNvSpPr/>
          <p:nvPr/>
        </p:nvSpPr>
        <p:spPr>
          <a:xfrm>
            <a:off x="2158898" y="4420210"/>
            <a:ext cx="351130" cy="373075"/>
          </a:xfrm>
          <a:custGeom>
            <a:avLst/>
            <a:gdLst/>
            <a:ahLst/>
            <a:cxnLst/>
            <a:rect l="l" t="t" r="r" b="b"/>
            <a:pathLst>
              <a:path w="384" h="408">
                <a:moveTo>
                  <a:pt x="384" y="408"/>
                </a:moveTo>
                <a:lnTo>
                  <a:pt x="376" y="402"/>
                </a:lnTo>
                <a:lnTo>
                  <a:pt x="368" y="396"/>
                </a:lnTo>
                <a:lnTo>
                  <a:pt x="360" y="389"/>
                </a:lnTo>
                <a:lnTo>
                  <a:pt x="352" y="383"/>
                </a:lnTo>
                <a:lnTo>
                  <a:pt x="344" y="377"/>
                </a:lnTo>
                <a:lnTo>
                  <a:pt x="336" y="371"/>
                </a:lnTo>
                <a:lnTo>
                  <a:pt x="328" y="364"/>
                </a:lnTo>
                <a:lnTo>
                  <a:pt x="321" y="358"/>
                </a:lnTo>
                <a:lnTo>
                  <a:pt x="313" y="352"/>
                </a:lnTo>
                <a:lnTo>
                  <a:pt x="306" y="345"/>
                </a:lnTo>
                <a:lnTo>
                  <a:pt x="298" y="339"/>
                </a:lnTo>
                <a:lnTo>
                  <a:pt x="291" y="332"/>
                </a:lnTo>
                <a:lnTo>
                  <a:pt x="283" y="326"/>
                </a:lnTo>
                <a:lnTo>
                  <a:pt x="276" y="320"/>
                </a:lnTo>
                <a:lnTo>
                  <a:pt x="269" y="313"/>
                </a:lnTo>
                <a:lnTo>
                  <a:pt x="261" y="307"/>
                </a:lnTo>
                <a:lnTo>
                  <a:pt x="254" y="300"/>
                </a:lnTo>
                <a:lnTo>
                  <a:pt x="247" y="294"/>
                </a:lnTo>
                <a:lnTo>
                  <a:pt x="240" y="287"/>
                </a:lnTo>
                <a:lnTo>
                  <a:pt x="233" y="281"/>
                </a:lnTo>
                <a:lnTo>
                  <a:pt x="226" y="274"/>
                </a:lnTo>
                <a:lnTo>
                  <a:pt x="220" y="268"/>
                </a:lnTo>
                <a:lnTo>
                  <a:pt x="213" y="261"/>
                </a:lnTo>
                <a:lnTo>
                  <a:pt x="206" y="255"/>
                </a:lnTo>
                <a:lnTo>
                  <a:pt x="200" y="248"/>
                </a:lnTo>
                <a:lnTo>
                  <a:pt x="193" y="242"/>
                </a:lnTo>
                <a:lnTo>
                  <a:pt x="187" y="235"/>
                </a:lnTo>
                <a:lnTo>
                  <a:pt x="180" y="229"/>
                </a:lnTo>
                <a:lnTo>
                  <a:pt x="174" y="222"/>
                </a:lnTo>
                <a:lnTo>
                  <a:pt x="167" y="215"/>
                </a:lnTo>
                <a:lnTo>
                  <a:pt x="161" y="209"/>
                </a:lnTo>
                <a:lnTo>
                  <a:pt x="155" y="202"/>
                </a:lnTo>
                <a:lnTo>
                  <a:pt x="149" y="196"/>
                </a:lnTo>
                <a:lnTo>
                  <a:pt x="143" y="189"/>
                </a:lnTo>
                <a:lnTo>
                  <a:pt x="137" y="182"/>
                </a:lnTo>
                <a:lnTo>
                  <a:pt x="131" y="176"/>
                </a:lnTo>
                <a:lnTo>
                  <a:pt x="125" y="169"/>
                </a:lnTo>
                <a:lnTo>
                  <a:pt x="119" y="162"/>
                </a:lnTo>
                <a:lnTo>
                  <a:pt x="114" y="156"/>
                </a:lnTo>
                <a:lnTo>
                  <a:pt x="108" y="149"/>
                </a:lnTo>
                <a:lnTo>
                  <a:pt x="102" y="142"/>
                </a:lnTo>
                <a:lnTo>
                  <a:pt x="97" y="136"/>
                </a:lnTo>
                <a:lnTo>
                  <a:pt x="91" y="129"/>
                </a:lnTo>
                <a:lnTo>
                  <a:pt x="86" y="122"/>
                </a:lnTo>
                <a:lnTo>
                  <a:pt x="80" y="116"/>
                </a:lnTo>
                <a:lnTo>
                  <a:pt x="75" y="109"/>
                </a:lnTo>
                <a:lnTo>
                  <a:pt x="70" y="102"/>
                </a:lnTo>
                <a:lnTo>
                  <a:pt x="65" y="95"/>
                </a:lnTo>
                <a:lnTo>
                  <a:pt x="60" y="89"/>
                </a:lnTo>
                <a:lnTo>
                  <a:pt x="55" y="82"/>
                </a:lnTo>
                <a:lnTo>
                  <a:pt x="50" y="75"/>
                </a:lnTo>
                <a:lnTo>
                  <a:pt x="45" y="68"/>
                </a:lnTo>
                <a:lnTo>
                  <a:pt x="40" y="61"/>
                </a:lnTo>
                <a:lnTo>
                  <a:pt x="35" y="55"/>
                </a:lnTo>
                <a:lnTo>
                  <a:pt x="31" y="48"/>
                </a:lnTo>
                <a:lnTo>
                  <a:pt x="26" y="41"/>
                </a:lnTo>
                <a:lnTo>
                  <a:pt x="21" y="34"/>
                </a:lnTo>
                <a:lnTo>
                  <a:pt x="17" y="27"/>
                </a:lnTo>
                <a:lnTo>
                  <a:pt x="13" y="20"/>
                </a:lnTo>
                <a:lnTo>
                  <a:pt x="8" y="14"/>
                </a:lnTo>
                <a:lnTo>
                  <a:pt x="4" y="7"/>
                </a:lnTo>
                <a:lnTo>
                  <a:pt x="0" y="0"/>
                </a:lnTo>
              </a:path>
            </a:pathLst>
          </a:custGeom>
          <a:noFill/>
          <a:ln w="21590">
            <a:solidFill>
              <a:srgbClr val="64748B"/>
            </a:solidFill>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Freeform 11"/>
          <p:cNvSpPr/>
          <p:nvPr/>
        </p:nvSpPr>
        <p:spPr>
          <a:xfrm>
            <a:off x="2158898" y="3253435"/>
            <a:ext cx="351130" cy="373075"/>
          </a:xfrm>
          <a:custGeom>
            <a:avLst/>
            <a:gdLst/>
            <a:ahLst/>
            <a:cxnLst/>
            <a:rect l="l" t="t" r="r" b="b"/>
            <a:pathLst>
              <a:path w="384" h="408">
                <a:moveTo>
                  <a:pt x="0" y="408"/>
                </a:moveTo>
                <a:lnTo>
                  <a:pt x="4" y="401"/>
                </a:lnTo>
                <a:lnTo>
                  <a:pt x="8" y="394"/>
                </a:lnTo>
                <a:lnTo>
                  <a:pt x="13" y="388"/>
                </a:lnTo>
                <a:lnTo>
                  <a:pt x="17" y="381"/>
                </a:lnTo>
                <a:lnTo>
                  <a:pt x="21" y="374"/>
                </a:lnTo>
                <a:lnTo>
                  <a:pt x="26" y="367"/>
                </a:lnTo>
                <a:lnTo>
                  <a:pt x="31" y="360"/>
                </a:lnTo>
                <a:lnTo>
                  <a:pt x="35" y="353"/>
                </a:lnTo>
                <a:lnTo>
                  <a:pt x="40" y="347"/>
                </a:lnTo>
                <a:lnTo>
                  <a:pt x="45" y="340"/>
                </a:lnTo>
                <a:lnTo>
                  <a:pt x="50" y="333"/>
                </a:lnTo>
                <a:lnTo>
                  <a:pt x="55" y="326"/>
                </a:lnTo>
                <a:lnTo>
                  <a:pt x="60" y="319"/>
                </a:lnTo>
                <a:lnTo>
                  <a:pt x="65" y="313"/>
                </a:lnTo>
                <a:lnTo>
                  <a:pt x="70" y="306"/>
                </a:lnTo>
                <a:lnTo>
                  <a:pt x="75" y="299"/>
                </a:lnTo>
                <a:lnTo>
                  <a:pt x="80" y="292"/>
                </a:lnTo>
                <a:lnTo>
                  <a:pt x="86" y="286"/>
                </a:lnTo>
                <a:lnTo>
                  <a:pt x="91" y="279"/>
                </a:lnTo>
                <a:lnTo>
                  <a:pt x="97" y="272"/>
                </a:lnTo>
                <a:lnTo>
                  <a:pt x="102" y="266"/>
                </a:lnTo>
                <a:lnTo>
                  <a:pt x="108" y="259"/>
                </a:lnTo>
                <a:lnTo>
                  <a:pt x="114" y="252"/>
                </a:lnTo>
                <a:lnTo>
                  <a:pt x="119" y="246"/>
                </a:lnTo>
                <a:lnTo>
                  <a:pt x="125" y="239"/>
                </a:lnTo>
                <a:lnTo>
                  <a:pt x="131" y="232"/>
                </a:lnTo>
                <a:lnTo>
                  <a:pt x="137" y="226"/>
                </a:lnTo>
                <a:lnTo>
                  <a:pt x="143" y="219"/>
                </a:lnTo>
                <a:lnTo>
                  <a:pt x="149" y="212"/>
                </a:lnTo>
                <a:lnTo>
                  <a:pt x="155" y="206"/>
                </a:lnTo>
                <a:lnTo>
                  <a:pt x="161" y="199"/>
                </a:lnTo>
                <a:lnTo>
                  <a:pt x="167" y="193"/>
                </a:lnTo>
                <a:lnTo>
                  <a:pt x="174" y="186"/>
                </a:lnTo>
                <a:lnTo>
                  <a:pt x="180" y="179"/>
                </a:lnTo>
                <a:lnTo>
                  <a:pt x="187" y="173"/>
                </a:lnTo>
                <a:lnTo>
                  <a:pt x="193" y="166"/>
                </a:lnTo>
                <a:lnTo>
                  <a:pt x="200" y="160"/>
                </a:lnTo>
                <a:lnTo>
                  <a:pt x="206" y="153"/>
                </a:lnTo>
                <a:lnTo>
                  <a:pt x="213" y="147"/>
                </a:lnTo>
                <a:lnTo>
                  <a:pt x="220" y="140"/>
                </a:lnTo>
                <a:lnTo>
                  <a:pt x="226" y="134"/>
                </a:lnTo>
                <a:lnTo>
                  <a:pt x="233" y="127"/>
                </a:lnTo>
                <a:lnTo>
                  <a:pt x="240" y="121"/>
                </a:lnTo>
                <a:lnTo>
                  <a:pt x="247" y="114"/>
                </a:lnTo>
                <a:lnTo>
                  <a:pt x="254" y="108"/>
                </a:lnTo>
                <a:lnTo>
                  <a:pt x="261" y="101"/>
                </a:lnTo>
                <a:lnTo>
                  <a:pt x="269" y="95"/>
                </a:lnTo>
                <a:lnTo>
                  <a:pt x="276" y="88"/>
                </a:lnTo>
                <a:lnTo>
                  <a:pt x="283" y="82"/>
                </a:lnTo>
                <a:lnTo>
                  <a:pt x="291" y="76"/>
                </a:lnTo>
                <a:lnTo>
                  <a:pt x="298" y="69"/>
                </a:lnTo>
                <a:lnTo>
                  <a:pt x="306" y="63"/>
                </a:lnTo>
                <a:lnTo>
                  <a:pt x="313" y="56"/>
                </a:lnTo>
                <a:lnTo>
                  <a:pt x="321" y="50"/>
                </a:lnTo>
                <a:lnTo>
                  <a:pt x="328" y="44"/>
                </a:lnTo>
                <a:lnTo>
                  <a:pt x="336" y="37"/>
                </a:lnTo>
                <a:lnTo>
                  <a:pt x="344" y="31"/>
                </a:lnTo>
                <a:lnTo>
                  <a:pt x="352" y="25"/>
                </a:lnTo>
                <a:lnTo>
                  <a:pt x="360" y="19"/>
                </a:lnTo>
                <a:lnTo>
                  <a:pt x="368" y="12"/>
                </a:lnTo>
                <a:lnTo>
                  <a:pt x="376" y="6"/>
                </a:lnTo>
                <a:lnTo>
                  <a:pt x="384" y="0"/>
                </a:lnTo>
              </a:path>
            </a:pathLst>
          </a:custGeom>
          <a:noFill/>
          <a:ln w="21590">
            <a:solidFill>
              <a:srgbClr val="64748B"/>
            </a:solidFill>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reeform 12"/>
          <p:cNvSpPr/>
          <p:nvPr/>
        </p:nvSpPr>
        <p:spPr>
          <a:xfrm>
            <a:off x="4422953" y="2450592"/>
            <a:ext cx="475488" cy="72238"/>
          </a:xfrm>
          <a:custGeom>
            <a:avLst/>
            <a:gdLst/>
            <a:ahLst/>
            <a:cxnLst/>
            <a:rect l="l" t="t" r="r" b="b"/>
            <a:pathLst>
              <a:path w="520" h="79">
                <a:moveTo>
                  <a:pt x="0" y="79"/>
                </a:moveTo>
                <a:lnTo>
                  <a:pt x="16" y="77"/>
                </a:lnTo>
                <a:lnTo>
                  <a:pt x="32" y="74"/>
                </a:lnTo>
                <a:lnTo>
                  <a:pt x="48" y="71"/>
                </a:lnTo>
                <a:lnTo>
                  <a:pt x="64" y="68"/>
                </a:lnTo>
                <a:lnTo>
                  <a:pt x="80" y="65"/>
                </a:lnTo>
                <a:lnTo>
                  <a:pt x="96" y="62"/>
                </a:lnTo>
                <a:lnTo>
                  <a:pt x="112" y="60"/>
                </a:lnTo>
                <a:lnTo>
                  <a:pt x="128" y="57"/>
                </a:lnTo>
                <a:lnTo>
                  <a:pt x="144" y="54"/>
                </a:lnTo>
                <a:lnTo>
                  <a:pt x="160" y="52"/>
                </a:lnTo>
                <a:lnTo>
                  <a:pt x="176" y="49"/>
                </a:lnTo>
                <a:lnTo>
                  <a:pt x="192" y="46"/>
                </a:lnTo>
                <a:lnTo>
                  <a:pt x="208" y="44"/>
                </a:lnTo>
                <a:lnTo>
                  <a:pt x="225" y="41"/>
                </a:lnTo>
                <a:lnTo>
                  <a:pt x="241" y="39"/>
                </a:lnTo>
                <a:lnTo>
                  <a:pt x="257" y="36"/>
                </a:lnTo>
                <a:lnTo>
                  <a:pt x="273" y="34"/>
                </a:lnTo>
                <a:lnTo>
                  <a:pt x="290" y="31"/>
                </a:lnTo>
                <a:lnTo>
                  <a:pt x="306" y="29"/>
                </a:lnTo>
                <a:lnTo>
                  <a:pt x="322" y="26"/>
                </a:lnTo>
                <a:lnTo>
                  <a:pt x="339" y="24"/>
                </a:lnTo>
                <a:lnTo>
                  <a:pt x="355" y="22"/>
                </a:lnTo>
                <a:lnTo>
                  <a:pt x="372" y="19"/>
                </a:lnTo>
                <a:lnTo>
                  <a:pt x="388" y="17"/>
                </a:lnTo>
                <a:lnTo>
                  <a:pt x="405" y="15"/>
                </a:lnTo>
                <a:lnTo>
                  <a:pt x="421" y="13"/>
                </a:lnTo>
                <a:lnTo>
                  <a:pt x="438" y="10"/>
                </a:lnTo>
                <a:lnTo>
                  <a:pt x="454" y="8"/>
                </a:lnTo>
                <a:lnTo>
                  <a:pt x="471" y="6"/>
                </a:lnTo>
                <a:lnTo>
                  <a:pt x="487" y="4"/>
                </a:lnTo>
                <a:lnTo>
                  <a:pt x="504" y="2"/>
                </a:lnTo>
                <a:lnTo>
                  <a:pt x="520" y="0"/>
                </a:lnTo>
              </a:path>
            </a:pathLst>
          </a:custGeom>
          <a:noFill/>
          <a:ln w="31750">
            <a:solidFill>
              <a:srgbClr val="F97316"/>
            </a:solidFill>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Lifecycle: Request"/>
          <p:cNvSpPr/>
          <p:nvPr/>
        </p:nvSpPr>
        <p:spPr>
          <a:xfrm>
            <a:off x="4946904" y="2029968"/>
            <a:ext cx="2286000" cy="694944"/>
          </a:xfrm>
          <a:prstGeom prst="roundRect">
            <a:avLst>
              <a:gd name="adj" fmla="val 12000"/>
            </a:avLst>
          </a:prstGeom>
          <a:solidFill>
            <a:srgbClr val="FFFFFF"/>
          </a:solidFill>
          <a:ln w="1524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066507" y="2206264"/>
            <a:ext cx="346008" cy="241401"/>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a:off x="5134904" y="2447665"/>
            <a:ext cx="0" cy="7242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5134904" y="2447665"/>
            <a:ext cx="84491" cy="7242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136916" y="2316906"/>
            <a:ext cx="28163" cy="28163"/>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225430" y="2316906"/>
            <a:ext cx="28163" cy="28163"/>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313944" y="2316906"/>
            <a:ext cx="28163" cy="28163"/>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 Request"/>
          <p:cNvSpPr txBox="1"/>
          <p:nvPr/>
        </p:nvSpPr>
        <p:spPr>
          <a:xfrm>
            <a:off x="5504688" y="2103120"/>
            <a:ext cx="1645920" cy="548640"/>
          </a:xfrm>
          <a:prstGeom prst="rect">
            <a:avLst/>
          </a:prstGeom>
          <a:noFill/>
        </p:spPr>
        <p:txBody>
          <a:bodyPr wrap="square" lIns="0" tIns="0" rIns="0" bIns="0" anchor="ctr">
            <a:noAutofit/>
          </a:bodyPr>
          <a:lstStyle/>
          <a:p>
            <a:pPr algn="l">
              <a:lnSpc>
                <a:spcPct val="106000"/>
              </a:lnSpc>
              <a:spcBef>
                <a:spcPts val="0"/>
              </a:spcBef>
              <a:spcAft>
                <a:spcPts val="0"/>
              </a:spcAft>
            </a:pPr>
            <a:r>
              <a:rPr sz="2000" b="1">
                <a:solidFill>
                  <a:srgbClr val="0F2343"/>
                </a:solidFill>
                <a:latin typeface="Aptos"/>
              </a:rPr>
              <a:t>Request</a:t>
            </a:r>
          </a:p>
        </p:txBody>
      </p:sp>
      <p:sp>
        <p:nvSpPr>
          <p:cNvPr id="22" name="Lifecycle: Requirements"/>
          <p:cNvSpPr/>
          <p:nvPr/>
        </p:nvSpPr>
        <p:spPr>
          <a:xfrm>
            <a:off x="7811246" y="2512046"/>
            <a:ext cx="2286000" cy="694944"/>
          </a:xfrm>
          <a:prstGeom prst="roundRect">
            <a:avLst>
              <a:gd name="adj" fmla="val 12000"/>
            </a:avLst>
          </a:prstGeom>
          <a:solidFill>
            <a:srgbClr val="FFFFFF"/>
          </a:solidFill>
          <a:ln w="1524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979130" y="2668226"/>
            <a:ext cx="249448" cy="346008"/>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8027410" y="2776857"/>
            <a:ext cx="152888"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27410" y="2841230"/>
            <a:ext cx="152888"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027410" y="2909627"/>
            <a:ext cx="104608" cy="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27" name="Text: Requirements"/>
          <p:cNvSpPr txBox="1"/>
          <p:nvPr/>
        </p:nvSpPr>
        <p:spPr>
          <a:xfrm>
            <a:off x="8369030" y="2585198"/>
            <a:ext cx="1645920" cy="548640"/>
          </a:xfrm>
          <a:prstGeom prst="rect">
            <a:avLst/>
          </a:prstGeom>
          <a:noFill/>
        </p:spPr>
        <p:txBody>
          <a:bodyPr wrap="square" lIns="0" tIns="0" rIns="0" bIns="0" anchor="ctr">
            <a:noAutofit/>
          </a:bodyPr>
          <a:lstStyle/>
          <a:p>
            <a:pPr algn="l">
              <a:lnSpc>
                <a:spcPct val="106000"/>
              </a:lnSpc>
              <a:spcBef>
                <a:spcPts val="0"/>
              </a:spcBef>
              <a:spcAft>
                <a:spcPts val="0"/>
              </a:spcAft>
            </a:pPr>
            <a:r>
              <a:rPr sz="1800" b="1">
                <a:solidFill>
                  <a:srgbClr val="0F2343"/>
                </a:solidFill>
                <a:latin typeface="Aptos"/>
              </a:rPr>
              <a:t>Requirements</a:t>
            </a:r>
          </a:p>
        </p:txBody>
      </p:sp>
      <p:sp>
        <p:nvSpPr>
          <p:cNvPr id="28" name="Lifecycle: Model"/>
          <p:cNvSpPr/>
          <p:nvPr/>
        </p:nvSpPr>
        <p:spPr>
          <a:xfrm>
            <a:off x="8997696" y="3675888"/>
            <a:ext cx="2286000" cy="694944"/>
          </a:xfrm>
          <a:prstGeom prst="roundRect">
            <a:avLst>
              <a:gd name="adj" fmla="val 12000"/>
            </a:avLst>
          </a:prstGeom>
          <a:solidFill>
            <a:srgbClr val="FFFFFF"/>
          </a:solidFill>
          <a:ln w="1524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
          <p:cNvSpPr txBox="1"/>
          <p:nvPr/>
        </p:nvSpPr>
        <p:spPr>
          <a:xfrm>
            <a:off x="9089136" y="3803904"/>
            <a:ext cx="402336" cy="402336"/>
          </a:xfrm>
          <a:prstGeom prst="rect">
            <a:avLst/>
          </a:prstGeom>
          <a:noFill/>
        </p:spPr>
        <p:txBody>
          <a:bodyPr wrap="square" lIns="0" tIns="0" rIns="0" bIns="0" anchor="ctr">
            <a:noAutofit/>
          </a:bodyPr>
          <a:lstStyle/>
          <a:p>
            <a:pPr algn="ctr">
              <a:lnSpc>
                <a:spcPct val="106000"/>
              </a:lnSpc>
              <a:spcBef>
                <a:spcPts val="0"/>
              </a:spcBef>
              <a:spcAft>
                <a:spcPts val="0"/>
              </a:spcAft>
            </a:pPr>
            <a:r>
              <a:rPr sz="2023" b="0">
                <a:solidFill>
                  <a:srgbClr val="0F2343"/>
                </a:solidFill>
                <a:latin typeface="Cambria Math"/>
              </a:rPr>
              <a:t>∑</a:t>
            </a:r>
          </a:p>
        </p:txBody>
      </p:sp>
      <p:sp>
        <p:nvSpPr>
          <p:cNvPr id="30" name="Text: Model"/>
          <p:cNvSpPr txBox="1"/>
          <p:nvPr/>
        </p:nvSpPr>
        <p:spPr>
          <a:xfrm>
            <a:off x="9555480" y="3749040"/>
            <a:ext cx="1645920" cy="548640"/>
          </a:xfrm>
          <a:prstGeom prst="rect">
            <a:avLst/>
          </a:prstGeom>
          <a:noFill/>
        </p:spPr>
        <p:txBody>
          <a:bodyPr wrap="square" lIns="0" tIns="0" rIns="0" bIns="0" anchor="ctr">
            <a:noAutofit/>
          </a:bodyPr>
          <a:lstStyle/>
          <a:p>
            <a:pPr algn="l">
              <a:lnSpc>
                <a:spcPct val="106000"/>
              </a:lnSpc>
              <a:spcBef>
                <a:spcPts val="0"/>
              </a:spcBef>
              <a:spcAft>
                <a:spcPts val="0"/>
              </a:spcAft>
            </a:pPr>
            <a:r>
              <a:rPr sz="2000" b="1">
                <a:solidFill>
                  <a:srgbClr val="0F2343"/>
                </a:solidFill>
                <a:latin typeface="Aptos"/>
              </a:rPr>
              <a:t>Model</a:t>
            </a:r>
          </a:p>
        </p:txBody>
      </p:sp>
      <p:sp>
        <p:nvSpPr>
          <p:cNvPr id="31" name="Lifecycle: Design &amp; code"/>
          <p:cNvSpPr/>
          <p:nvPr/>
        </p:nvSpPr>
        <p:spPr>
          <a:xfrm>
            <a:off x="7811246" y="4839729"/>
            <a:ext cx="2286000" cy="694944"/>
          </a:xfrm>
          <a:prstGeom prst="roundRect">
            <a:avLst>
              <a:gd name="adj" fmla="val 12000"/>
            </a:avLst>
          </a:prstGeom>
          <a:solidFill>
            <a:srgbClr val="FFFFFF"/>
          </a:solidFill>
          <a:ln w="1524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31"/>
          <p:cNvCxnSpPr/>
          <p:nvPr/>
        </p:nvCxnSpPr>
        <p:spPr>
          <a:xfrm flipH="1">
            <a:off x="7942920" y="5060282"/>
            <a:ext cx="80467" cy="10863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942920" y="5168913"/>
            <a:ext cx="80467" cy="10863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184321" y="5060282"/>
            <a:ext cx="80467" cy="10863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8184321" y="5168913"/>
            <a:ext cx="80467" cy="10863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8071667" y="5028095"/>
            <a:ext cx="68397" cy="281635"/>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37" name="Text: Design &amp; code"/>
          <p:cNvSpPr txBox="1"/>
          <p:nvPr/>
        </p:nvSpPr>
        <p:spPr>
          <a:xfrm>
            <a:off x="8369030" y="4912881"/>
            <a:ext cx="1645920" cy="548640"/>
          </a:xfrm>
          <a:prstGeom prst="rect">
            <a:avLst/>
          </a:prstGeom>
          <a:noFill/>
        </p:spPr>
        <p:txBody>
          <a:bodyPr wrap="square" lIns="0" tIns="0" rIns="0" bIns="0" anchor="ctr">
            <a:noAutofit/>
          </a:bodyPr>
          <a:lstStyle/>
          <a:p>
            <a:pPr algn="l">
              <a:lnSpc>
                <a:spcPct val="106000"/>
              </a:lnSpc>
              <a:spcBef>
                <a:spcPts val="0"/>
              </a:spcBef>
              <a:spcAft>
                <a:spcPts val="0"/>
              </a:spcAft>
            </a:pPr>
            <a:r>
              <a:rPr sz="1800" b="1">
                <a:solidFill>
                  <a:srgbClr val="0F2343"/>
                </a:solidFill>
                <a:latin typeface="Aptos"/>
              </a:rPr>
              <a:t>Design &amp; code</a:t>
            </a:r>
          </a:p>
        </p:txBody>
      </p:sp>
      <p:sp>
        <p:nvSpPr>
          <p:cNvPr id="38" name="Lifecycle: Tests"/>
          <p:cNvSpPr/>
          <p:nvPr/>
        </p:nvSpPr>
        <p:spPr>
          <a:xfrm>
            <a:off x="4946904" y="5321808"/>
            <a:ext cx="2286000" cy="694944"/>
          </a:xfrm>
          <a:prstGeom prst="roundRect">
            <a:avLst>
              <a:gd name="adj" fmla="val 12000"/>
            </a:avLst>
          </a:prstGeom>
          <a:solidFill>
            <a:srgbClr val="FFFFFF"/>
          </a:solidFill>
          <a:ln w="1524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5090647" y="5490057"/>
            <a:ext cx="297728" cy="321868"/>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0" name="Connector 39"/>
          <p:cNvCxnSpPr/>
          <p:nvPr/>
        </p:nvCxnSpPr>
        <p:spPr>
          <a:xfrm>
            <a:off x="5150998" y="5646968"/>
            <a:ext cx="64373" cy="64374"/>
          </a:xfrm>
          <a:prstGeom prst="line">
            <a:avLst/>
          </a:prstGeom>
          <a:ln w="3175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5215371" y="5570524"/>
            <a:ext cx="116678" cy="140818"/>
          </a:xfrm>
          <a:prstGeom prst="line">
            <a:avLst/>
          </a:prstGeom>
          <a:ln w="3175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42" name="Text: Tests"/>
          <p:cNvSpPr txBox="1"/>
          <p:nvPr/>
        </p:nvSpPr>
        <p:spPr>
          <a:xfrm>
            <a:off x="5504688" y="5394960"/>
            <a:ext cx="1645920" cy="548640"/>
          </a:xfrm>
          <a:prstGeom prst="rect">
            <a:avLst/>
          </a:prstGeom>
          <a:noFill/>
        </p:spPr>
        <p:txBody>
          <a:bodyPr wrap="square" lIns="0" tIns="0" rIns="0" bIns="0" anchor="ctr">
            <a:noAutofit/>
          </a:bodyPr>
          <a:lstStyle/>
          <a:p>
            <a:pPr algn="l">
              <a:lnSpc>
                <a:spcPct val="106000"/>
              </a:lnSpc>
              <a:spcBef>
                <a:spcPts val="0"/>
              </a:spcBef>
              <a:spcAft>
                <a:spcPts val="0"/>
              </a:spcAft>
            </a:pPr>
            <a:r>
              <a:rPr sz="2000" b="1">
                <a:solidFill>
                  <a:srgbClr val="0F2343"/>
                </a:solidFill>
                <a:latin typeface="Aptos"/>
              </a:rPr>
              <a:t>Tests</a:t>
            </a:r>
          </a:p>
        </p:txBody>
      </p:sp>
      <p:sp>
        <p:nvSpPr>
          <p:cNvPr id="43" name="Lifecycle: Deploy"/>
          <p:cNvSpPr/>
          <p:nvPr/>
        </p:nvSpPr>
        <p:spPr>
          <a:xfrm>
            <a:off x="2082561" y="4839729"/>
            <a:ext cx="2286000" cy="694944"/>
          </a:xfrm>
          <a:prstGeom prst="roundRect">
            <a:avLst>
              <a:gd name="adj" fmla="val 12000"/>
            </a:avLst>
          </a:prstGeom>
          <a:solidFill>
            <a:srgbClr val="FFFFFF"/>
          </a:solidFill>
          <a:ln w="1524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2226305" y="5168913"/>
            <a:ext cx="297728" cy="160934"/>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Connector 44"/>
          <p:cNvCxnSpPr/>
          <p:nvPr/>
        </p:nvCxnSpPr>
        <p:spPr>
          <a:xfrm>
            <a:off x="2375169" y="5007978"/>
            <a:ext cx="0" cy="217262"/>
          </a:xfrm>
          <a:prstGeom prst="line">
            <a:avLst/>
          </a:prstGeom>
          <a:ln w="3175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2286655" y="5007978"/>
            <a:ext cx="88514" cy="88514"/>
          </a:xfrm>
          <a:prstGeom prst="line">
            <a:avLst/>
          </a:prstGeom>
          <a:ln w="3175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375169" y="5007978"/>
            <a:ext cx="88514" cy="88514"/>
          </a:xfrm>
          <a:prstGeom prst="line">
            <a:avLst/>
          </a:prstGeom>
          <a:ln w="3175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48" name="Text: Deploy"/>
          <p:cNvSpPr txBox="1"/>
          <p:nvPr/>
        </p:nvSpPr>
        <p:spPr>
          <a:xfrm>
            <a:off x="2640345" y="4912881"/>
            <a:ext cx="1645920" cy="548640"/>
          </a:xfrm>
          <a:prstGeom prst="rect">
            <a:avLst/>
          </a:prstGeom>
          <a:noFill/>
        </p:spPr>
        <p:txBody>
          <a:bodyPr wrap="square" lIns="0" tIns="0" rIns="0" bIns="0" anchor="ctr">
            <a:noAutofit/>
          </a:bodyPr>
          <a:lstStyle/>
          <a:p>
            <a:pPr algn="l">
              <a:lnSpc>
                <a:spcPct val="106000"/>
              </a:lnSpc>
              <a:spcBef>
                <a:spcPts val="0"/>
              </a:spcBef>
              <a:spcAft>
                <a:spcPts val="0"/>
              </a:spcAft>
            </a:pPr>
            <a:r>
              <a:rPr sz="2000" b="1">
                <a:solidFill>
                  <a:srgbClr val="0F2343"/>
                </a:solidFill>
                <a:latin typeface="Aptos"/>
              </a:rPr>
              <a:t>Deploy</a:t>
            </a:r>
          </a:p>
        </p:txBody>
      </p:sp>
      <p:sp>
        <p:nvSpPr>
          <p:cNvPr id="49" name="Lifecycle: Use"/>
          <p:cNvSpPr/>
          <p:nvPr/>
        </p:nvSpPr>
        <p:spPr>
          <a:xfrm>
            <a:off x="896112" y="3675888"/>
            <a:ext cx="2286000" cy="694944"/>
          </a:xfrm>
          <a:prstGeom prst="roundRect">
            <a:avLst>
              <a:gd name="adj" fmla="val 12000"/>
            </a:avLst>
          </a:prstGeom>
          <a:solidFill>
            <a:srgbClr val="FFFFFF"/>
          </a:solidFill>
          <a:ln w="1524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124346" y="3824020"/>
            <a:ext cx="128747" cy="128747"/>
          </a:xfrm>
          <a:prstGeom prst="ellipse">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1084112" y="3988978"/>
            <a:ext cx="209214" cy="197144"/>
          </a:xfrm>
          <a:prstGeom prst="roundRect">
            <a:avLst>
              <a:gd name="adj" fmla="val 12000"/>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 Use"/>
          <p:cNvSpPr txBox="1"/>
          <p:nvPr/>
        </p:nvSpPr>
        <p:spPr>
          <a:xfrm>
            <a:off x="1453896" y="3749040"/>
            <a:ext cx="1645920" cy="548640"/>
          </a:xfrm>
          <a:prstGeom prst="rect">
            <a:avLst/>
          </a:prstGeom>
          <a:noFill/>
        </p:spPr>
        <p:txBody>
          <a:bodyPr wrap="square" lIns="0" tIns="0" rIns="0" bIns="0" anchor="ctr">
            <a:noAutofit/>
          </a:bodyPr>
          <a:lstStyle/>
          <a:p>
            <a:pPr algn="l">
              <a:lnSpc>
                <a:spcPct val="106000"/>
              </a:lnSpc>
              <a:spcBef>
                <a:spcPts val="0"/>
              </a:spcBef>
              <a:spcAft>
                <a:spcPts val="0"/>
              </a:spcAft>
            </a:pPr>
            <a:r>
              <a:rPr sz="2000" b="1">
                <a:solidFill>
                  <a:srgbClr val="0F2343"/>
                </a:solidFill>
                <a:latin typeface="Aptos"/>
              </a:rPr>
              <a:t>Use</a:t>
            </a:r>
          </a:p>
        </p:txBody>
      </p:sp>
      <p:sp>
        <p:nvSpPr>
          <p:cNvPr id="53" name="Lifecycle: Feedback"/>
          <p:cNvSpPr/>
          <p:nvPr/>
        </p:nvSpPr>
        <p:spPr>
          <a:xfrm>
            <a:off x="2082561" y="2512046"/>
            <a:ext cx="2286000" cy="694944"/>
          </a:xfrm>
          <a:prstGeom prst="roundRect">
            <a:avLst>
              <a:gd name="adj" fmla="val 12000"/>
            </a:avLst>
          </a:prstGeom>
          <a:solidFill>
            <a:srgbClr val="FFFFFF"/>
          </a:solidFill>
          <a:ln w="1524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2202165" y="2688343"/>
            <a:ext cx="346008" cy="241401"/>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5" name="Connector 54"/>
          <p:cNvCxnSpPr/>
          <p:nvPr/>
        </p:nvCxnSpPr>
        <p:spPr>
          <a:xfrm>
            <a:off x="2270562" y="2929744"/>
            <a:ext cx="0" cy="7242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2270562" y="2929744"/>
            <a:ext cx="84490" cy="7242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2272573" y="2798985"/>
            <a:ext cx="28163" cy="28163"/>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2361087" y="2798985"/>
            <a:ext cx="28163" cy="28163"/>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2449601" y="2798985"/>
            <a:ext cx="28163" cy="28163"/>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 Feedback"/>
          <p:cNvSpPr txBox="1"/>
          <p:nvPr/>
        </p:nvSpPr>
        <p:spPr>
          <a:xfrm>
            <a:off x="2640345" y="2585198"/>
            <a:ext cx="1645920" cy="548640"/>
          </a:xfrm>
          <a:prstGeom prst="rect">
            <a:avLst/>
          </a:prstGeom>
          <a:noFill/>
        </p:spPr>
        <p:txBody>
          <a:bodyPr wrap="square" lIns="0" tIns="0" rIns="0" bIns="0" anchor="ctr">
            <a:noAutofit/>
          </a:bodyPr>
          <a:lstStyle/>
          <a:p>
            <a:pPr algn="l">
              <a:lnSpc>
                <a:spcPct val="106000"/>
              </a:lnSpc>
              <a:spcBef>
                <a:spcPts val="0"/>
              </a:spcBef>
              <a:spcAft>
                <a:spcPts val="0"/>
              </a:spcAft>
            </a:pPr>
            <a:r>
              <a:rPr sz="2000" b="1">
                <a:solidFill>
                  <a:srgbClr val="0F2343"/>
                </a:solidFill>
                <a:latin typeface="Aptos"/>
              </a:rPr>
              <a:t>Feedback</a:t>
            </a:r>
          </a:p>
        </p:txBody>
      </p:sp>
      <p:sp>
        <p:nvSpPr>
          <p:cNvPr id="61" name="Text: Validation"/>
          <p:cNvSpPr txBox="1"/>
          <p:nvPr/>
        </p:nvSpPr>
        <p:spPr>
          <a:xfrm>
            <a:off x="7955279" y="1901952"/>
            <a:ext cx="2011680" cy="320040"/>
          </a:xfrm>
          <a:prstGeom prst="rect">
            <a:avLst/>
          </a:prstGeom>
          <a:noFill/>
        </p:spPr>
        <p:txBody>
          <a:bodyPr wrap="square" lIns="0" tIns="0" rIns="0" bIns="0" anchor="ctr">
            <a:noAutofit/>
          </a:bodyPr>
          <a:lstStyle/>
          <a:p>
            <a:pPr algn="ctr">
              <a:lnSpc>
                <a:spcPct val="106000"/>
              </a:lnSpc>
              <a:spcBef>
                <a:spcPts val="0"/>
              </a:spcBef>
              <a:spcAft>
                <a:spcPts val="0"/>
              </a:spcAft>
            </a:pPr>
            <a:r>
              <a:rPr sz="1900" b="1">
                <a:solidFill>
                  <a:srgbClr val="0F2343"/>
                </a:solidFill>
                <a:latin typeface="Aptos"/>
              </a:rPr>
              <a:t>Validation</a:t>
            </a:r>
          </a:p>
        </p:txBody>
      </p:sp>
      <p:sp>
        <p:nvSpPr>
          <p:cNvPr id="62" name="Text: Verification"/>
          <p:cNvSpPr txBox="1"/>
          <p:nvPr/>
        </p:nvSpPr>
        <p:spPr>
          <a:xfrm>
            <a:off x="7955279" y="5806440"/>
            <a:ext cx="2011680" cy="320040"/>
          </a:xfrm>
          <a:prstGeom prst="rect">
            <a:avLst/>
          </a:prstGeom>
          <a:noFill/>
        </p:spPr>
        <p:txBody>
          <a:bodyPr wrap="square" lIns="0" tIns="0" rIns="0" bIns="0" anchor="ctr">
            <a:noAutofit/>
          </a:bodyPr>
          <a:lstStyle/>
          <a:p>
            <a:pPr algn="ctr">
              <a:lnSpc>
                <a:spcPct val="106000"/>
              </a:lnSpc>
              <a:spcBef>
                <a:spcPts val="0"/>
              </a:spcBef>
              <a:spcAft>
                <a:spcPts val="0"/>
              </a:spcAft>
            </a:pPr>
            <a:r>
              <a:rPr sz="1900" b="1">
                <a:solidFill>
                  <a:srgbClr val="0F2343"/>
                </a:solidFill>
                <a:latin typeface="Aptos"/>
              </a:rPr>
              <a:t>Verification</a:t>
            </a:r>
          </a:p>
        </p:txBody>
      </p:sp>
      <p:cxnSp>
        <p:nvCxnSpPr>
          <p:cNvPr id="63" name="Connector 62"/>
          <p:cNvCxnSpPr/>
          <p:nvPr/>
        </p:nvCxnSpPr>
        <p:spPr>
          <a:xfrm>
            <a:off x="7772400" y="2295144"/>
            <a:ext cx="1490472" cy="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772400" y="2295144"/>
            <a:ext cx="0" cy="13716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262872" y="2295144"/>
            <a:ext cx="0" cy="13716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772400" y="5669280"/>
            <a:ext cx="1490472" cy="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772400" y="5550408"/>
            <a:ext cx="0" cy="118872"/>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262872" y="5550408"/>
            <a:ext cx="0" cy="118872"/>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lide title"/>
          <p:cNvSpPr txBox="1"/>
          <p:nvPr/>
        </p:nvSpPr>
        <p:spPr>
          <a:xfrm>
            <a:off x="502920" y="292608"/>
            <a:ext cx="11183112" cy="1051560"/>
          </a:xfrm>
          <a:prstGeom prst="rect">
            <a:avLst/>
          </a:prstGeom>
          <a:noFill/>
        </p:spPr>
        <p:txBody>
          <a:bodyPr wrap="square" lIns="0" tIns="0" rIns="0" bIns="0" anchor="t">
            <a:noAutofit/>
          </a:bodyPr>
          <a:lstStyle/>
          <a:p>
            <a:pPr algn="l">
              <a:lnSpc>
                <a:spcPct val="106000"/>
              </a:lnSpc>
              <a:spcBef>
                <a:spcPts val="0"/>
              </a:spcBef>
              <a:spcAft>
                <a:spcPts val="0"/>
              </a:spcAft>
            </a:pPr>
            <a:r>
              <a:rPr sz="4000" b="1" dirty="0">
                <a:solidFill>
                  <a:srgbClr val="0F2343"/>
                </a:solidFill>
                <a:latin typeface="Aptos Display"/>
              </a:rPr>
              <a:t>Choosing the cargo for each flight</a:t>
            </a:r>
          </a:p>
        </p:txBody>
      </p:sp>
      <p:sp>
        <p:nvSpPr>
          <p:cNvPr id="3" name="Rectangle 2"/>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6"/>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6</a:t>
            </a:r>
          </a:p>
        </p:txBody>
      </p:sp>
      <p:pic>
        <p:nvPicPr>
          <p:cNvPr id="6" name="cargo-planner" descr="cargo planner"/>
          <p:cNvPicPr>
            <a:picLocks noChangeAspect="1"/>
          </p:cNvPicPr>
          <p:nvPr/>
        </p:nvPicPr>
        <p:blipFill>
          <a:blip r:embed="rId3"/>
          <a:srcRect t="14207" b="14207"/>
          <a:stretch>
            <a:fillRect/>
          </a:stretch>
        </p:blipFill>
        <p:spPr>
          <a:xfrm>
            <a:off x="521207" y="1746504"/>
            <a:ext cx="11155680" cy="448970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7DAD4-3697-20B9-EA62-E6E55DED5BB2}"/>
            </a:ext>
          </a:extLst>
        </p:cNvPr>
        <p:cNvGrpSpPr/>
        <p:nvPr/>
      </p:nvGrpSpPr>
      <p:grpSpPr>
        <a:xfrm>
          <a:off x="0" y="0"/>
          <a:ext cx="0" cy="0"/>
          <a:chOff x="0" y="0"/>
          <a:chExt cx="0" cy="0"/>
        </a:xfrm>
      </p:grpSpPr>
      <p:sp>
        <p:nvSpPr>
          <p:cNvPr id="2" name="Slide title">
            <a:extLst>
              <a:ext uri="{FF2B5EF4-FFF2-40B4-BE49-F238E27FC236}">
                <a16:creationId xmlns:a16="http://schemas.microsoft.com/office/drawing/2014/main" id="{02F7972D-CE3B-EC1B-3C8E-04D4F2813CBC}"/>
              </a:ext>
            </a:extLst>
          </p:cNvPr>
          <p:cNvSpPr txBox="1"/>
          <p:nvPr/>
        </p:nvSpPr>
        <p:spPr>
          <a:xfrm>
            <a:off x="502920" y="246888"/>
            <a:ext cx="11544300" cy="1188720"/>
          </a:xfrm>
          <a:prstGeom prst="rect">
            <a:avLst/>
          </a:prstGeom>
          <a:noFill/>
        </p:spPr>
        <p:txBody>
          <a:bodyPr wrap="square" lIns="0" tIns="0" rIns="0" bIns="0" anchor="t">
            <a:noAutofit/>
          </a:bodyPr>
          <a:lstStyle/>
          <a:p>
            <a:pPr algn="l">
              <a:lnSpc>
                <a:spcPct val="106000"/>
              </a:lnSpc>
              <a:spcBef>
                <a:spcPts val="0"/>
              </a:spcBef>
              <a:spcAft>
                <a:spcPts val="0"/>
              </a:spcAft>
            </a:pPr>
            <a:r>
              <a:rPr lang="en-US" sz="4000" b="1" dirty="0">
                <a:solidFill>
                  <a:srgbClr val="0F2343"/>
                </a:solidFill>
                <a:latin typeface="Aptos Display"/>
              </a:rPr>
              <a:t>Agenda for today</a:t>
            </a:r>
            <a:endParaRPr sz="4000" b="1" dirty="0">
              <a:solidFill>
                <a:srgbClr val="0F2343"/>
              </a:solidFill>
              <a:latin typeface="Aptos Display"/>
            </a:endParaRPr>
          </a:p>
        </p:txBody>
      </p:sp>
      <p:sp>
        <p:nvSpPr>
          <p:cNvPr id="3" name="Rectangle 2">
            <a:extLst>
              <a:ext uri="{FF2B5EF4-FFF2-40B4-BE49-F238E27FC236}">
                <a16:creationId xmlns:a16="http://schemas.microsoft.com/office/drawing/2014/main" id="{BE0FD848-6CC1-36A1-4436-4DEBC44785B0}"/>
              </a:ext>
            </a:extLst>
          </p:cNvPr>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1">
            <a:extLst>
              <a:ext uri="{FF2B5EF4-FFF2-40B4-BE49-F238E27FC236}">
                <a16:creationId xmlns:a16="http://schemas.microsoft.com/office/drawing/2014/main" id="{B59A7C76-5BD1-E8AF-52CA-099FA7062CFE}"/>
              </a:ext>
            </a:extLst>
          </p:cNvPr>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1</a:t>
            </a:r>
          </a:p>
        </p:txBody>
      </p:sp>
      <p:sp>
        <p:nvSpPr>
          <p:cNvPr id="6" name="TextBox 5">
            <a:extLst>
              <a:ext uri="{FF2B5EF4-FFF2-40B4-BE49-F238E27FC236}">
                <a16:creationId xmlns:a16="http://schemas.microsoft.com/office/drawing/2014/main" id="{67615CE9-B78F-FE76-AB13-FCE941B0C439}"/>
              </a:ext>
            </a:extLst>
          </p:cNvPr>
          <p:cNvSpPr txBox="1"/>
          <p:nvPr/>
        </p:nvSpPr>
        <p:spPr>
          <a:xfrm>
            <a:off x="458724" y="1749871"/>
            <a:ext cx="11274552" cy="3807004"/>
          </a:xfrm>
          <a:prstGeom prst="rect">
            <a:avLst/>
          </a:prstGeom>
          <a:noFill/>
        </p:spPr>
        <p:txBody>
          <a:bodyPr wrap="square" tIns="0" rIns="45720" bIns="0">
            <a:spAutoFit/>
          </a:bodyPr>
          <a:lstStyle/>
          <a:p>
            <a:pPr marL="285750" indent="-285750" algn="l">
              <a:lnSpc>
                <a:spcPct val="200000"/>
              </a:lnSpc>
              <a:buFont typeface="Arial" panose="020B0604020202020204" pitchFamily="34" charset="0"/>
              <a:buChar char="•"/>
            </a:pPr>
            <a:r>
              <a:rPr lang="en-US" sz="3200" dirty="0">
                <a:solidFill>
                  <a:srgbClr val="0F2343"/>
                </a:solidFill>
                <a:latin typeface="Aptos"/>
              </a:rPr>
              <a:t>Part I – What is a decision-support system?</a:t>
            </a:r>
          </a:p>
          <a:p>
            <a:pPr marL="285750" indent="-285750" algn="l">
              <a:lnSpc>
                <a:spcPct val="200000"/>
              </a:lnSpc>
              <a:buFont typeface="Arial" panose="020B0604020202020204" pitchFamily="34" charset="0"/>
              <a:buChar char="•"/>
            </a:pPr>
            <a:r>
              <a:rPr lang="en-US" sz="3200" b="1" dirty="0">
                <a:solidFill>
                  <a:srgbClr val="0F2343"/>
                </a:solidFill>
                <a:latin typeface="Aptos"/>
              </a:rPr>
              <a:t>Part II – Are we solving the right problem?</a:t>
            </a:r>
          </a:p>
          <a:p>
            <a:pPr marL="285750" indent="-285750" algn="l">
              <a:lnSpc>
                <a:spcPct val="200000"/>
              </a:lnSpc>
              <a:buFont typeface="Arial" panose="020B0604020202020204" pitchFamily="34" charset="0"/>
              <a:buChar char="•"/>
            </a:pPr>
            <a:r>
              <a:rPr lang="en-US" sz="3200" dirty="0">
                <a:solidFill>
                  <a:srgbClr val="0F2343"/>
                </a:solidFill>
                <a:latin typeface="Aptos"/>
              </a:rPr>
              <a:t>Part III – Are we solving the problem right?</a:t>
            </a:r>
          </a:p>
          <a:p>
            <a:pPr marL="285750" indent="-285750">
              <a:lnSpc>
                <a:spcPct val="200000"/>
              </a:lnSpc>
              <a:buFont typeface="Arial" panose="020B0604020202020204" pitchFamily="34" charset="0"/>
              <a:buChar char="•"/>
            </a:pPr>
            <a:r>
              <a:rPr lang="en-US" sz="3200" dirty="0">
                <a:solidFill>
                  <a:srgbClr val="0F2343"/>
                </a:solidFill>
                <a:latin typeface="Aptos"/>
              </a:rPr>
              <a:t>Part IV – Closing &amp; conclusions</a:t>
            </a:r>
            <a:endParaRPr lang="en-US" sz="2800" dirty="0">
              <a:solidFill>
                <a:srgbClr val="0F2343"/>
              </a:solidFill>
              <a:latin typeface="Aptos"/>
            </a:endParaRPr>
          </a:p>
        </p:txBody>
      </p:sp>
    </p:spTree>
    <p:extLst>
      <p:ext uri="{BB962C8B-B14F-4D97-AF65-F5344CB8AC3E}">
        <p14:creationId xmlns:p14="http://schemas.microsoft.com/office/powerpoint/2010/main" val="1004084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lide title"/>
          <p:cNvSpPr txBox="1"/>
          <p:nvPr/>
        </p:nvSpPr>
        <p:spPr>
          <a:xfrm>
            <a:off x="502920" y="246888"/>
            <a:ext cx="11183112" cy="1188720"/>
          </a:xfrm>
          <a:prstGeom prst="rect">
            <a:avLst/>
          </a:prstGeom>
          <a:noFill/>
        </p:spPr>
        <p:txBody>
          <a:bodyPr wrap="square" lIns="0" tIns="0" rIns="0" bIns="0" anchor="t">
            <a:noAutofit/>
          </a:bodyPr>
          <a:lstStyle/>
          <a:p>
            <a:pPr algn="l">
              <a:lnSpc>
                <a:spcPct val="106000"/>
              </a:lnSpc>
              <a:spcBef>
                <a:spcPts val="0"/>
              </a:spcBef>
              <a:spcAft>
                <a:spcPts val="0"/>
              </a:spcAft>
            </a:pPr>
            <a:r>
              <a:rPr sz="4000" b="1" dirty="0">
                <a:solidFill>
                  <a:srgbClr val="0F2343"/>
                </a:solidFill>
                <a:latin typeface="Aptos Display"/>
              </a:rPr>
              <a:t>A decision-support system is software,</a:t>
            </a:r>
          </a:p>
          <a:p>
            <a:pPr algn="l">
              <a:lnSpc>
                <a:spcPct val="106000"/>
              </a:lnSpc>
              <a:spcBef>
                <a:spcPts val="0"/>
              </a:spcBef>
              <a:spcAft>
                <a:spcPts val="0"/>
              </a:spcAft>
            </a:pPr>
            <a:r>
              <a:rPr sz="4000" b="1" dirty="0">
                <a:solidFill>
                  <a:srgbClr val="0F2343"/>
                </a:solidFill>
                <a:latin typeface="Aptos Display"/>
              </a:rPr>
              <a:t>so the rules of software apply</a:t>
            </a:r>
          </a:p>
        </p:txBody>
      </p:sp>
      <p:sp>
        <p:nvSpPr>
          <p:cNvPr id="3" name="Rectangle 2"/>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4"/>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4</a:t>
            </a:r>
          </a:p>
        </p:txBody>
      </p:sp>
      <p:sp>
        <p:nvSpPr>
          <p:cNvPr id="6" name="Text: Research"/>
          <p:cNvSpPr txBox="1"/>
          <p:nvPr/>
        </p:nvSpPr>
        <p:spPr>
          <a:xfrm>
            <a:off x="713232" y="1783080"/>
            <a:ext cx="5120640" cy="411480"/>
          </a:xfrm>
          <a:prstGeom prst="rect">
            <a:avLst/>
          </a:prstGeom>
          <a:noFill/>
        </p:spPr>
        <p:txBody>
          <a:bodyPr wrap="square" lIns="0" tIns="0" rIns="0" bIns="0" anchor="ctr">
            <a:noAutofit/>
          </a:bodyPr>
          <a:lstStyle/>
          <a:p>
            <a:pPr algn="ctr">
              <a:lnSpc>
                <a:spcPct val="106000"/>
              </a:lnSpc>
              <a:spcBef>
                <a:spcPts val="0"/>
              </a:spcBef>
              <a:spcAft>
                <a:spcPts val="0"/>
              </a:spcAft>
            </a:pPr>
            <a:r>
              <a:rPr sz="2700" b="1">
                <a:solidFill>
                  <a:srgbClr val="0F2343"/>
                </a:solidFill>
                <a:latin typeface="Aptos"/>
              </a:rPr>
              <a:t>Research</a:t>
            </a:r>
          </a:p>
        </p:txBody>
      </p:sp>
      <p:sp>
        <p:nvSpPr>
          <p:cNvPr id="7" name="Text: Industry"/>
          <p:cNvSpPr txBox="1"/>
          <p:nvPr/>
        </p:nvSpPr>
        <p:spPr>
          <a:xfrm>
            <a:off x="6364224" y="1783080"/>
            <a:ext cx="5120640" cy="411480"/>
          </a:xfrm>
          <a:prstGeom prst="rect">
            <a:avLst/>
          </a:prstGeom>
          <a:noFill/>
        </p:spPr>
        <p:txBody>
          <a:bodyPr wrap="square" lIns="0" tIns="0" rIns="0" bIns="0" anchor="ctr">
            <a:noAutofit/>
          </a:bodyPr>
          <a:lstStyle/>
          <a:p>
            <a:pPr algn="ctr">
              <a:lnSpc>
                <a:spcPct val="106000"/>
              </a:lnSpc>
              <a:spcBef>
                <a:spcPts val="0"/>
              </a:spcBef>
              <a:spcAft>
                <a:spcPts val="0"/>
              </a:spcAft>
            </a:pPr>
            <a:r>
              <a:rPr sz="2700" b="1">
                <a:solidFill>
                  <a:srgbClr val="0F2343"/>
                </a:solidFill>
                <a:latin typeface="Aptos"/>
              </a:rPr>
              <a:t>Industry</a:t>
            </a:r>
          </a:p>
        </p:txBody>
      </p:sp>
      <p:sp>
        <p:nvSpPr>
          <p:cNvPr id="8" name="Rounded Rectangle 7"/>
          <p:cNvSpPr/>
          <p:nvPr/>
        </p:nvSpPr>
        <p:spPr>
          <a:xfrm>
            <a:off x="1024128" y="2560320"/>
            <a:ext cx="1252728" cy="1417320"/>
          </a:xfrm>
          <a:prstGeom prst="roundRect">
            <a:avLst>
              <a:gd name="adj" fmla="val 12000"/>
            </a:avLst>
          </a:prstGeom>
          <a:solidFill>
            <a:srgbClr val="FFFFFF"/>
          </a:solidFill>
          <a:ln w="1905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1179576" y="2816352"/>
            <a:ext cx="758952" cy="0"/>
          </a:xfrm>
          <a:prstGeom prst="line">
            <a:avLst/>
          </a:prstGeom>
          <a:ln w="2286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79576" y="2990087"/>
            <a:ext cx="859536" cy="0"/>
          </a:xfrm>
          <a:prstGeom prst="line">
            <a:avLst/>
          </a:prstGeom>
          <a:ln w="2286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79576" y="3163824"/>
            <a:ext cx="612648" cy="0"/>
          </a:xfrm>
          <a:prstGeom prst="line">
            <a:avLst/>
          </a:prstGeom>
          <a:ln w="22860">
            <a:solidFill>
              <a:srgbClr val="DDE4ED"/>
            </a:solidFill>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987552" y="3374136"/>
            <a:ext cx="1325880" cy="320040"/>
          </a:xfrm>
          <a:prstGeom prst="rect">
            <a:avLst/>
          </a:prstGeom>
          <a:noFill/>
          <a:ln w="1524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 RETRACTED"/>
          <p:cNvSpPr txBox="1"/>
          <p:nvPr/>
        </p:nvSpPr>
        <p:spPr>
          <a:xfrm>
            <a:off x="996696" y="3383279"/>
            <a:ext cx="1307592" cy="265176"/>
          </a:xfrm>
          <a:prstGeom prst="rect">
            <a:avLst/>
          </a:prstGeom>
          <a:noFill/>
        </p:spPr>
        <p:txBody>
          <a:bodyPr wrap="square" lIns="0" tIns="0" rIns="0" bIns="0" anchor="ctr">
            <a:noAutofit/>
          </a:bodyPr>
          <a:lstStyle/>
          <a:p>
            <a:pPr algn="ctr">
              <a:lnSpc>
                <a:spcPct val="106000"/>
              </a:lnSpc>
              <a:spcBef>
                <a:spcPts val="0"/>
              </a:spcBef>
              <a:spcAft>
                <a:spcPts val="0"/>
              </a:spcAft>
            </a:pPr>
            <a:r>
              <a:rPr sz="1200" b="1">
                <a:solidFill>
                  <a:srgbClr val="F97316"/>
                </a:solidFill>
                <a:latin typeface="Aptos"/>
              </a:rPr>
              <a:t>RETRACTED</a:t>
            </a:r>
          </a:p>
        </p:txBody>
      </p:sp>
      <p:sp>
        <p:nvSpPr>
          <p:cNvPr id="14" name="Rounded Rectangle 13"/>
          <p:cNvSpPr/>
          <p:nvPr/>
        </p:nvSpPr>
        <p:spPr>
          <a:xfrm>
            <a:off x="2542032" y="2560320"/>
            <a:ext cx="1252728" cy="1417320"/>
          </a:xfrm>
          <a:prstGeom prst="roundRect">
            <a:avLst>
              <a:gd name="adj" fmla="val 12000"/>
            </a:avLst>
          </a:prstGeom>
          <a:solidFill>
            <a:srgbClr val="FFFFFF"/>
          </a:solidFill>
          <a:ln w="1905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2697479" y="2816352"/>
            <a:ext cx="758953" cy="0"/>
          </a:xfrm>
          <a:prstGeom prst="line">
            <a:avLst/>
          </a:prstGeom>
          <a:ln w="2286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697479" y="2990087"/>
            <a:ext cx="859536" cy="0"/>
          </a:xfrm>
          <a:prstGeom prst="line">
            <a:avLst/>
          </a:prstGeom>
          <a:ln w="2286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697479" y="3163824"/>
            <a:ext cx="612648" cy="0"/>
          </a:xfrm>
          <a:prstGeom prst="line">
            <a:avLst/>
          </a:prstGeom>
          <a:ln w="22860">
            <a:solidFill>
              <a:srgbClr val="DDE4ED"/>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2505456" y="3374136"/>
            <a:ext cx="1325880" cy="320040"/>
          </a:xfrm>
          <a:prstGeom prst="rect">
            <a:avLst/>
          </a:prstGeom>
          <a:noFill/>
          <a:ln w="1524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 RETRACTED"/>
          <p:cNvSpPr txBox="1"/>
          <p:nvPr/>
        </p:nvSpPr>
        <p:spPr>
          <a:xfrm>
            <a:off x="2514600" y="3383279"/>
            <a:ext cx="1307592" cy="265176"/>
          </a:xfrm>
          <a:prstGeom prst="rect">
            <a:avLst/>
          </a:prstGeom>
          <a:noFill/>
        </p:spPr>
        <p:txBody>
          <a:bodyPr wrap="square" lIns="0" tIns="0" rIns="0" bIns="0" anchor="ctr">
            <a:noAutofit/>
          </a:bodyPr>
          <a:lstStyle/>
          <a:p>
            <a:pPr algn="ctr">
              <a:lnSpc>
                <a:spcPct val="106000"/>
              </a:lnSpc>
              <a:spcBef>
                <a:spcPts val="0"/>
              </a:spcBef>
              <a:spcAft>
                <a:spcPts val="0"/>
              </a:spcAft>
            </a:pPr>
            <a:r>
              <a:rPr sz="1200" b="1">
                <a:solidFill>
                  <a:srgbClr val="F97316"/>
                </a:solidFill>
                <a:latin typeface="Aptos"/>
              </a:rPr>
              <a:t>RETRACTED</a:t>
            </a:r>
          </a:p>
        </p:txBody>
      </p:sp>
      <p:sp>
        <p:nvSpPr>
          <p:cNvPr id="20" name="Rounded Rectangle 19"/>
          <p:cNvSpPr/>
          <p:nvPr/>
        </p:nvSpPr>
        <p:spPr>
          <a:xfrm>
            <a:off x="4059936" y="2560320"/>
            <a:ext cx="1252728" cy="1417320"/>
          </a:xfrm>
          <a:prstGeom prst="roundRect">
            <a:avLst>
              <a:gd name="adj" fmla="val 12000"/>
            </a:avLst>
          </a:prstGeom>
          <a:solidFill>
            <a:srgbClr val="FFFFFF"/>
          </a:solidFill>
          <a:ln w="1905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4215384" y="2816352"/>
            <a:ext cx="758952" cy="0"/>
          </a:xfrm>
          <a:prstGeom prst="line">
            <a:avLst/>
          </a:prstGeom>
          <a:ln w="2286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215384" y="2990087"/>
            <a:ext cx="859536" cy="0"/>
          </a:xfrm>
          <a:prstGeom prst="line">
            <a:avLst/>
          </a:prstGeom>
          <a:ln w="2286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215384" y="3163824"/>
            <a:ext cx="612648" cy="0"/>
          </a:xfrm>
          <a:prstGeom prst="line">
            <a:avLst/>
          </a:prstGeom>
          <a:ln w="22860">
            <a:solidFill>
              <a:srgbClr val="DDE4ED"/>
            </a:solidFill>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023360" y="3374136"/>
            <a:ext cx="1325880" cy="320040"/>
          </a:xfrm>
          <a:prstGeom prst="rect">
            <a:avLst/>
          </a:prstGeom>
          <a:noFill/>
          <a:ln w="1524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 RETRACTED"/>
          <p:cNvSpPr txBox="1"/>
          <p:nvPr/>
        </p:nvSpPr>
        <p:spPr>
          <a:xfrm>
            <a:off x="4032504" y="3383279"/>
            <a:ext cx="1307592" cy="265176"/>
          </a:xfrm>
          <a:prstGeom prst="rect">
            <a:avLst/>
          </a:prstGeom>
          <a:noFill/>
        </p:spPr>
        <p:txBody>
          <a:bodyPr wrap="square" lIns="0" tIns="0" rIns="0" bIns="0" anchor="ctr">
            <a:noAutofit/>
          </a:bodyPr>
          <a:lstStyle/>
          <a:p>
            <a:pPr algn="ctr">
              <a:lnSpc>
                <a:spcPct val="106000"/>
              </a:lnSpc>
              <a:spcBef>
                <a:spcPts val="0"/>
              </a:spcBef>
              <a:spcAft>
                <a:spcPts val="0"/>
              </a:spcAft>
            </a:pPr>
            <a:r>
              <a:rPr sz="1200" b="1">
                <a:solidFill>
                  <a:srgbClr val="F97316"/>
                </a:solidFill>
                <a:latin typeface="Aptos"/>
              </a:rPr>
              <a:t>RETRACTED</a:t>
            </a:r>
          </a:p>
        </p:txBody>
      </p:sp>
      <p:sp>
        <p:nvSpPr>
          <p:cNvPr id="26" name="Rounded Rectangle 25"/>
          <p:cNvSpPr/>
          <p:nvPr/>
        </p:nvSpPr>
        <p:spPr>
          <a:xfrm>
            <a:off x="1783080" y="3767328"/>
            <a:ext cx="1252728" cy="1417320"/>
          </a:xfrm>
          <a:prstGeom prst="roundRect">
            <a:avLst>
              <a:gd name="adj" fmla="val 12000"/>
            </a:avLst>
          </a:prstGeom>
          <a:solidFill>
            <a:srgbClr val="FFFFFF"/>
          </a:solidFill>
          <a:ln w="1905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7" name="Connector 26"/>
          <p:cNvCxnSpPr/>
          <p:nvPr/>
        </p:nvCxnSpPr>
        <p:spPr>
          <a:xfrm>
            <a:off x="1938528" y="4023360"/>
            <a:ext cx="758952" cy="0"/>
          </a:xfrm>
          <a:prstGeom prst="line">
            <a:avLst/>
          </a:prstGeom>
          <a:ln w="2286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938528" y="4197096"/>
            <a:ext cx="859536" cy="0"/>
          </a:xfrm>
          <a:prstGeom prst="line">
            <a:avLst/>
          </a:prstGeom>
          <a:ln w="2286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938528" y="4370832"/>
            <a:ext cx="612648" cy="0"/>
          </a:xfrm>
          <a:prstGeom prst="line">
            <a:avLst/>
          </a:prstGeom>
          <a:ln w="22860">
            <a:solidFill>
              <a:srgbClr val="DDE4ED"/>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746504" y="4581144"/>
            <a:ext cx="1325880" cy="320040"/>
          </a:xfrm>
          <a:prstGeom prst="rect">
            <a:avLst/>
          </a:prstGeom>
          <a:noFill/>
          <a:ln w="1524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 RETRACTED"/>
          <p:cNvSpPr txBox="1"/>
          <p:nvPr/>
        </p:nvSpPr>
        <p:spPr>
          <a:xfrm>
            <a:off x="1755648" y="4590288"/>
            <a:ext cx="1307592" cy="265176"/>
          </a:xfrm>
          <a:prstGeom prst="rect">
            <a:avLst/>
          </a:prstGeom>
          <a:noFill/>
        </p:spPr>
        <p:txBody>
          <a:bodyPr wrap="square" lIns="0" tIns="0" rIns="0" bIns="0" anchor="ctr">
            <a:noAutofit/>
          </a:bodyPr>
          <a:lstStyle/>
          <a:p>
            <a:pPr algn="ctr">
              <a:lnSpc>
                <a:spcPct val="106000"/>
              </a:lnSpc>
              <a:spcBef>
                <a:spcPts val="0"/>
              </a:spcBef>
              <a:spcAft>
                <a:spcPts val="0"/>
              </a:spcAft>
            </a:pPr>
            <a:r>
              <a:rPr sz="1200" b="1">
                <a:solidFill>
                  <a:srgbClr val="F97316"/>
                </a:solidFill>
                <a:latin typeface="Aptos"/>
              </a:rPr>
              <a:t>RETRACTED</a:t>
            </a:r>
          </a:p>
        </p:txBody>
      </p:sp>
      <p:sp>
        <p:nvSpPr>
          <p:cNvPr id="32" name="Rounded Rectangle 31"/>
          <p:cNvSpPr/>
          <p:nvPr/>
        </p:nvSpPr>
        <p:spPr>
          <a:xfrm>
            <a:off x="3300984" y="3767328"/>
            <a:ext cx="1252728" cy="1417320"/>
          </a:xfrm>
          <a:prstGeom prst="roundRect">
            <a:avLst>
              <a:gd name="adj" fmla="val 12000"/>
            </a:avLst>
          </a:prstGeom>
          <a:solidFill>
            <a:srgbClr val="FFFFFF"/>
          </a:solidFill>
          <a:ln w="1905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3456432" y="4023360"/>
            <a:ext cx="758951" cy="0"/>
          </a:xfrm>
          <a:prstGeom prst="line">
            <a:avLst/>
          </a:prstGeom>
          <a:ln w="2286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456432" y="4197096"/>
            <a:ext cx="859536" cy="0"/>
          </a:xfrm>
          <a:prstGeom prst="line">
            <a:avLst/>
          </a:prstGeom>
          <a:ln w="2286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456432" y="4370832"/>
            <a:ext cx="612648" cy="0"/>
          </a:xfrm>
          <a:prstGeom prst="line">
            <a:avLst/>
          </a:prstGeom>
          <a:ln w="22860">
            <a:solidFill>
              <a:srgbClr val="DDE4ED"/>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3264408" y="4581144"/>
            <a:ext cx="1325880" cy="320040"/>
          </a:xfrm>
          <a:prstGeom prst="rect">
            <a:avLst/>
          </a:prstGeom>
          <a:noFill/>
          <a:ln w="1524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 RETRACTED"/>
          <p:cNvSpPr txBox="1"/>
          <p:nvPr/>
        </p:nvSpPr>
        <p:spPr>
          <a:xfrm>
            <a:off x="3273552" y="4590288"/>
            <a:ext cx="1307592" cy="265176"/>
          </a:xfrm>
          <a:prstGeom prst="rect">
            <a:avLst/>
          </a:prstGeom>
          <a:noFill/>
        </p:spPr>
        <p:txBody>
          <a:bodyPr wrap="square" lIns="0" tIns="0" rIns="0" bIns="0" anchor="ctr">
            <a:noAutofit/>
          </a:bodyPr>
          <a:lstStyle/>
          <a:p>
            <a:pPr algn="ctr">
              <a:lnSpc>
                <a:spcPct val="106000"/>
              </a:lnSpc>
              <a:spcBef>
                <a:spcPts val="0"/>
              </a:spcBef>
              <a:spcAft>
                <a:spcPts val="0"/>
              </a:spcAft>
            </a:pPr>
            <a:r>
              <a:rPr sz="1200" b="1">
                <a:solidFill>
                  <a:srgbClr val="F97316"/>
                </a:solidFill>
                <a:latin typeface="Aptos"/>
              </a:rPr>
              <a:t>RETRACTED</a:t>
            </a:r>
          </a:p>
        </p:txBody>
      </p:sp>
      <p:pic>
        <p:nvPicPr>
          <p:cNvPr id="38" name="ariane5" descr="ariane5"/>
          <p:cNvPicPr>
            <a:picLocks noChangeAspect="1"/>
          </p:cNvPicPr>
          <p:nvPr/>
        </p:nvPicPr>
        <p:blipFill>
          <a:blip r:embed="rId3"/>
          <a:srcRect t="1855" b="1855"/>
          <a:stretch>
            <a:fillRect/>
          </a:stretch>
        </p:blipFill>
        <p:spPr>
          <a:xfrm>
            <a:off x="6400800" y="2459736"/>
            <a:ext cx="5029200" cy="3026664"/>
          </a:xfrm>
          <a:prstGeom prst="rect">
            <a:avLst/>
          </a:prstGeom>
        </p:spPr>
      </p:pic>
      <p:sp>
        <p:nvSpPr>
          <p:cNvPr id="39" name="Text: A data-processing error"/>
          <p:cNvSpPr txBox="1"/>
          <p:nvPr/>
        </p:nvSpPr>
        <p:spPr>
          <a:xfrm>
            <a:off x="713232" y="5641848"/>
            <a:ext cx="5120640" cy="411480"/>
          </a:xfrm>
          <a:prstGeom prst="rect">
            <a:avLst/>
          </a:prstGeom>
          <a:noFill/>
        </p:spPr>
        <p:txBody>
          <a:bodyPr wrap="square" lIns="0" tIns="0" rIns="0" bIns="0" anchor="ctr">
            <a:noAutofit/>
          </a:bodyPr>
          <a:lstStyle/>
          <a:p>
            <a:pPr algn="ctr">
              <a:lnSpc>
                <a:spcPct val="106000"/>
              </a:lnSpc>
              <a:spcBef>
                <a:spcPts val="0"/>
              </a:spcBef>
              <a:spcAft>
                <a:spcPts val="0"/>
              </a:spcAft>
            </a:pPr>
            <a:r>
              <a:rPr sz="2500" b="1">
                <a:solidFill>
                  <a:srgbClr val="0F2343"/>
                </a:solidFill>
                <a:latin typeface="Aptos"/>
              </a:rPr>
              <a:t>A data-processing error</a:t>
            </a:r>
          </a:p>
        </p:txBody>
      </p:sp>
      <p:sp>
        <p:nvSpPr>
          <p:cNvPr id="40" name="Text: An unhandled overflow"/>
          <p:cNvSpPr txBox="1"/>
          <p:nvPr/>
        </p:nvSpPr>
        <p:spPr>
          <a:xfrm>
            <a:off x="6364224" y="5641848"/>
            <a:ext cx="5120640" cy="411480"/>
          </a:xfrm>
          <a:prstGeom prst="rect">
            <a:avLst/>
          </a:prstGeom>
          <a:noFill/>
        </p:spPr>
        <p:txBody>
          <a:bodyPr wrap="square" lIns="0" tIns="0" rIns="0" bIns="0" anchor="ctr">
            <a:noAutofit/>
          </a:bodyPr>
          <a:lstStyle/>
          <a:p>
            <a:pPr algn="ctr">
              <a:lnSpc>
                <a:spcPct val="106000"/>
              </a:lnSpc>
              <a:spcBef>
                <a:spcPts val="0"/>
              </a:spcBef>
              <a:spcAft>
                <a:spcPts val="0"/>
              </a:spcAft>
            </a:pPr>
            <a:r>
              <a:rPr sz="2500" b="1">
                <a:solidFill>
                  <a:srgbClr val="0F2343"/>
                </a:solidFill>
                <a:latin typeface="Aptos"/>
              </a:rPr>
              <a:t>An unhandled overflow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lide title"/>
          <p:cNvSpPr txBox="1"/>
          <p:nvPr/>
        </p:nvSpPr>
        <p:spPr>
          <a:xfrm>
            <a:off x="502920" y="292608"/>
            <a:ext cx="11183112" cy="1051560"/>
          </a:xfrm>
          <a:prstGeom prst="rect">
            <a:avLst/>
          </a:prstGeom>
          <a:noFill/>
        </p:spPr>
        <p:txBody>
          <a:bodyPr wrap="square" lIns="0" tIns="0" rIns="0" bIns="0" anchor="t">
            <a:noAutofit/>
          </a:bodyPr>
          <a:lstStyle/>
          <a:p>
            <a:pPr algn="l">
              <a:lnSpc>
                <a:spcPct val="106000"/>
              </a:lnSpc>
              <a:spcBef>
                <a:spcPts val="0"/>
              </a:spcBef>
              <a:spcAft>
                <a:spcPts val="0"/>
              </a:spcAft>
            </a:pPr>
            <a:r>
              <a:rPr sz="4000" b="1" dirty="0">
                <a:solidFill>
                  <a:srgbClr val="0F2343"/>
                </a:solidFill>
                <a:latin typeface="Aptos Display"/>
              </a:rPr>
              <a:t>Interview the planner to find the requirements</a:t>
            </a:r>
          </a:p>
        </p:txBody>
      </p:sp>
      <p:sp>
        <p:nvSpPr>
          <p:cNvPr id="3" name="Rectangle 2"/>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7"/>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7</a:t>
            </a:r>
          </a:p>
        </p:txBody>
      </p:sp>
      <p:sp>
        <p:nvSpPr>
          <p:cNvPr id="6" name="Rounded Rectangle 5"/>
          <p:cNvSpPr/>
          <p:nvPr/>
        </p:nvSpPr>
        <p:spPr>
          <a:xfrm>
            <a:off x="1005840" y="1783080"/>
            <a:ext cx="10177272" cy="868680"/>
          </a:xfrm>
          <a:prstGeom prst="roundRect">
            <a:avLst>
              <a:gd name="adj" fmla="val 12000"/>
            </a:avLst>
          </a:prstGeom>
          <a:solidFill>
            <a:srgbClr val="FFFFFF"/>
          </a:solidFill>
          <a:ln w="1905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 “I heard our cargo planner wants a tool that picks the best shipm"/>
          <p:cNvSpPr txBox="1"/>
          <p:nvPr/>
        </p:nvSpPr>
        <p:spPr>
          <a:xfrm>
            <a:off x="1243584" y="1828800"/>
            <a:ext cx="9701784" cy="786384"/>
          </a:xfrm>
          <a:prstGeom prst="rect">
            <a:avLst/>
          </a:prstGeom>
          <a:noFill/>
        </p:spPr>
        <p:txBody>
          <a:bodyPr wrap="square" lIns="0" tIns="0" rIns="0" bIns="0" anchor="ctr">
            <a:noAutofit/>
          </a:bodyPr>
          <a:lstStyle/>
          <a:p>
            <a:pPr algn="ctr">
              <a:lnSpc>
                <a:spcPct val="106000"/>
              </a:lnSpc>
              <a:spcBef>
                <a:spcPts val="0"/>
              </a:spcBef>
              <a:spcAft>
                <a:spcPts val="0"/>
              </a:spcAft>
            </a:pPr>
            <a:r>
              <a:rPr sz="2400" b="0">
                <a:solidFill>
                  <a:srgbClr val="0F2343"/>
                </a:solidFill>
                <a:latin typeface="Aptos"/>
              </a:rPr>
              <a:t>“I heard our cargo planner wants a tool that picks</a:t>
            </a:r>
          </a:p>
          <a:p>
            <a:pPr algn="ctr">
              <a:lnSpc>
                <a:spcPct val="106000"/>
              </a:lnSpc>
              <a:spcBef>
                <a:spcPts val="0"/>
              </a:spcBef>
              <a:spcAft>
                <a:spcPts val="0"/>
              </a:spcAft>
            </a:pPr>
            <a:r>
              <a:rPr sz="2400" b="0">
                <a:solidFill>
                  <a:srgbClr val="0F2343"/>
                </a:solidFill>
                <a:latin typeface="Aptos"/>
              </a:rPr>
              <a:t>the best shipments for each flight.”</a:t>
            </a:r>
          </a:p>
        </p:txBody>
      </p:sp>
      <p:pic>
        <p:nvPicPr>
          <p:cNvPr id="8" name="cargo-planner" descr="cargo planner"/>
          <p:cNvPicPr>
            <a:picLocks noChangeAspect="1"/>
          </p:cNvPicPr>
          <p:nvPr/>
        </p:nvPicPr>
        <p:blipFill>
          <a:blip r:embed="rId3"/>
          <a:srcRect l="4000" t="12000" r="64000" b="12000"/>
          <a:stretch>
            <a:fillRect/>
          </a:stretch>
        </p:blipFill>
        <p:spPr>
          <a:xfrm>
            <a:off x="5001768" y="2971800"/>
            <a:ext cx="2194560" cy="2331720"/>
          </a:xfrm>
          <a:prstGeom prst="rect">
            <a:avLst/>
          </a:prstGeom>
        </p:spPr>
      </p:pic>
      <p:sp>
        <p:nvSpPr>
          <p:cNvPr id="9" name="Rounded Rectangle 8"/>
          <p:cNvSpPr/>
          <p:nvPr/>
        </p:nvSpPr>
        <p:spPr>
          <a:xfrm>
            <a:off x="901324" y="3055193"/>
            <a:ext cx="401055" cy="279806"/>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a:off x="980602" y="3334999"/>
            <a:ext cx="0" cy="83942"/>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980602" y="3334999"/>
            <a:ext cx="97932" cy="83942"/>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982934" y="3183437"/>
            <a:ext cx="32644" cy="32644"/>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85529" y="3183437"/>
            <a:ext cx="32644" cy="32644"/>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188125" y="3183437"/>
            <a:ext cx="32644" cy="32644"/>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Decisions"/>
          <p:cNvSpPr txBox="1"/>
          <p:nvPr/>
        </p:nvSpPr>
        <p:spPr>
          <a:xfrm>
            <a:off x="1545336" y="2926080"/>
            <a:ext cx="2834640" cy="649224"/>
          </a:xfrm>
          <a:prstGeom prst="rect">
            <a:avLst/>
          </a:prstGeom>
          <a:noFill/>
        </p:spPr>
        <p:txBody>
          <a:bodyPr wrap="square" lIns="0" tIns="0" rIns="0" bIns="0" anchor="ctr">
            <a:noAutofit/>
          </a:bodyPr>
          <a:lstStyle/>
          <a:p>
            <a:pPr algn="l">
              <a:lnSpc>
                <a:spcPct val="106000"/>
              </a:lnSpc>
              <a:spcBef>
                <a:spcPts val="0"/>
              </a:spcBef>
              <a:spcAft>
                <a:spcPts val="0"/>
              </a:spcAft>
            </a:pPr>
            <a:r>
              <a:rPr sz="2600" b="1">
                <a:solidFill>
                  <a:srgbClr val="0F2343"/>
                </a:solidFill>
                <a:latin typeface="Aptos"/>
              </a:rPr>
              <a:t>Decisions</a:t>
            </a:r>
          </a:p>
        </p:txBody>
      </p:sp>
      <p:sp>
        <p:nvSpPr>
          <p:cNvPr id="16" name="Rounded Rectangle 15"/>
          <p:cNvSpPr/>
          <p:nvPr/>
        </p:nvSpPr>
        <p:spPr>
          <a:xfrm>
            <a:off x="896660" y="4153936"/>
            <a:ext cx="410382" cy="270479"/>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027236" y="4069994"/>
            <a:ext cx="149230" cy="83941"/>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905987" y="4247205"/>
            <a:ext cx="391729"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073871" y="4223887"/>
            <a:ext cx="55961" cy="55961"/>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 Objectives"/>
          <p:cNvSpPr txBox="1"/>
          <p:nvPr/>
        </p:nvSpPr>
        <p:spPr>
          <a:xfrm>
            <a:off x="1545336" y="3950208"/>
            <a:ext cx="2834640" cy="649224"/>
          </a:xfrm>
          <a:prstGeom prst="rect">
            <a:avLst/>
          </a:prstGeom>
          <a:noFill/>
        </p:spPr>
        <p:txBody>
          <a:bodyPr wrap="square" lIns="0" tIns="0" rIns="0" bIns="0" anchor="ctr">
            <a:noAutofit/>
          </a:bodyPr>
          <a:lstStyle/>
          <a:p>
            <a:pPr algn="l">
              <a:lnSpc>
                <a:spcPct val="106000"/>
              </a:lnSpc>
              <a:spcBef>
                <a:spcPts val="0"/>
              </a:spcBef>
              <a:spcAft>
                <a:spcPts val="0"/>
              </a:spcAft>
            </a:pPr>
            <a:r>
              <a:rPr sz="2600" b="1">
                <a:solidFill>
                  <a:srgbClr val="0F2343"/>
                </a:solidFill>
                <a:latin typeface="Aptos"/>
              </a:rPr>
              <a:t>Objectives</a:t>
            </a:r>
          </a:p>
        </p:txBody>
      </p:sp>
      <p:sp>
        <p:nvSpPr>
          <p:cNvPr id="21" name="Rounded Rectangle 20"/>
          <p:cNvSpPr/>
          <p:nvPr/>
        </p:nvSpPr>
        <p:spPr>
          <a:xfrm>
            <a:off x="957285" y="5080132"/>
            <a:ext cx="289133" cy="401055"/>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1013246" y="5206044"/>
            <a:ext cx="177211"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13246" y="5280660"/>
            <a:ext cx="177211"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13246" y="5359938"/>
            <a:ext cx="121250" cy="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25" name="Text: Constraints"/>
          <p:cNvSpPr txBox="1"/>
          <p:nvPr/>
        </p:nvSpPr>
        <p:spPr>
          <a:xfrm>
            <a:off x="1545336" y="4974336"/>
            <a:ext cx="2834640" cy="649224"/>
          </a:xfrm>
          <a:prstGeom prst="rect">
            <a:avLst/>
          </a:prstGeom>
          <a:noFill/>
        </p:spPr>
        <p:txBody>
          <a:bodyPr wrap="square" lIns="0" tIns="0" rIns="0" bIns="0" anchor="ctr">
            <a:noAutofit/>
          </a:bodyPr>
          <a:lstStyle/>
          <a:p>
            <a:pPr algn="l">
              <a:lnSpc>
                <a:spcPct val="106000"/>
              </a:lnSpc>
              <a:spcBef>
                <a:spcPts val="0"/>
              </a:spcBef>
              <a:spcAft>
                <a:spcPts val="0"/>
              </a:spcAft>
            </a:pPr>
            <a:r>
              <a:rPr sz="2600" b="1">
                <a:solidFill>
                  <a:srgbClr val="0F2343"/>
                </a:solidFill>
                <a:latin typeface="Aptos"/>
              </a:rPr>
              <a:t>Constraints</a:t>
            </a:r>
          </a:p>
        </p:txBody>
      </p:sp>
      <p:sp>
        <p:nvSpPr>
          <p:cNvPr id="26" name="Rounded Rectangle 25"/>
          <p:cNvSpPr/>
          <p:nvPr/>
        </p:nvSpPr>
        <p:spPr>
          <a:xfrm>
            <a:off x="8317108" y="3059856"/>
            <a:ext cx="401055" cy="340431"/>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7" name="Connector 26"/>
          <p:cNvCxnSpPr/>
          <p:nvPr/>
        </p:nvCxnSpPr>
        <p:spPr>
          <a:xfrm>
            <a:off x="8340425" y="3157788"/>
            <a:ext cx="354421" cy="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373069" y="3232404"/>
            <a:ext cx="284470"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373069" y="3311682"/>
            <a:ext cx="284470"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508309" y="3157788"/>
            <a:ext cx="0" cy="214519"/>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sp>
        <p:nvSpPr>
          <p:cNvPr id="31" name="Text: Data"/>
          <p:cNvSpPr txBox="1"/>
          <p:nvPr/>
        </p:nvSpPr>
        <p:spPr>
          <a:xfrm>
            <a:off x="8961120" y="2926080"/>
            <a:ext cx="2834640" cy="649224"/>
          </a:xfrm>
          <a:prstGeom prst="rect">
            <a:avLst/>
          </a:prstGeom>
          <a:noFill/>
        </p:spPr>
        <p:txBody>
          <a:bodyPr wrap="square" lIns="0" tIns="0" rIns="0" bIns="0" anchor="ctr">
            <a:noAutofit/>
          </a:bodyPr>
          <a:lstStyle/>
          <a:p>
            <a:pPr algn="l">
              <a:lnSpc>
                <a:spcPct val="106000"/>
              </a:lnSpc>
              <a:spcBef>
                <a:spcPts val="0"/>
              </a:spcBef>
              <a:spcAft>
                <a:spcPts val="0"/>
              </a:spcAft>
            </a:pPr>
            <a:r>
              <a:rPr sz="2600" b="1">
                <a:solidFill>
                  <a:srgbClr val="0F2343"/>
                </a:solidFill>
                <a:latin typeface="Aptos"/>
              </a:rPr>
              <a:t>Data</a:t>
            </a:r>
          </a:p>
        </p:txBody>
      </p:sp>
      <p:sp>
        <p:nvSpPr>
          <p:cNvPr id="32" name="Text: ∑"/>
          <p:cNvSpPr txBox="1"/>
          <p:nvPr/>
        </p:nvSpPr>
        <p:spPr>
          <a:xfrm>
            <a:off x="8284464" y="4023360"/>
            <a:ext cx="466344" cy="466344"/>
          </a:xfrm>
          <a:prstGeom prst="rect">
            <a:avLst/>
          </a:prstGeom>
          <a:noFill/>
        </p:spPr>
        <p:txBody>
          <a:bodyPr wrap="square" lIns="0" tIns="0" rIns="0" bIns="0" anchor="ctr">
            <a:noAutofit/>
          </a:bodyPr>
          <a:lstStyle/>
          <a:p>
            <a:pPr algn="ctr">
              <a:lnSpc>
                <a:spcPct val="106000"/>
              </a:lnSpc>
              <a:spcBef>
                <a:spcPts val="0"/>
              </a:spcBef>
              <a:spcAft>
                <a:spcPts val="0"/>
              </a:spcAft>
            </a:pPr>
            <a:r>
              <a:rPr sz="2346" b="0">
                <a:solidFill>
                  <a:srgbClr val="0F2343"/>
                </a:solidFill>
                <a:latin typeface="Cambria Math"/>
              </a:rPr>
              <a:t>∑</a:t>
            </a:r>
          </a:p>
        </p:txBody>
      </p:sp>
      <p:sp>
        <p:nvSpPr>
          <p:cNvPr id="33" name="Text: Uncertainty"/>
          <p:cNvSpPr txBox="1"/>
          <p:nvPr/>
        </p:nvSpPr>
        <p:spPr>
          <a:xfrm>
            <a:off x="8961120" y="3950208"/>
            <a:ext cx="2834640" cy="649224"/>
          </a:xfrm>
          <a:prstGeom prst="rect">
            <a:avLst/>
          </a:prstGeom>
          <a:noFill/>
        </p:spPr>
        <p:txBody>
          <a:bodyPr wrap="square" lIns="0" tIns="0" rIns="0" bIns="0" anchor="ctr">
            <a:noAutofit/>
          </a:bodyPr>
          <a:lstStyle/>
          <a:p>
            <a:pPr algn="l">
              <a:lnSpc>
                <a:spcPct val="106000"/>
              </a:lnSpc>
              <a:spcBef>
                <a:spcPts val="0"/>
              </a:spcBef>
              <a:spcAft>
                <a:spcPts val="0"/>
              </a:spcAft>
            </a:pPr>
            <a:r>
              <a:rPr sz="2600" b="1">
                <a:solidFill>
                  <a:srgbClr val="0F2343"/>
                </a:solidFill>
                <a:latin typeface="Aptos"/>
              </a:rPr>
              <a:t>Uncertainty</a:t>
            </a:r>
          </a:p>
        </p:txBody>
      </p:sp>
      <p:sp>
        <p:nvSpPr>
          <p:cNvPr id="34" name="Rounded Rectangle 33"/>
          <p:cNvSpPr/>
          <p:nvPr/>
        </p:nvSpPr>
        <p:spPr>
          <a:xfrm>
            <a:off x="8345088" y="5094122"/>
            <a:ext cx="345094" cy="373075"/>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5" name="Connector 34"/>
          <p:cNvCxnSpPr/>
          <p:nvPr/>
        </p:nvCxnSpPr>
        <p:spPr>
          <a:xfrm>
            <a:off x="8415040" y="5275996"/>
            <a:ext cx="74615" cy="74615"/>
          </a:xfrm>
          <a:prstGeom prst="line">
            <a:avLst/>
          </a:prstGeom>
          <a:ln w="3175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8489655" y="5187391"/>
            <a:ext cx="135240" cy="163220"/>
          </a:xfrm>
          <a:prstGeom prst="line">
            <a:avLst/>
          </a:prstGeom>
          <a:ln w="3175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37" name="Text: Risks"/>
          <p:cNvSpPr txBox="1"/>
          <p:nvPr/>
        </p:nvSpPr>
        <p:spPr>
          <a:xfrm>
            <a:off x="8961120" y="4974336"/>
            <a:ext cx="2834640" cy="649224"/>
          </a:xfrm>
          <a:prstGeom prst="rect">
            <a:avLst/>
          </a:prstGeom>
          <a:noFill/>
        </p:spPr>
        <p:txBody>
          <a:bodyPr wrap="square" lIns="0" tIns="0" rIns="0" bIns="0" anchor="ctr">
            <a:noAutofit/>
          </a:bodyPr>
          <a:lstStyle/>
          <a:p>
            <a:pPr algn="l">
              <a:lnSpc>
                <a:spcPct val="106000"/>
              </a:lnSpc>
              <a:spcBef>
                <a:spcPts val="0"/>
              </a:spcBef>
              <a:spcAft>
                <a:spcPts val="0"/>
              </a:spcAft>
            </a:pPr>
            <a:r>
              <a:rPr sz="2600" b="1">
                <a:solidFill>
                  <a:srgbClr val="0F2343"/>
                </a:solidFill>
                <a:latin typeface="Aptos"/>
              </a:rPr>
              <a:t>Risks</a:t>
            </a:r>
          </a:p>
        </p:txBody>
      </p:sp>
      <p:sp>
        <p:nvSpPr>
          <p:cNvPr id="38" name="Rounded Rectangle 37"/>
          <p:cNvSpPr/>
          <p:nvPr/>
        </p:nvSpPr>
        <p:spPr>
          <a:xfrm>
            <a:off x="594360" y="5870448"/>
            <a:ext cx="11000232" cy="457200"/>
          </a:xfrm>
          <a:prstGeom prst="roundRect">
            <a:avLst>
              <a:gd name="adj" fmla="val 12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 Pairs  ·  1 minute  ·  2 questions"/>
          <p:cNvSpPr txBox="1"/>
          <p:nvPr/>
        </p:nvSpPr>
        <p:spPr>
          <a:xfrm>
            <a:off x="722376" y="5907024"/>
            <a:ext cx="10744200" cy="384048"/>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Pairs  ·  1 minute  ·  2 questions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lide title"/>
          <p:cNvSpPr txBox="1"/>
          <p:nvPr/>
        </p:nvSpPr>
        <p:spPr>
          <a:xfrm>
            <a:off x="502920" y="292608"/>
            <a:ext cx="11183112" cy="1051560"/>
          </a:xfrm>
          <a:prstGeom prst="rect">
            <a:avLst/>
          </a:prstGeom>
          <a:noFill/>
        </p:spPr>
        <p:txBody>
          <a:bodyPr wrap="square" lIns="0" tIns="0" rIns="0" bIns="0" anchor="t">
            <a:noAutofit/>
          </a:bodyPr>
          <a:lstStyle/>
          <a:p>
            <a:pPr algn="l">
              <a:lnSpc>
                <a:spcPct val="106000"/>
              </a:lnSpc>
              <a:spcBef>
                <a:spcPts val="0"/>
              </a:spcBef>
              <a:spcAft>
                <a:spcPts val="0"/>
              </a:spcAft>
            </a:pPr>
            <a:r>
              <a:rPr sz="4000" b="1" dirty="0">
                <a:solidFill>
                  <a:srgbClr val="0F2343"/>
                </a:solidFill>
                <a:latin typeface="Aptos Display"/>
              </a:rPr>
              <a:t>Examples show what the planner would do</a:t>
            </a:r>
          </a:p>
        </p:txBody>
      </p:sp>
      <p:sp>
        <p:nvSpPr>
          <p:cNvPr id="3" name="Rectangle 2"/>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8"/>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8</a:t>
            </a:r>
          </a:p>
        </p:txBody>
      </p:sp>
      <p:sp>
        <p:nvSpPr>
          <p:cNvPr id="6" name="Text: Example 1"/>
          <p:cNvSpPr txBox="1"/>
          <p:nvPr/>
        </p:nvSpPr>
        <p:spPr>
          <a:xfrm>
            <a:off x="777240" y="1764792"/>
            <a:ext cx="5029200" cy="384048"/>
          </a:xfrm>
          <a:prstGeom prst="rect">
            <a:avLst/>
          </a:prstGeom>
          <a:noFill/>
        </p:spPr>
        <p:txBody>
          <a:bodyPr wrap="square" lIns="0" tIns="0" rIns="0" bIns="0" anchor="ctr">
            <a:noAutofit/>
          </a:bodyPr>
          <a:lstStyle/>
          <a:p>
            <a:pPr algn="ctr">
              <a:lnSpc>
                <a:spcPct val="106000"/>
              </a:lnSpc>
              <a:spcBef>
                <a:spcPts val="0"/>
              </a:spcBef>
              <a:spcAft>
                <a:spcPts val="0"/>
              </a:spcAft>
            </a:pPr>
            <a:r>
              <a:rPr sz="2500" b="1">
                <a:solidFill>
                  <a:srgbClr val="0F2343"/>
                </a:solidFill>
                <a:latin typeface="Aptos"/>
              </a:rPr>
              <a:t>Example 1</a:t>
            </a:r>
          </a:p>
        </p:txBody>
      </p:sp>
      <p:sp>
        <p:nvSpPr>
          <p:cNvPr id="7" name="Text: 500 kg limit"/>
          <p:cNvSpPr txBox="1"/>
          <p:nvPr/>
        </p:nvSpPr>
        <p:spPr>
          <a:xfrm>
            <a:off x="777240" y="2212848"/>
            <a:ext cx="5029200" cy="310896"/>
          </a:xfrm>
          <a:prstGeom prst="rect">
            <a:avLst/>
          </a:prstGeom>
          <a:noFill/>
        </p:spPr>
        <p:txBody>
          <a:bodyPr wrap="square" lIns="0" tIns="0" rIns="0" bIns="0" anchor="ctr">
            <a:noAutofit/>
          </a:bodyPr>
          <a:lstStyle/>
          <a:p>
            <a:pPr algn="ctr">
              <a:lnSpc>
                <a:spcPct val="106000"/>
              </a:lnSpc>
              <a:spcBef>
                <a:spcPts val="0"/>
              </a:spcBef>
              <a:spcAft>
                <a:spcPts val="0"/>
              </a:spcAft>
            </a:pPr>
            <a:r>
              <a:rPr sz="2100" b="1">
                <a:solidFill>
                  <a:srgbClr val="F97316"/>
                </a:solidFill>
                <a:latin typeface="Aptos"/>
              </a:rPr>
              <a:t>500 kg limit</a:t>
            </a:r>
          </a:p>
        </p:txBody>
      </p:sp>
      <p:graphicFrame>
        <p:nvGraphicFramePr>
          <p:cNvPr id="8" name="Table 7"/>
          <p:cNvGraphicFramePr>
            <a:graphicFrameLocks noGrp="1"/>
          </p:cNvGraphicFramePr>
          <p:nvPr/>
        </p:nvGraphicFramePr>
        <p:xfrm>
          <a:off x="777240" y="2761488"/>
          <a:ext cx="5029198" cy="2286000"/>
        </p:xfrm>
        <a:graphic>
          <a:graphicData uri="http://schemas.openxmlformats.org/drawingml/2006/table">
            <a:tbl>
              <a:tblPr firstRow="1" bandRow="1">
                <a:tableStyleId>{5C22544A-7EE6-4342-B048-85BDC9FD1C3A}</a:tableStyleId>
              </a:tblPr>
              <a:tblGrid>
                <a:gridCol w="2414015">
                  <a:extLst>
                    <a:ext uri="{9D8B030D-6E8A-4147-A177-3AD203B41FA5}">
                      <a16:colId xmlns:a16="http://schemas.microsoft.com/office/drawing/2014/main" val="20000"/>
                    </a:ext>
                  </a:extLst>
                </a:gridCol>
                <a:gridCol w="1207007">
                  <a:extLst>
                    <a:ext uri="{9D8B030D-6E8A-4147-A177-3AD203B41FA5}">
                      <a16:colId xmlns:a16="http://schemas.microsoft.com/office/drawing/2014/main" val="20001"/>
                    </a:ext>
                  </a:extLst>
                </a:gridCol>
                <a:gridCol w="1408176">
                  <a:extLst>
                    <a:ext uri="{9D8B030D-6E8A-4147-A177-3AD203B41FA5}">
                      <a16:colId xmlns:a16="http://schemas.microsoft.com/office/drawing/2014/main" val="20002"/>
                    </a:ext>
                  </a:extLst>
                </a:gridCol>
              </a:tblGrid>
              <a:tr h="475488">
                <a:tc>
                  <a:txBody>
                    <a:bodyPr/>
                    <a:lstStyle/>
                    <a:p>
                      <a:pPr algn="l">
                        <a:spcBef>
                          <a:spcPts val="0"/>
                        </a:spcBef>
                        <a:spcAft>
                          <a:spcPts val="0"/>
                        </a:spcAft>
                      </a:pPr>
                      <a:r>
                        <a:rPr sz="1800" b="1">
                          <a:solidFill>
                            <a:srgbClr val="FFFFFF"/>
                          </a:solidFill>
                          <a:latin typeface="Aptos"/>
                        </a:rPr>
                        <a:t>Customer</a:t>
                      </a:r>
                    </a:p>
                  </a:txBody>
                  <a:tcPr marL="128016" marR="109728" anchor="ctr">
                    <a:solidFill>
                      <a:srgbClr val="0F2343"/>
                    </a:solidFill>
                  </a:tcPr>
                </a:tc>
                <a:tc>
                  <a:txBody>
                    <a:bodyPr/>
                    <a:lstStyle/>
                    <a:p>
                      <a:pPr algn="r">
                        <a:spcBef>
                          <a:spcPts val="0"/>
                        </a:spcBef>
                        <a:spcAft>
                          <a:spcPts val="0"/>
                        </a:spcAft>
                      </a:pPr>
                      <a:r>
                        <a:rPr sz="1800" b="1">
                          <a:solidFill>
                            <a:srgbClr val="FFFFFF"/>
                          </a:solidFill>
                          <a:latin typeface="Aptos"/>
                        </a:rPr>
                        <a:t>Weight</a:t>
                      </a:r>
                    </a:p>
                  </a:txBody>
                  <a:tcPr marL="128016" marR="109728" anchor="ctr">
                    <a:solidFill>
                      <a:srgbClr val="0F2343"/>
                    </a:solidFill>
                  </a:tcPr>
                </a:tc>
                <a:tc>
                  <a:txBody>
                    <a:bodyPr/>
                    <a:lstStyle/>
                    <a:p>
                      <a:pPr algn="r">
                        <a:spcBef>
                          <a:spcPts val="0"/>
                        </a:spcBef>
                        <a:spcAft>
                          <a:spcPts val="0"/>
                        </a:spcAft>
                      </a:pPr>
                      <a:r>
                        <a:rPr sz="1800" b="1">
                          <a:solidFill>
                            <a:srgbClr val="FFFFFF"/>
                          </a:solidFill>
                          <a:latin typeface="Aptos"/>
                        </a:rPr>
                        <a:t>Revenue</a:t>
                      </a:r>
                    </a:p>
                  </a:txBody>
                  <a:tcPr marL="128016" marR="109728" anchor="ctr">
                    <a:solidFill>
                      <a:srgbClr val="0F2343"/>
                    </a:solidFill>
                  </a:tcPr>
                </a:tc>
                <a:extLst>
                  <a:ext uri="{0D108BD9-81ED-4DB2-BD59-A6C34878D82A}">
                    <a16:rowId xmlns:a16="http://schemas.microsoft.com/office/drawing/2014/main" val="10000"/>
                  </a:ext>
                </a:extLst>
              </a:tr>
              <a:tr h="603504">
                <a:tc>
                  <a:txBody>
                    <a:bodyPr/>
                    <a:lstStyle/>
                    <a:p>
                      <a:pPr algn="l">
                        <a:spcBef>
                          <a:spcPts val="0"/>
                        </a:spcBef>
                        <a:spcAft>
                          <a:spcPts val="0"/>
                        </a:spcAft>
                      </a:pPr>
                      <a:r>
                        <a:rPr sz="2000" b="0">
                          <a:solidFill>
                            <a:srgbClr val="0F2343"/>
                          </a:solidFill>
                          <a:latin typeface="Aptos"/>
                        </a:rPr>
                        <a:t>Atlas Steel</a:t>
                      </a:r>
                    </a:p>
                  </a:txBody>
                  <a:tcPr marL="128016" marR="109728" anchor="ctr">
                    <a:solidFill>
                      <a:srgbClr val="FFFFFF"/>
                    </a:solidFill>
                  </a:tcPr>
                </a:tc>
                <a:tc>
                  <a:txBody>
                    <a:bodyPr/>
                    <a:lstStyle/>
                    <a:p>
                      <a:pPr algn="r">
                        <a:spcBef>
                          <a:spcPts val="0"/>
                        </a:spcBef>
                        <a:spcAft>
                          <a:spcPts val="0"/>
                        </a:spcAft>
                      </a:pPr>
                      <a:r>
                        <a:rPr sz="2000" b="0">
                          <a:solidFill>
                            <a:srgbClr val="0F2343"/>
                          </a:solidFill>
                          <a:latin typeface="Aptos"/>
                        </a:rPr>
                        <a:t>500 kg</a:t>
                      </a:r>
                    </a:p>
                  </a:txBody>
                  <a:tcPr marL="128016" marR="109728" anchor="ctr">
                    <a:solidFill>
                      <a:srgbClr val="FFFFFF"/>
                    </a:solidFill>
                  </a:tcPr>
                </a:tc>
                <a:tc>
                  <a:txBody>
                    <a:bodyPr/>
                    <a:lstStyle/>
                    <a:p>
                      <a:pPr algn="r">
                        <a:spcBef>
                          <a:spcPts val="0"/>
                        </a:spcBef>
                        <a:spcAft>
                          <a:spcPts val="0"/>
                        </a:spcAft>
                      </a:pPr>
                      <a:r>
                        <a:rPr sz="2000" b="0">
                          <a:solidFill>
                            <a:srgbClr val="0F2343"/>
                          </a:solidFill>
                          <a:latin typeface="Aptos"/>
                        </a:rPr>
                        <a:t>$3,000</a:t>
                      </a:r>
                    </a:p>
                  </a:txBody>
                  <a:tcPr marL="128016" marR="109728" anchor="ctr">
                    <a:solidFill>
                      <a:srgbClr val="FFFFFF"/>
                    </a:solidFill>
                  </a:tcPr>
                </a:tc>
                <a:extLst>
                  <a:ext uri="{0D108BD9-81ED-4DB2-BD59-A6C34878D82A}">
                    <a16:rowId xmlns:a16="http://schemas.microsoft.com/office/drawing/2014/main" val="10001"/>
                  </a:ext>
                </a:extLst>
              </a:tr>
              <a:tr h="603504">
                <a:tc>
                  <a:txBody>
                    <a:bodyPr/>
                    <a:lstStyle/>
                    <a:p>
                      <a:pPr algn="l">
                        <a:spcBef>
                          <a:spcPts val="0"/>
                        </a:spcBef>
                        <a:spcAft>
                          <a:spcPts val="0"/>
                        </a:spcAft>
                      </a:pPr>
                      <a:r>
                        <a:rPr sz="2000" b="1">
                          <a:solidFill>
                            <a:srgbClr val="0F2343"/>
                          </a:solidFill>
                          <a:latin typeface="Aptos"/>
                        </a:rPr>
                        <a:t>Bighorn Auto</a:t>
                      </a:r>
                    </a:p>
                  </a:txBody>
                  <a:tcPr marL="128016" marR="109728" anchor="ctr">
                    <a:solidFill>
                      <a:srgbClr val="FFF0E5"/>
                    </a:solidFill>
                  </a:tcPr>
                </a:tc>
                <a:tc>
                  <a:txBody>
                    <a:bodyPr/>
                    <a:lstStyle/>
                    <a:p>
                      <a:pPr algn="r">
                        <a:spcBef>
                          <a:spcPts val="0"/>
                        </a:spcBef>
                        <a:spcAft>
                          <a:spcPts val="0"/>
                        </a:spcAft>
                      </a:pPr>
                      <a:r>
                        <a:rPr sz="2000" b="1">
                          <a:solidFill>
                            <a:srgbClr val="0F2343"/>
                          </a:solidFill>
                          <a:latin typeface="Aptos"/>
                        </a:rPr>
                        <a:t>250 kg</a:t>
                      </a:r>
                    </a:p>
                  </a:txBody>
                  <a:tcPr marL="128016" marR="109728" anchor="ctr">
                    <a:solidFill>
                      <a:srgbClr val="FFF0E5"/>
                    </a:solidFill>
                  </a:tcPr>
                </a:tc>
                <a:tc>
                  <a:txBody>
                    <a:bodyPr/>
                    <a:lstStyle/>
                    <a:p>
                      <a:pPr algn="r">
                        <a:spcBef>
                          <a:spcPts val="0"/>
                        </a:spcBef>
                        <a:spcAft>
                          <a:spcPts val="0"/>
                        </a:spcAft>
                      </a:pPr>
                      <a:r>
                        <a:rPr sz="2000" b="1">
                          <a:solidFill>
                            <a:srgbClr val="0F2343"/>
                          </a:solidFill>
                          <a:latin typeface="Aptos"/>
                        </a:rPr>
                        <a:t>$2,000</a:t>
                      </a:r>
                    </a:p>
                  </a:txBody>
                  <a:tcPr marL="128016" marR="109728" anchor="ctr">
                    <a:solidFill>
                      <a:srgbClr val="FFF0E5"/>
                    </a:solidFill>
                  </a:tcPr>
                </a:tc>
                <a:extLst>
                  <a:ext uri="{0D108BD9-81ED-4DB2-BD59-A6C34878D82A}">
                    <a16:rowId xmlns:a16="http://schemas.microsoft.com/office/drawing/2014/main" val="10002"/>
                  </a:ext>
                </a:extLst>
              </a:tr>
              <a:tr h="603504">
                <a:tc>
                  <a:txBody>
                    <a:bodyPr/>
                    <a:lstStyle/>
                    <a:p>
                      <a:pPr algn="l">
                        <a:spcBef>
                          <a:spcPts val="0"/>
                        </a:spcBef>
                        <a:spcAft>
                          <a:spcPts val="0"/>
                        </a:spcAft>
                      </a:pPr>
                      <a:r>
                        <a:rPr sz="2000" b="1">
                          <a:solidFill>
                            <a:srgbClr val="0F2343"/>
                          </a:solidFill>
                          <a:latin typeface="Aptos"/>
                        </a:rPr>
                        <a:t>Cedar Pharma</a:t>
                      </a:r>
                    </a:p>
                  </a:txBody>
                  <a:tcPr marL="128016" marR="109728" anchor="ctr">
                    <a:solidFill>
                      <a:srgbClr val="FFF0E5"/>
                    </a:solidFill>
                  </a:tcPr>
                </a:tc>
                <a:tc>
                  <a:txBody>
                    <a:bodyPr/>
                    <a:lstStyle/>
                    <a:p>
                      <a:pPr algn="r">
                        <a:spcBef>
                          <a:spcPts val="0"/>
                        </a:spcBef>
                        <a:spcAft>
                          <a:spcPts val="0"/>
                        </a:spcAft>
                      </a:pPr>
                      <a:r>
                        <a:rPr sz="2000" b="1">
                          <a:solidFill>
                            <a:srgbClr val="0F2343"/>
                          </a:solidFill>
                          <a:latin typeface="Aptos"/>
                        </a:rPr>
                        <a:t>250 kg</a:t>
                      </a:r>
                    </a:p>
                  </a:txBody>
                  <a:tcPr marL="128016" marR="109728" anchor="ctr">
                    <a:solidFill>
                      <a:srgbClr val="FFF0E5"/>
                    </a:solidFill>
                  </a:tcPr>
                </a:tc>
                <a:tc>
                  <a:txBody>
                    <a:bodyPr/>
                    <a:lstStyle/>
                    <a:p>
                      <a:pPr algn="r">
                        <a:spcBef>
                          <a:spcPts val="0"/>
                        </a:spcBef>
                        <a:spcAft>
                          <a:spcPts val="0"/>
                        </a:spcAft>
                      </a:pPr>
                      <a:r>
                        <a:rPr sz="2000" b="1">
                          <a:solidFill>
                            <a:srgbClr val="0F2343"/>
                          </a:solidFill>
                          <a:latin typeface="Aptos"/>
                        </a:rPr>
                        <a:t>$1,800</a:t>
                      </a:r>
                    </a:p>
                  </a:txBody>
                  <a:tcPr marL="128016" marR="109728" anchor="ctr">
                    <a:solidFill>
                      <a:srgbClr val="FFF0E5"/>
                    </a:solidFill>
                  </a:tcPr>
                </a:tc>
                <a:extLst>
                  <a:ext uri="{0D108BD9-81ED-4DB2-BD59-A6C34878D82A}">
                    <a16:rowId xmlns:a16="http://schemas.microsoft.com/office/drawing/2014/main" val="10003"/>
                  </a:ext>
                </a:extLst>
              </a:tr>
            </a:tbl>
          </a:graphicData>
        </a:graphic>
      </p:graphicFrame>
      <p:sp>
        <p:nvSpPr>
          <p:cNvPr id="9" name="Rectangle 8"/>
          <p:cNvSpPr/>
          <p:nvPr/>
        </p:nvSpPr>
        <p:spPr>
          <a:xfrm>
            <a:off x="777240" y="3840480"/>
            <a:ext cx="5029200" cy="603504"/>
          </a:xfrm>
          <a:prstGeom prst="rect">
            <a:avLst/>
          </a:prstGeom>
          <a:noFill/>
          <a:ln w="2032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 ✓"/>
          <p:cNvSpPr txBox="1"/>
          <p:nvPr/>
        </p:nvSpPr>
        <p:spPr>
          <a:xfrm>
            <a:off x="402336" y="3922776"/>
            <a:ext cx="310896" cy="384048"/>
          </a:xfrm>
          <a:prstGeom prst="rect">
            <a:avLst/>
          </a:prstGeom>
          <a:noFill/>
        </p:spPr>
        <p:txBody>
          <a:bodyPr wrap="square" lIns="0" tIns="0" rIns="0" bIns="0" anchor="ctr">
            <a:noAutofit/>
          </a:bodyPr>
          <a:lstStyle/>
          <a:p>
            <a:pPr algn="ctr">
              <a:lnSpc>
                <a:spcPct val="106000"/>
              </a:lnSpc>
              <a:spcBef>
                <a:spcPts val="0"/>
              </a:spcBef>
              <a:spcAft>
                <a:spcPts val="0"/>
              </a:spcAft>
            </a:pPr>
            <a:r>
              <a:rPr sz="2100" b="1">
                <a:solidFill>
                  <a:srgbClr val="F97316"/>
                </a:solidFill>
                <a:latin typeface="Segoe UI Symbol"/>
              </a:rPr>
              <a:t>✓</a:t>
            </a:r>
          </a:p>
        </p:txBody>
      </p:sp>
      <p:sp>
        <p:nvSpPr>
          <p:cNvPr id="11" name="Rectangle 10"/>
          <p:cNvSpPr/>
          <p:nvPr/>
        </p:nvSpPr>
        <p:spPr>
          <a:xfrm>
            <a:off x="777240" y="4443984"/>
            <a:ext cx="5029200" cy="603504"/>
          </a:xfrm>
          <a:prstGeom prst="rect">
            <a:avLst/>
          </a:prstGeom>
          <a:noFill/>
          <a:ln w="2032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 ✓"/>
          <p:cNvSpPr txBox="1"/>
          <p:nvPr/>
        </p:nvSpPr>
        <p:spPr>
          <a:xfrm>
            <a:off x="402336" y="4526280"/>
            <a:ext cx="310896" cy="384048"/>
          </a:xfrm>
          <a:prstGeom prst="rect">
            <a:avLst/>
          </a:prstGeom>
          <a:noFill/>
        </p:spPr>
        <p:txBody>
          <a:bodyPr wrap="square" lIns="0" tIns="0" rIns="0" bIns="0" anchor="ctr">
            <a:noAutofit/>
          </a:bodyPr>
          <a:lstStyle/>
          <a:p>
            <a:pPr algn="ctr">
              <a:lnSpc>
                <a:spcPct val="106000"/>
              </a:lnSpc>
              <a:spcBef>
                <a:spcPts val="0"/>
              </a:spcBef>
              <a:spcAft>
                <a:spcPts val="0"/>
              </a:spcAft>
            </a:pPr>
            <a:r>
              <a:rPr sz="2100" b="1">
                <a:solidFill>
                  <a:srgbClr val="F97316"/>
                </a:solidFill>
                <a:latin typeface="Segoe UI Symbol"/>
              </a:rPr>
              <a:t>✓</a:t>
            </a:r>
          </a:p>
        </p:txBody>
      </p:sp>
      <p:sp>
        <p:nvSpPr>
          <p:cNvPr id="13" name="Text: Bighorn + Cedar"/>
          <p:cNvSpPr txBox="1"/>
          <p:nvPr/>
        </p:nvSpPr>
        <p:spPr>
          <a:xfrm>
            <a:off x="777240" y="5276088"/>
            <a:ext cx="5029200" cy="384048"/>
          </a:xfrm>
          <a:prstGeom prst="rect">
            <a:avLst/>
          </a:prstGeom>
          <a:noFill/>
        </p:spPr>
        <p:txBody>
          <a:bodyPr wrap="square" lIns="0" tIns="0" rIns="0" bIns="0" anchor="ctr">
            <a:noAutofit/>
          </a:bodyPr>
          <a:lstStyle/>
          <a:p>
            <a:pPr algn="ctr">
              <a:lnSpc>
                <a:spcPct val="106000"/>
              </a:lnSpc>
              <a:spcBef>
                <a:spcPts val="0"/>
              </a:spcBef>
              <a:spcAft>
                <a:spcPts val="0"/>
              </a:spcAft>
            </a:pPr>
            <a:r>
              <a:rPr sz="2300" b="1">
                <a:solidFill>
                  <a:srgbClr val="0F2343"/>
                </a:solidFill>
                <a:latin typeface="Aptos"/>
              </a:rPr>
              <a:t>Bighorn + Cedar</a:t>
            </a:r>
          </a:p>
        </p:txBody>
      </p:sp>
      <p:sp>
        <p:nvSpPr>
          <p:cNvPr id="14" name="Text: $3,800  ·  500 kg"/>
          <p:cNvSpPr txBox="1"/>
          <p:nvPr/>
        </p:nvSpPr>
        <p:spPr>
          <a:xfrm>
            <a:off x="777240" y="5724144"/>
            <a:ext cx="5029200" cy="429768"/>
          </a:xfrm>
          <a:prstGeom prst="rect">
            <a:avLst/>
          </a:prstGeom>
          <a:noFill/>
        </p:spPr>
        <p:txBody>
          <a:bodyPr wrap="square" lIns="0" tIns="0" rIns="0" bIns="0" anchor="ctr">
            <a:noAutofit/>
          </a:bodyPr>
          <a:lstStyle/>
          <a:p>
            <a:pPr algn="ctr">
              <a:lnSpc>
                <a:spcPct val="106000"/>
              </a:lnSpc>
              <a:spcBef>
                <a:spcPts val="0"/>
              </a:spcBef>
              <a:spcAft>
                <a:spcPts val="0"/>
              </a:spcAft>
            </a:pPr>
            <a:r>
              <a:rPr sz="2700" b="1">
                <a:solidFill>
                  <a:srgbClr val="0F2343"/>
                </a:solidFill>
                <a:latin typeface="Aptos"/>
              </a:rPr>
              <a:t>$3,800  ·  500 kg</a:t>
            </a:r>
          </a:p>
        </p:txBody>
      </p:sp>
      <p:sp>
        <p:nvSpPr>
          <p:cNvPr id="15" name="Text: Example 2"/>
          <p:cNvSpPr txBox="1"/>
          <p:nvPr/>
        </p:nvSpPr>
        <p:spPr>
          <a:xfrm>
            <a:off x="6355080" y="1764792"/>
            <a:ext cx="5029200" cy="384048"/>
          </a:xfrm>
          <a:prstGeom prst="rect">
            <a:avLst/>
          </a:prstGeom>
          <a:noFill/>
        </p:spPr>
        <p:txBody>
          <a:bodyPr wrap="square" lIns="0" tIns="0" rIns="0" bIns="0" anchor="ctr">
            <a:noAutofit/>
          </a:bodyPr>
          <a:lstStyle/>
          <a:p>
            <a:pPr algn="ctr">
              <a:lnSpc>
                <a:spcPct val="106000"/>
              </a:lnSpc>
              <a:spcBef>
                <a:spcPts val="0"/>
              </a:spcBef>
              <a:spcAft>
                <a:spcPts val="0"/>
              </a:spcAft>
            </a:pPr>
            <a:r>
              <a:rPr sz="2500" b="1">
                <a:solidFill>
                  <a:srgbClr val="0F2343"/>
                </a:solidFill>
                <a:latin typeface="Aptos"/>
              </a:rPr>
              <a:t>Example 2</a:t>
            </a:r>
          </a:p>
        </p:txBody>
      </p:sp>
      <p:sp>
        <p:nvSpPr>
          <p:cNvPr id="16" name="Text: 500 kg limit"/>
          <p:cNvSpPr txBox="1"/>
          <p:nvPr/>
        </p:nvSpPr>
        <p:spPr>
          <a:xfrm>
            <a:off x="6355080" y="2212848"/>
            <a:ext cx="5029200" cy="310896"/>
          </a:xfrm>
          <a:prstGeom prst="rect">
            <a:avLst/>
          </a:prstGeom>
          <a:noFill/>
        </p:spPr>
        <p:txBody>
          <a:bodyPr wrap="square" lIns="0" tIns="0" rIns="0" bIns="0" anchor="ctr">
            <a:noAutofit/>
          </a:bodyPr>
          <a:lstStyle/>
          <a:p>
            <a:pPr algn="ctr">
              <a:lnSpc>
                <a:spcPct val="106000"/>
              </a:lnSpc>
              <a:spcBef>
                <a:spcPts val="0"/>
              </a:spcBef>
              <a:spcAft>
                <a:spcPts val="0"/>
              </a:spcAft>
            </a:pPr>
            <a:r>
              <a:rPr sz="2100" b="1">
                <a:solidFill>
                  <a:srgbClr val="F97316"/>
                </a:solidFill>
                <a:latin typeface="Aptos"/>
              </a:rPr>
              <a:t>500 kg limit</a:t>
            </a:r>
          </a:p>
        </p:txBody>
      </p:sp>
      <p:graphicFrame>
        <p:nvGraphicFramePr>
          <p:cNvPr id="17" name="Table 16"/>
          <p:cNvGraphicFramePr>
            <a:graphicFrameLocks noGrp="1"/>
          </p:cNvGraphicFramePr>
          <p:nvPr/>
        </p:nvGraphicFramePr>
        <p:xfrm>
          <a:off x="6355080" y="2761488"/>
          <a:ext cx="5029198" cy="2286000"/>
        </p:xfrm>
        <a:graphic>
          <a:graphicData uri="http://schemas.openxmlformats.org/drawingml/2006/table">
            <a:tbl>
              <a:tblPr firstRow="1" bandRow="1">
                <a:tableStyleId>{5C22544A-7EE6-4342-B048-85BDC9FD1C3A}</a:tableStyleId>
              </a:tblPr>
              <a:tblGrid>
                <a:gridCol w="2414015">
                  <a:extLst>
                    <a:ext uri="{9D8B030D-6E8A-4147-A177-3AD203B41FA5}">
                      <a16:colId xmlns:a16="http://schemas.microsoft.com/office/drawing/2014/main" val="20000"/>
                    </a:ext>
                  </a:extLst>
                </a:gridCol>
                <a:gridCol w="1207007">
                  <a:extLst>
                    <a:ext uri="{9D8B030D-6E8A-4147-A177-3AD203B41FA5}">
                      <a16:colId xmlns:a16="http://schemas.microsoft.com/office/drawing/2014/main" val="20001"/>
                    </a:ext>
                  </a:extLst>
                </a:gridCol>
                <a:gridCol w="1408176">
                  <a:extLst>
                    <a:ext uri="{9D8B030D-6E8A-4147-A177-3AD203B41FA5}">
                      <a16:colId xmlns:a16="http://schemas.microsoft.com/office/drawing/2014/main" val="20002"/>
                    </a:ext>
                  </a:extLst>
                </a:gridCol>
              </a:tblGrid>
              <a:tr h="475488">
                <a:tc>
                  <a:txBody>
                    <a:bodyPr/>
                    <a:lstStyle/>
                    <a:p>
                      <a:pPr algn="l">
                        <a:spcBef>
                          <a:spcPts val="0"/>
                        </a:spcBef>
                        <a:spcAft>
                          <a:spcPts val="0"/>
                        </a:spcAft>
                      </a:pPr>
                      <a:r>
                        <a:rPr sz="1800" b="1">
                          <a:solidFill>
                            <a:srgbClr val="FFFFFF"/>
                          </a:solidFill>
                          <a:latin typeface="Aptos"/>
                        </a:rPr>
                        <a:t>Customer</a:t>
                      </a:r>
                    </a:p>
                  </a:txBody>
                  <a:tcPr marL="128016" marR="109728" anchor="ctr">
                    <a:solidFill>
                      <a:srgbClr val="0F2343"/>
                    </a:solidFill>
                  </a:tcPr>
                </a:tc>
                <a:tc>
                  <a:txBody>
                    <a:bodyPr/>
                    <a:lstStyle/>
                    <a:p>
                      <a:pPr algn="r">
                        <a:spcBef>
                          <a:spcPts val="0"/>
                        </a:spcBef>
                        <a:spcAft>
                          <a:spcPts val="0"/>
                        </a:spcAft>
                      </a:pPr>
                      <a:r>
                        <a:rPr sz="1800" b="1">
                          <a:solidFill>
                            <a:srgbClr val="FFFFFF"/>
                          </a:solidFill>
                          <a:latin typeface="Aptos"/>
                        </a:rPr>
                        <a:t>Weight</a:t>
                      </a:r>
                    </a:p>
                  </a:txBody>
                  <a:tcPr marL="128016" marR="109728" anchor="ctr">
                    <a:solidFill>
                      <a:srgbClr val="0F2343"/>
                    </a:solidFill>
                  </a:tcPr>
                </a:tc>
                <a:tc>
                  <a:txBody>
                    <a:bodyPr/>
                    <a:lstStyle/>
                    <a:p>
                      <a:pPr algn="r">
                        <a:spcBef>
                          <a:spcPts val="0"/>
                        </a:spcBef>
                        <a:spcAft>
                          <a:spcPts val="0"/>
                        </a:spcAft>
                      </a:pPr>
                      <a:r>
                        <a:rPr sz="1800" b="1">
                          <a:solidFill>
                            <a:srgbClr val="FFFFFF"/>
                          </a:solidFill>
                          <a:latin typeface="Aptos"/>
                        </a:rPr>
                        <a:t>Revenue</a:t>
                      </a:r>
                    </a:p>
                  </a:txBody>
                  <a:tcPr marL="128016" marR="109728" anchor="ctr">
                    <a:solidFill>
                      <a:srgbClr val="0F2343"/>
                    </a:solidFill>
                  </a:tcPr>
                </a:tc>
                <a:extLst>
                  <a:ext uri="{0D108BD9-81ED-4DB2-BD59-A6C34878D82A}">
                    <a16:rowId xmlns:a16="http://schemas.microsoft.com/office/drawing/2014/main" val="10000"/>
                  </a:ext>
                </a:extLst>
              </a:tr>
              <a:tr h="603504">
                <a:tc>
                  <a:txBody>
                    <a:bodyPr/>
                    <a:lstStyle/>
                    <a:p>
                      <a:pPr algn="l">
                        <a:spcBef>
                          <a:spcPts val="0"/>
                        </a:spcBef>
                        <a:spcAft>
                          <a:spcPts val="0"/>
                        </a:spcAft>
                      </a:pPr>
                      <a:r>
                        <a:rPr sz="2000" b="1">
                          <a:solidFill>
                            <a:srgbClr val="0F2343"/>
                          </a:solidFill>
                          <a:latin typeface="Aptos"/>
                        </a:rPr>
                        <a:t>Atlas Steel</a:t>
                      </a:r>
                    </a:p>
                  </a:txBody>
                  <a:tcPr marL="128016" marR="109728" anchor="ctr">
                    <a:solidFill>
                      <a:srgbClr val="FFF0E5"/>
                    </a:solidFill>
                  </a:tcPr>
                </a:tc>
                <a:tc>
                  <a:txBody>
                    <a:bodyPr/>
                    <a:lstStyle/>
                    <a:p>
                      <a:pPr algn="r">
                        <a:spcBef>
                          <a:spcPts val="0"/>
                        </a:spcBef>
                        <a:spcAft>
                          <a:spcPts val="0"/>
                        </a:spcAft>
                      </a:pPr>
                      <a:r>
                        <a:rPr sz="2000" b="1">
                          <a:solidFill>
                            <a:srgbClr val="0F2343"/>
                          </a:solidFill>
                          <a:latin typeface="Aptos"/>
                        </a:rPr>
                        <a:t>300 kg</a:t>
                      </a:r>
                    </a:p>
                  </a:txBody>
                  <a:tcPr marL="128016" marR="109728" anchor="ctr">
                    <a:solidFill>
                      <a:srgbClr val="FFF0E5"/>
                    </a:solidFill>
                  </a:tcPr>
                </a:tc>
                <a:tc>
                  <a:txBody>
                    <a:bodyPr/>
                    <a:lstStyle/>
                    <a:p>
                      <a:pPr algn="r">
                        <a:spcBef>
                          <a:spcPts val="0"/>
                        </a:spcBef>
                        <a:spcAft>
                          <a:spcPts val="0"/>
                        </a:spcAft>
                      </a:pPr>
                      <a:r>
                        <a:rPr sz="2000" b="1">
                          <a:solidFill>
                            <a:srgbClr val="0F2343"/>
                          </a:solidFill>
                          <a:latin typeface="Aptos"/>
                        </a:rPr>
                        <a:t>$3,000</a:t>
                      </a:r>
                    </a:p>
                  </a:txBody>
                  <a:tcPr marL="128016" marR="109728" anchor="ctr">
                    <a:solidFill>
                      <a:srgbClr val="FFF0E5"/>
                    </a:solidFill>
                  </a:tcPr>
                </a:tc>
                <a:extLst>
                  <a:ext uri="{0D108BD9-81ED-4DB2-BD59-A6C34878D82A}">
                    <a16:rowId xmlns:a16="http://schemas.microsoft.com/office/drawing/2014/main" val="10001"/>
                  </a:ext>
                </a:extLst>
              </a:tr>
              <a:tr h="603504">
                <a:tc>
                  <a:txBody>
                    <a:bodyPr/>
                    <a:lstStyle/>
                    <a:p>
                      <a:pPr algn="l">
                        <a:spcBef>
                          <a:spcPts val="0"/>
                        </a:spcBef>
                        <a:spcAft>
                          <a:spcPts val="0"/>
                        </a:spcAft>
                      </a:pPr>
                      <a:r>
                        <a:rPr sz="2000" b="0">
                          <a:solidFill>
                            <a:srgbClr val="0F2343"/>
                          </a:solidFill>
                          <a:latin typeface="Aptos"/>
                        </a:rPr>
                        <a:t>Bighorn Auto</a:t>
                      </a:r>
                    </a:p>
                  </a:txBody>
                  <a:tcPr marL="128016" marR="109728" anchor="ctr">
                    <a:solidFill>
                      <a:srgbClr val="FFFFFF"/>
                    </a:solidFill>
                  </a:tcPr>
                </a:tc>
                <a:tc>
                  <a:txBody>
                    <a:bodyPr/>
                    <a:lstStyle/>
                    <a:p>
                      <a:pPr algn="r">
                        <a:spcBef>
                          <a:spcPts val="0"/>
                        </a:spcBef>
                        <a:spcAft>
                          <a:spcPts val="0"/>
                        </a:spcAft>
                      </a:pPr>
                      <a:r>
                        <a:rPr sz="2000" b="0">
                          <a:solidFill>
                            <a:srgbClr val="0F2343"/>
                          </a:solidFill>
                          <a:latin typeface="Aptos"/>
                        </a:rPr>
                        <a:t>900 kg</a:t>
                      </a:r>
                    </a:p>
                  </a:txBody>
                  <a:tcPr marL="128016" marR="109728" anchor="ctr">
                    <a:solidFill>
                      <a:srgbClr val="FFFFFF"/>
                    </a:solidFill>
                  </a:tcPr>
                </a:tc>
                <a:tc>
                  <a:txBody>
                    <a:bodyPr/>
                    <a:lstStyle/>
                    <a:p>
                      <a:pPr algn="r">
                        <a:spcBef>
                          <a:spcPts val="0"/>
                        </a:spcBef>
                        <a:spcAft>
                          <a:spcPts val="0"/>
                        </a:spcAft>
                      </a:pPr>
                      <a:r>
                        <a:rPr sz="2000" b="0">
                          <a:solidFill>
                            <a:srgbClr val="0F2343"/>
                          </a:solidFill>
                          <a:latin typeface="Aptos"/>
                        </a:rPr>
                        <a:t>$9,000</a:t>
                      </a:r>
                    </a:p>
                  </a:txBody>
                  <a:tcPr marL="128016" marR="109728" anchor="ctr">
                    <a:solidFill>
                      <a:srgbClr val="FFFFFF"/>
                    </a:solidFill>
                  </a:tcPr>
                </a:tc>
                <a:extLst>
                  <a:ext uri="{0D108BD9-81ED-4DB2-BD59-A6C34878D82A}">
                    <a16:rowId xmlns:a16="http://schemas.microsoft.com/office/drawing/2014/main" val="10002"/>
                  </a:ext>
                </a:extLst>
              </a:tr>
              <a:tr h="603504">
                <a:tc>
                  <a:txBody>
                    <a:bodyPr/>
                    <a:lstStyle/>
                    <a:p>
                      <a:pPr algn="l">
                        <a:spcBef>
                          <a:spcPts val="0"/>
                        </a:spcBef>
                        <a:spcAft>
                          <a:spcPts val="0"/>
                        </a:spcAft>
                      </a:pPr>
                      <a:r>
                        <a:rPr sz="2000" b="0">
                          <a:solidFill>
                            <a:srgbClr val="0F2343"/>
                          </a:solidFill>
                          <a:latin typeface="Aptos"/>
                        </a:rPr>
                        <a:t>Cedar Pharma</a:t>
                      </a:r>
                    </a:p>
                  </a:txBody>
                  <a:tcPr marL="128016" marR="109728" anchor="ctr">
                    <a:solidFill>
                      <a:srgbClr val="FFFFFF"/>
                    </a:solidFill>
                  </a:tcPr>
                </a:tc>
                <a:tc>
                  <a:txBody>
                    <a:bodyPr/>
                    <a:lstStyle/>
                    <a:p>
                      <a:pPr algn="r">
                        <a:spcBef>
                          <a:spcPts val="0"/>
                        </a:spcBef>
                        <a:spcAft>
                          <a:spcPts val="0"/>
                        </a:spcAft>
                      </a:pPr>
                      <a:r>
                        <a:rPr sz="2000" b="0">
                          <a:solidFill>
                            <a:srgbClr val="0F2343"/>
                          </a:solidFill>
                          <a:latin typeface="Aptos"/>
                        </a:rPr>
                        <a:t>300 kg</a:t>
                      </a:r>
                    </a:p>
                  </a:txBody>
                  <a:tcPr marL="128016" marR="109728" anchor="ctr">
                    <a:solidFill>
                      <a:srgbClr val="FFFFFF"/>
                    </a:solidFill>
                  </a:tcPr>
                </a:tc>
                <a:tc>
                  <a:txBody>
                    <a:bodyPr/>
                    <a:lstStyle/>
                    <a:p>
                      <a:pPr algn="r">
                        <a:spcBef>
                          <a:spcPts val="0"/>
                        </a:spcBef>
                        <a:spcAft>
                          <a:spcPts val="0"/>
                        </a:spcAft>
                      </a:pPr>
                      <a:r>
                        <a:rPr sz="2000" b="0">
                          <a:solidFill>
                            <a:srgbClr val="0F2343"/>
                          </a:solidFill>
                          <a:latin typeface="Aptos"/>
                        </a:rPr>
                        <a:t>$800</a:t>
                      </a:r>
                    </a:p>
                  </a:txBody>
                  <a:tcPr marL="128016" marR="109728" anchor="ctr">
                    <a:solidFill>
                      <a:srgbClr val="FFFFFF"/>
                    </a:solidFill>
                  </a:tcPr>
                </a:tc>
                <a:extLst>
                  <a:ext uri="{0D108BD9-81ED-4DB2-BD59-A6C34878D82A}">
                    <a16:rowId xmlns:a16="http://schemas.microsoft.com/office/drawing/2014/main" val="10003"/>
                  </a:ext>
                </a:extLst>
              </a:tr>
            </a:tbl>
          </a:graphicData>
        </a:graphic>
      </p:graphicFrame>
      <p:sp>
        <p:nvSpPr>
          <p:cNvPr id="18" name="Rectangle 17"/>
          <p:cNvSpPr/>
          <p:nvPr/>
        </p:nvSpPr>
        <p:spPr>
          <a:xfrm>
            <a:off x="6355080" y="3236976"/>
            <a:ext cx="5029200" cy="603504"/>
          </a:xfrm>
          <a:prstGeom prst="rect">
            <a:avLst/>
          </a:prstGeom>
          <a:noFill/>
          <a:ln w="2032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 ✓"/>
          <p:cNvSpPr txBox="1"/>
          <p:nvPr/>
        </p:nvSpPr>
        <p:spPr>
          <a:xfrm>
            <a:off x="5980176" y="3319272"/>
            <a:ext cx="310896" cy="384048"/>
          </a:xfrm>
          <a:prstGeom prst="rect">
            <a:avLst/>
          </a:prstGeom>
          <a:noFill/>
        </p:spPr>
        <p:txBody>
          <a:bodyPr wrap="square" lIns="0" tIns="0" rIns="0" bIns="0" anchor="ctr">
            <a:noAutofit/>
          </a:bodyPr>
          <a:lstStyle/>
          <a:p>
            <a:pPr algn="ctr">
              <a:lnSpc>
                <a:spcPct val="106000"/>
              </a:lnSpc>
              <a:spcBef>
                <a:spcPts val="0"/>
              </a:spcBef>
              <a:spcAft>
                <a:spcPts val="0"/>
              </a:spcAft>
            </a:pPr>
            <a:r>
              <a:rPr sz="2100" b="1">
                <a:solidFill>
                  <a:srgbClr val="F97316"/>
                </a:solidFill>
                <a:latin typeface="Segoe UI Symbol"/>
              </a:rPr>
              <a:t>✓</a:t>
            </a:r>
          </a:p>
        </p:txBody>
      </p:sp>
      <p:sp>
        <p:nvSpPr>
          <p:cNvPr id="20" name="Text: Atlas"/>
          <p:cNvSpPr txBox="1"/>
          <p:nvPr/>
        </p:nvSpPr>
        <p:spPr>
          <a:xfrm>
            <a:off x="6355080" y="5276088"/>
            <a:ext cx="5029200" cy="384048"/>
          </a:xfrm>
          <a:prstGeom prst="rect">
            <a:avLst/>
          </a:prstGeom>
          <a:noFill/>
        </p:spPr>
        <p:txBody>
          <a:bodyPr wrap="square" lIns="0" tIns="0" rIns="0" bIns="0" anchor="ctr">
            <a:noAutofit/>
          </a:bodyPr>
          <a:lstStyle/>
          <a:p>
            <a:pPr algn="ctr">
              <a:lnSpc>
                <a:spcPct val="106000"/>
              </a:lnSpc>
              <a:spcBef>
                <a:spcPts val="0"/>
              </a:spcBef>
              <a:spcAft>
                <a:spcPts val="0"/>
              </a:spcAft>
            </a:pPr>
            <a:r>
              <a:rPr sz="2300" b="1">
                <a:solidFill>
                  <a:srgbClr val="0F2343"/>
                </a:solidFill>
                <a:latin typeface="Aptos"/>
              </a:rPr>
              <a:t>Atlas</a:t>
            </a:r>
          </a:p>
        </p:txBody>
      </p:sp>
      <p:sp>
        <p:nvSpPr>
          <p:cNvPr id="21" name="Text: $3,000  ·  300 kg"/>
          <p:cNvSpPr txBox="1"/>
          <p:nvPr/>
        </p:nvSpPr>
        <p:spPr>
          <a:xfrm>
            <a:off x="6355080" y="5724144"/>
            <a:ext cx="5029200" cy="429768"/>
          </a:xfrm>
          <a:prstGeom prst="rect">
            <a:avLst/>
          </a:prstGeom>
          <a:noFill/>
        </p:spPr>
        <p:txBody>
          <a:bodyPr wrap="square" lIns="0" tIns="0" rIns="0" bIns="0" anchor="ctr">
            <a:noAutofit/>
          </a:bodyPr>
          <a:lstStyle/>
          <a:p>
            <a:pPr algn="ctr">
              <a:lnSpc>
                <a:spcPct val="106000"/>
              </a:lnSpc>
              <a:spcBef>
                <a:spcPts val="0"/>
              </a:spcBef>
              <a:spcAft>
                <a:spcPts val="0"/>
              </a:spcAft>
            </a:pPr>
            <a:r>
              <a:rPr sz="2700" b="1">
                <a:solidFill>
                  <a:srgbClr val="0F2343"/>
                </a:solidFill>
                <a:latin typeface="Aptos"/>
              </a:rPr>
              <a:t>$3,000  ·  300 kg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lide title"/>
          <p:cNvSpPr txBox="1"/>
          <p:nvPr/>
        </p:nvSpPr>
        <p:spPr>
          <a:xfrm>
            <a:off x="502920" y="292608"/>
            <a:ext cx="11183112" cy="1051560"/>
          </a:xfrm>
          <a:prstGeom prst="rect">
            <a:avLst/>
          </a:prstGeom>
          <a:noFill/>
        </p:spPr>
        <p:txBody>
          <a:bodyPr wrap="square" lIns="0" tIns="0" rIns="0" bIns="0" anchor="t">
            <a:noAutofit/>
          </a:bodyPr>
          <a:lstStyle/>
          <a:p>
            <a:pPr algn="l">
              <a:lnSpc>
                <a:spcPct val="106000"/>
              </a:lnSpc>
              <a:spcBef>
                <a:spcPts val="0"/>
              </a:spcBef>
              <a:spcAft>
                <a:spcPts val="0"/>
              </a:spcAft>
            </a:pPr>
            <a:r>
              <a:rPr sz="4000" b="1" dirty="0">
                <a:solidFill>
                  <a:srgbClr val="0F2343"/>
                </a:solidFill>
                <a:latin typeface="Aptos Display"/>
              </a:rPr>
              <a:t>The business rules lead to a knapsack model</a:t>
            </a:r>
          </a:p>
        </p:txBody>
      </p:sp>
      <p:sp>
        <p:nvSpPr>
          <p:cNvPr id="3" name="Rectangle 2"/>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9"/>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9</a:t>
            </a:r>
          </a:p>
        </p:txBody>
      </p:sp>
      <p:sp>
        <p:nvSpPr>
          <p:cNvPr id="6" name="Text: Each shipment flies whole or stays"/>
          <p:cNvSpPr txBox="1"/>
          <p:nvPr/>
        </p:nvSpPr>
        <p:spPr>
          <a:xfrm>
            <a:off x="749808" y="1965960"/>
            <a:ext cx="4709160" cy="932688"/>
          </a:xfrm>
          <a:prstGeom prst="rect">
            <a:avLst/>
          </a:prstGeom>
          <a:noFill/>
        </p:spPr>
        <p:txBody>
          <a:bodyPr wrap="square" lIns="0" tIns="0" rIns="0" bIns="0" anchor="ctr">
            <a:noAutofit/>
          </a:bodyPr>
          <a:lstStyle/>
          <a:p>
            <a:pPr algn="l">
              <a:lnSpc>
                <a:spcPct val="106000"/>
              </a:lnSpc>
              <a:spcBef>
                <a:spcPts val="0"/>
              </a:spcBef>
              <a:spcAft>
                <a:spcPts val="0"/>
              </a:spcAft>
            </a:pPr>
            <a:r>
              <a:rPr sz="2700" b="1">
                <a:solidFill>
                  <a:srgbClr val="0F2343"/>
                </a:solidFill>
                <a:latin typeface="Aptos"/>
              </a:rPr>
              <a:t>Each shipment flies</a:t>
            </a:r>
          </a:p>
          <a:p>
            <a:pPr algn="l">
              <a:lnSpc>
                <a:spcPct val="106000"/>
              </a:lnSpc>
              <a:spcBef>
                <a:spcPts val="0"/>
              </a:spcBef>
              <a:spcAft>
                <a:spcPts val="0"/>
              </a:spcAft>
            </a:pPr>
            <a:r>
              <a:rPr sz="2700" b="1">
                <a:solidFill>
                  <a:srgbClr val="0F2343"/>
                </a:solidFill>
                <a:latin typeface="Aptos"/>
              </a:rPr>
              <a:t>whole or stays</a:t>
            </a:r>
          </a:p>
        </p:txBody>
      </p:sp>
      <p:cxnSp>
        <p:nvCxnSpPr>
          <p:cNvPr id="7" name="Connector 6"/>
          <p:cNvCxnSpPr/>
          <p:nvPr/>
        </p:nvCxnSpPr>
        <p:spPr>
          <a:xfrm>
            <a:off x="5577840" y="2423160"/>
            <a:ext cx="530352" cy="0"/>
          </a:xfrm>
          <a:prstGeom prst="line">
            <a:avLst/>
          </a:prstGeom>
          <a:ln w="31750">
            <a:solidFill>
              <a:srgbClr val="F9731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Text: xᵢ ∈ {0, 1}"/>
          <p:cNvSpPr txBox="1"/>
          <p:nvPr/>
        </p:nvSpPr>
        <p:spPr>
          <a:xfrm>
            <a:off x="6492240" y="1975104"/>
            <a:ext cx="4937760" cy="886968"/>
          </a:xfrm>
          <a:prstGeom prst="rect">
            <a:avLst/>
          </a:prstGeom>
          <a:noFill/>
        </p:spPr>
        <p:txBody>
          <a:bodyPr wrap="square" lIns="0" tIns="0" rIns="0" bIns="0" anchor="ctr">
            <a:noAutofit/>
          </a:bodyPr>
          <a:lstStyle/>
          <a:p>
            <a:pPr algn="l">
              <a:lnSpc>
                <a:spcPct val="106000"/>
              </a:lnSpc>
              <a:spcBef>
                <a:spcPts val="0"/>
              </a:spcBef>
              <a:spcAft>
                <a:spcPts val="0"/>
              </a:spcAft>
            </a:pPr>
            <a:r>
              <a:rPr sz="3800" b="0">
                <a:solidFill>
                  <a:srgbClr val="0F2343"/>
                </a:solidFill>
                <a:latin typeface="Cambria Math"/>
              </a:rPr>
              <a:t>xᵢ ∈ {0, 1}</a:t>
            </a:r>
          </a:p>
        </p:txBody>
      </p:sp>
      <p:sp>
        <p:nvSpPr>
          <p:cNvPr id="9" name="Text: Earn the most revenue"/>
          <p:cNvSpPr txBox="1"/>
          <p:nvPr/>
        </p:nvSpPr>
        <p:spPr>
          <a:xfrm>
            <a:off x="749808" y="3227832"/>
            <a:ext cx="4709160" cy="932688"/>
          </a:xfrm>
          <a:prstGeom prst="rect">
            <a:avLst/>
          </a:prstGeom>
          <a:noFill/>
        </p:spPr>
        <p:txBody>
          <a:bodyPr wrap="square" lIns="0" tIns="0" rIns="0" bIns="0" anchor="ctr">
            <a:noAutofit/>
          </a:bodyPr>
          <a:lstStyle/>
          <a:p>
            <a:pPr algn="l">
              <a:lnSpc>
                <a:spcPct val="106000"/>
              </a:lnSpc>
              <a:spcBef>
                <a:spcPts val="0"/>
              </a:spcBef>
              <a:spcAft>
                <a:spcPts val="0"/>
              </a:spcAft>
            </a:pPr>
            <a:r>
              <a:rPr sz="2700" b="1">
                <a:solidFill>
                  <a:srgbClr val="0F2343"/>
                </a:solidFill>
                <a:latin typeface="Aptos"/>
              </a:rPr>
              <a:t>Earn the most revenue</a:t>
            </a:r>
          </a:p>
        </p:txBody>
      </p:sp>
      <p:cxnSp>
        <p:nvCxnSpPr>
          <p:cNvPr id="10" name="Connector 9"/>
          <p:cNvCxnSpPr/>
          <p:nvPr/>
        </p:nvCxnSpPr>
        <p:spPr>
          <a:xfrm>
            <a:off x="5577840" y="3685032"/>
            <a:ext cx="530352" cy="0"/>
          </a:xfrm>
          <a:prstGeom prst="line">
            <a:avLst/>
          </a:prstGeom>
          <a:ln w="31750">
            <a:solidFill>
              <a:srgbClr val="F9731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Text: max  ∑ᵢ rᵢ xᵢ"/>
          <p:cNvSpPr txBox="1"/>
          <p:nvPr/>
        </p:nvSpPr>
        <p:spPr>
          <a:xfrm>
            <a:off x="6492240" y="3236976"/>
            <a:ext cx="4937760" cy="886968"/>
          </a:xfrm>
          <a:prstGeom prst="rect">
            <a:avLst/>
          </a:prstGeom>
          <a:noFill/>
        </p:spPr>
        <p:txBody>
          <a:bodyPr wrap="square" lIns="0" tIns="0" rIns="0" bIns="0" anchor="ctr">
            <a:noAutofit/>
          </a:bodyPr>
          <a:lstStyle/>
          <a:p>
            <a:pPr algn="l">
              <a:lnSpc>
                <a:spcPct val="106000"/>
              </a:lnSpc>
              <a:spcBef>
                <a:spcPts val="0"/>
              </a:spcBef>
              <a:spcAft>
                <a:spcPts val="0"/>
              </a:spcAft>
            </a:pPr>
            <a:r>
              <a:rPr sz="3800" b="0">
                <a:solidFill>
                  <a:srgbClr val="0F2343"/>
                </a:solidFill>
                <a:latin typeface="Cambria Math"/>
              </a:rPr>
              <a:t>max  ∑ᵢ rᵢ xᵢ</a:t>
            </a:r>
          </a:p>
        </p:txBody>
      </p:sp>
      <p:sp>
        <p:nvSpPr>
          <p:cNvPr id="12" name="Text: Stay within the weight limit"/>
          <p:cNvSpPr txBox="1"/>
          <p:nvPr/>
        </p:nvSpPr>
        <p:spPr>
          <a:xfrm>
            <a:off x="749808" y="4489704"/>
            <a:ext cx="4709160" cy="932688"/>
          </a:xfrm>
          <a:prstGeom prst="rect">
            <a:avLst/>
          </a:prstGeom>
          <a:noFill/>
        </p:spPr>
        <p:txBody>
          <a:bodyPr wrap="square" lIns="0" tIns="0" rIns="0" bIns="0" anchor="ctr">
            <a:noAutofit/>
          </a:bodyPr>
          <a:lstStyle/>
          <a:p>
            <a:pPr algn="l">
              <a:lnSpc>
                <a:spcPct val="106000"/>
              </a:lnSpc>
              <a:spcBef>
                <a:spcPts val="0"/>
              </a:spcBef>
              <a:spcAft>
                <a:spcPts val="0"/>
              </a:spcAft>
            </a:pPr>
            <a:r>
              <a:rPr sz="2700" b="1">
                <a:solidFill>
                  <a:srgbClr val="0F2343"/>
                </a:solidFill>
                <a:latin typeface="Aptos"/>
              </a:rPr>
              <a:t>Stay within the weight limit</a:t>
            </a:r>
          </a:p>
        </p:txBody>
      </p:sp>
      <p:cxnSp>
        <p:nvCxnSpPr>
          <p:cNvPr id="13" name="Connector 12"/>
          <p:cNvCxnSpPr/>
          <p:nvPr/>
        </p:nvCxnSpPr>
        <p:spPr>
          <a:xfrm>
            <a:off x="5577840" y="4946904"/>
            <a:ext cx="530352" cy="0"/>
          </a:xfrm>
          <a:prstGeom prst="line">
            <a:avLst/>
          </a:prstGeom>
          <a:ln w="31750">
            <a:solidFill>
              <a:srgbClr val="F9731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Text: ∑ᵢ wᵢ xᵢ ≤ W"/>
          <p:cNvSpPr txBox="1"/>
          <p:nvPr/>
        </p:nvSpPr>
        <p:spPr>
          <a:xfrm>
            <a:off x="6492240" y="4498848"/>
            <a:ext cx="4937760" cy="886968"/>
          </a:xfrm>
          <a:prstGeom prst="rect">
            <a:avLst/>
          </a:prstGeom>
          <a:noFill/>
        </p:spPr>
        <p:txBody>
          <a:bodyPr wrap="square" lIns="0" tIns="0" rIns="0" bIns="0" anchor="ctr">
            <a:noAutofit/>
          </a:bodyPr>
          <a:lstStyle/>
          <a:p>
            <a:pPr algn="l">
              <a:lnSpc>
                <a:spcPct val="106000"/>
              </a:lnSpc>
              <a:spcBef>
                <a:spcPts val="0"/>
              </a:spcBef>
              <a:spcAft>
                <a:spcPts val="0"/>
              </a:spcAft>
            </a:pPr>
            <a:r>
              <a:rPr sz="3800" b="0">
                <a:solidFill>
                  <a:srgbClr val="0F2343"/>
                </a:solidFill>
                <a:latin typeface="Cambria Math"/>
              </a:rPr>
              <a:t>∑ᵢ wᵢ xᵢ ≤ W</a:t>
            </a:r>
          </a:p>
        </p:txBody>
      </p:sp>
      <p:sp>
        <p:nvSpPr>
          <p:cNvPr id="15" name="Text: i: shipment   ·   xᵢ: fly / stay   ·   rᵢ: revenue   ·   wᵢ: weig"/>
          <p:cNvSpPr txBox="1"/>
          <p:nvPr/>
        </p:nvSpPr>
        <p:spPr>
          <a:xfrm>
            <a:off x="676656" y="5879592"/>
            <a:ext cx="10835640" cy="438912"/>
          </a:xfrm>
          <a:prstGeom prst="rect">
            <a:avLst/>
          </a:prstGeom>
          <a:noFill/>
        </p:spPr>
        <p:txBody>
          <a:bodyPr wrap="square" lIns="0" tIns="0" rIns="0" bIns="0" anchor="ctr">
            <a:noAutofit/>
          </a:bodyPr>
          <a:lstStyle/>
          <a:p>
            <a:pPr algn="ctr">
              <a:lnSpc>
                <a:spcPct val="106000"/>
              </a:lnSpc>
              <a:spcBef>
                <a:spcPts val="0"/>
              </a:spcBef>
              <a:spcAft>
                <a:spcPts val="0"/>
              </a:spcAft>
            </a:pPr>
            <a:r>
              <a:rPr sz="1900" b="0">
                <a:solidFill>
                  <a:srgbClr val="0F2343"/>
                </a:solidFill>
                <a:latin typeface="Aptos"/>
              </a:rPr>
              <a:t>i: shipment   ·   xᵢ: fly / stay   ·   rᵢ: revenue   ·   wᵢ: weight   ·   W: weight limit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57BA0-CE2F-AFA8-BFD4-9834059E4E7D}"/>
            </a:ext>
          </a:extLst>
        </p:cNvPr>
        <p:cNvGrpSpPr/>
        <p:nvPr/>
      </p:nvGrpSpPr>
      <p:grpSpPr>
        <a:xfrm>
          <a:off x="0" y="0"/>
          <a:ext cx="0" cy="0"/>
          <a:chOff x="0" y="0"/>
          <a:chExt cx="0" cy="0"/>
        </a:xfrm>
      </p:grpSpPr>
      <p:sp>
        <p:nvSpPr>
          <p:cNvPr id="2" name="Slide title">
            <a:extLst>
              <a:ext uri="{FF2B5EF4-FFF2-40B4-BE49-F238E27FC236}">
                <a16:creationId xmlns:a16="http://schemas.microsoft.com/office/drawing/2014/main" id="{5287EE04-5C81-78EF-F20E-850D2906BDAF}"/>
              </a:ext>
            </a:extLst>
          </p:cNvPr>
          <p:cNvSpPr txBox="1"/>
          <p:nvPr/>
        </p:nvSpPr>
        <p:spPr>
          <a:xfrm>
            <a:off x="502920" y="246888"/>
            <a:ext cx="11544300" cy="1188720"/>
          </a:xfrm>
          <a:prstGeom prst="rect">
            <a:avLst/>
          </a:prstGeom>
          <a:noFill/>
        </p:spPr>
        <p:txBody>
          <a:bodyPr wrap="square" lIns="0" tIns="0" rIns="0" bIns="0" anchor="t">
            <a:noAutofit/>
          </a:bodyPr>
          <a:lstStyle/>
          <a:p>
            <a:pPr algn="l">
              <a:lnSpc>
                <a:spcPct val="106000"/>
              </a:lnSpc>
              <a:spcBef>
                <a:spcPts val="0"/>
              </a:spcBef>
              <a:spcAft>
                <a:spcPts val="0"/>
              </a:spcAft>
            </a:pPr>
            <a:r>
              <a:rPr lang="en-US" sz="4000" b="1" dirty="0">
                <a:solidFill>
                  <a:srgbClr val="0F2343"/>
                </a:solidFill>
                <a:latin typeface="Aptos Display"/>
              </a:rPr>
              <a:t>Agenda for today</a:t>
            </a:r>
            <a:endParaRPr sz="4000" b="1" dirty="0">
              <a:solidFill>
                <a:srgbClr val="0F2343"/>
              </a:solidFill>
              <a:latin typeface="Aptos Display"/>
            </a:endParaRPr>
          </a:p>
        </p:txBody>
      </p:sp>
      <p:sp>
        <p:nvSpPr>
          <p:cNvPr id="3" name="Rectangle 2">
            <a:extLst>
              <a:ext uri="{FF2B5EF4-FFF2-40B4-BE49-F238E27FC236}">
                <a16:creationId xmlns:a16="http://schemas.microsoft.com/office/drawing/2014/main" id="{56C53D3D-DCD1-2E33-1F86-BA5A057EB8E1}"/>
              </a:ext>
            </a:extLst>
          </p:cNvPr>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1">
            <a:extLst>
              <a:ext uri="{FF2B5EF4-FFF2-40B4-BE49-F238E27FC236}">
                <a16:creationId xmlns:a16="http://schemas.microsoft.com/office/drawing/2014/main" id="{9CE6F21F-7702-3D97-6AF6-4EDB7D935CD5}"/>
              </a:ext>
            </a:extLst>
          </p:cNvPr>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1</a:t>
            </a:r>
          </a:p>
        </p:txBody>
      </p:sp>
      <p:sp>
        <p:nvSpPr>
          <p:cNvPr id="6" name="TextBox 5">
            <a:extLst>
              <a:ext uri="{FF2B5EF4-FFF2-40B4-BE49-F238E27FC236}">
                <a16:creationId xmlns:a16="http://schemas.microsoft.com/office/drawing/2014/main" id="{BE7A3188-008F-CA72-70D1-8DA4481E5DDD}"/>
              </a:ext>
            </a:extLst>
          </p:cNvPr>
          <p:cNvSpPr txBox="1"/>
          <p:nvPr/>
        </p:nvSpPr>
        <p:spPr>
          <a:xfrm>
            <a:off x="458724" y="1749871"/>
            <a:ext cx="11274552" cy="3807004"/>
          </a:xfrm>
          <a:prstGeom prst="rect">
            <a:avLst/>
          </a:prstGeom>
          <a:noFill/>
        </p:spPr>
        <p:txBody>
          <a:bodyPr wrap="square" tIns="0" rIns="45720" bIns="0">
            <a:spAutoFit/>
          </a:bodyPr>
          <a:lstStyle/>
          <a:p>
            <a:pPr marL="285750" indent="-285750" algn="l">
              <a:lnSpc>
                <a:spcPct val="200000"/>
              </a:lnSpc>
              <a:buFont typeface="Arial" panose="020B0604020202020204" pitchFamily="34" charset="0"/>
              <a:buChar char="•"/>
            </a:pPr>
            <a:r>
              <a:rPr lang="en-US" sz="3200" dirty="0">
                <a:solidFill>
                  <a:srgbClr val="0F2343"/>
                </a:solidFill>
                <a:latin typeface="Aptos"/>
              </a:rPr>
              <a:t>Part I – What is a decision-support system?</a:t>
            </a:r>
          </a:p>
          <a:p>
            <a:pPr marL="285750" indent="-285750" algn="l">
              <a:lnSpc>
                <a:spcPct val="200000"/>
              </a:lnSpc>
              <a:buFont typeface="Arial" panose="020B0604020202020204" pitchFamily="34" charset="0"/>
              <a:buChar char="•"/>
            </a:pPr>
            <a:r>
              <a:rPr lang="en-US" sz="3200" dirty="0">
                <a:solidFill>
                  <a:srgbClr val="0F2343"/>
                </a:solidFill>
                <a:latin typeface="Aptos"/>
              </a:rPr>
              <a:t>Part II – Are we solving the right problem?</a:t>
            </a:r>
          </a:p>
          <a:p>
            <a:pPr marL="285750" indent="-285750" algn="l">
              <a:lnSpc>
                <a:spcPct val="200000"/>
              </a:lnSpc>
              <a:buFont typeface="Arial" panose="020B0604020202020204" pitchFamily="34" charset="0"/>
              <a:buChar char="•"/>
            </a:pPr>
            <a:r>
              <a:rPr lang="en-US" sz="3200" b="1" dirty="0">
                <a:solidFill>
                  <a:srgbClr val="0F2343"/>
                </a:solidFill>
                <a:latin typeface="Aptos"/>
              </a:rPr>
              <a:t>Part III – Are we solving the problem right?</a:t>
            </a:r>
          </a:p>
          <a:p>
            <a:pPr marL="285750" indent="-285750">
              <a:lnSpc>
                <a:spcPct val="200000"/>
              </a:lnSpc>
              <a:buFont typeface="Arial" panose="020B0604020202020204" pitchFamily="34" charset="0"/>
              <a:buChar char="•"/>
            </a:pPr>
            <a:r>
              <a:rPr lang="en-US" sz="3200" dirty="0">
                <a:solidFill>
                  <a:srgbClr val="0F2343"/>
                </a:solidFill>
                <a:latin typeface="Aptos"/>
              </a:rPr>
              <a:t>Part IV – Closing &amp; conclusions</a:t>
            </a:r>
            <a:endParaRPr lang="en-US" sz="2800" dirty="0">
              <a:solidFill>
                <a:srgbClr val="0F2343"/>
              </a:solidFill>
              <a:latin typeface="Aptos"/>
            </a:endParaRPr>
          </a:p>
        </p:txBody>
      </p:sp>
    </p:spTree>
    <p:extLst>
      <p:ext uri="{BB962C8B-B14F-4D97-AF65-F5344CB8AC3E}">
        <p14:creationId xmlns:p14="http://schemas.microsoft.com/office/powerpoint/2010/main" val="4084836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lide title"/>
          <p:cNvSpPr txBox="1"/>
          <p:nvPr/>
        </p:nvSpPr>
        <p:spPr>
          <a:xfrm>
            <a:off x="502920" y="292608"/>
            <a:ext cx="11183112" cy="1051560"/>
          </a:xfrm>
          <a:prstGeom prst="rect">
            <a:avLst/>
          </a:prstGeom>
          <a:noFill/>
        </p:spPr>
        <p:txBody>
          <a:bodyPr wrap="square" lIns="0" tIns="0" rIns="0" bIns="0" anchor="t">
            <a:noAutofit/>
          </a:bodyPr>
          <a:lstStyle/>
          <a:p>
            <a:pPr algn="l">
              <a:lnSpc>
                <a:spcPct val="106000"/>
              </a:lnSpc>
              <a:spcBef>
                <a:spcPts val="0"/>
              </a:spcBef>
              <a:spcAft>
                <a:spcPts val="0"/>
              </a:spcAft>
            </a:pPr>
            <a:r>
              <a:rPr sz="4000" b="1" dirty="0">
                <a:solidFill>
                  <a:srgbClr val="0F2343"/>
                </a:solidFill>
                <a:latin typeface="Aptos Display"/>
              </a:rPr>
              <a:t>Software is a different kind of engineering</a:t>
            </a:r>
          </a:p>
        </p:txBody>
      </p:sp>
      <p:sp>
        <p:nvSpPr>
          <p:cNvPr id="3" name="Rectangle 2"/>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10"/>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10</a:t>
            </a:r>
          </a:p>
        </p:txBody>
      </p:sp>
      <p:sp>
        <p:nvSpPr>
          <p:cNvPr id="6" name="Text: Civil engineering"/>
          <p:cNvSpPr txBox="1"/>
          <p:nvPr/>
        </p:nvSpPr>
        <p:spPr>
          <a:xfrm>
            <a:off x="713232" y="1801368"/>
            <a:ext cx="5120640" cy="411480"/>
          </a:xfrm>
          <a:prstGeom prst="rect">
            <a:avLst/>
          </a:prstGeom>
          <a:noFill/>
        </p:spPr>
        <p:txBody>
          <a:bodyPr wrap="square" lIns="0" tIns="0" rIns="0" bIns="0" anchor="ctr">
            <a:noAutofit/>
          </a:bodyPr>
          <a:lstStyle/>
          <a:p>
            <a:pPr algn="ctr">
              <a:lnSpc>
                <a:spcPct val="106000"/>
              </a:lnSpc>
              <a:spcBef>
                <a:spcPts val="0"/>
              </a:spcBef>
              <a:spcAft>
                <a:spcPts val="0"/>
              </a:spcAft>
            </a:pPr>
            <a:r>
              <a:rPr sz="2700" b="1">
                <a:solidFill>
                  <a:srgbClr val="0F2343"/>
                </a:solidFill>
                <a:latin typeface="Aptos"/>
              </a:rPr>
              <a:t>Civil engineering</a:t>
            </a:r>
          </a:p>
        </p:txBody>
      </p:sp>
      <p:pic>
        <p:nvPicPr>
          <p:cNvPr id="7" name="civil-engineering" descr="civil engineering"/>
          <p:cNvPicPr>
            <a:picLocks noChangeAspect="1"/>
          </p:cNvPicPr>
          <p:nvPr/>
        </p:nvPicPr>
        <p:blipFill>
          <a:blip r:embed="rId3"/>
          <a:srcRect t="14424" b="14424"/>
          <a:stretch>
            <a:fillRect/>
          </a:stretch>
        </p:blipFill>
        <p:spPr>
          <a:xfrm>
            <a:off x="713232" y="2359152"/>
            <a:ext cx="5120640" cy="2432304"/>
          </a:xfrm>
          <a:prstGeom prst="rect">
            <a:avLst/>
          </a:prstGeom>
        </p:spPr>
      </p:pic>
      <p:sp>
        <p:nvSpPr>
          <p:cNvPr id="8" name="Text: Requirements largely known"/>
          <p:cNvSpPr txBox="1"/>
          <p:nvPr/>
        </p:nvSpPr>
        <p:spPr>
          <a:xfrm>
            <a:off x="713232" y="5001768"/>
            <a:ext cx="5120640" cy="384048"/>
          </a:xfrm>
          <a:prstGeom prst="rect">
            <a:avLst/>
          </a:prstGeom>
          <a:noFill/>
        </p:spPr>
        <p:txBody>
          <a:bodyPr wrap="square" lIns="0" tIns="0" rIns="0" bIns="0" anchor="ctr">
            <a:noAutofit/>
          </a:bodyPr>
          <a:lstStyle/>
          <a:p>
            <a:pPr algn="ctr">
              <a:lnSpc>
                <a:spcPct val="106000"/>
              </a:lnSpc>
              <a:spcBef>
                <a:spcPts val="0"/>
              </a:spcBef>
              <a:spcAft>
                <a:spcPts val="0"/>
              </a:spcAft>
            </a:pPr>
            <a:r>
              <a:rPr sz="2300" b="1">
                <a:solidFill>
                  <a:srgbClr val="0F2343"/>
                </a:solidFill>
                <a:latin typeface="Aptos"/>
              </a:rPr>
              <a:t>Requirements largely known</a:t>
            </a:r>
          </a:p>
        </p:txBody>
      </p:sp>
      <p:sp>
        <p:nvSpPr>
          <p:cNvPr id="9" name="Text: Small errors tolerated"/>
          <p:cNvSpPr txBox="1"/>
          <p:nvPr/>
        </p:nvSpPr>
        <p:spPr>
          <a:xfrm>
            <a:off x="713232" y="5486400"/>
            <a:ext cx="5120640" cy="374904"/>
          </a:xfrm>
          <a:prstGeom prst="rect">
            <a:avLst/>
          </a:prstGeom>
          <a:noFill/>
        </p:spPr>
        <p:txBody>
          <a:bodyPr wrap="square" lIns="0" tIns="0" rIns="0" bIns="0" anchor="ctr">
            <a:noAutofit/>
          </a:bodyPr>
          <a:lstStyle/>
          <a:p>
            <a:pPr algn="ctr">
              <a:lnSpc>
                <a:spcPct val="106000"/>
              </a:lnSpc>
              <a:spcBef>
                <a:spcPts val="0"/>
              </a:spcBef>
              <a:spcAft>
                <a:spcPts val="0"/>
              </a:spcAft>
            </a:pPr>
            <a:r>
              <a:rPr sz="2300" b="0">
                <a:solidFill>
                  <a:srgbClr val="0F2343"/>
                </a:solidFill>
                <a:latin typeface="Aptos"/>
              </a:rPr>
              <a:t>Small errors tolerated</a:t>
            </a:r>
          </a:p>
        </p:txBody>
      </p:sp>
      <p:sp>
        <p:nvSpPr>
          <p:cNvPr id="10" name="Text: Software engineering"/>
          <p:cNvSpPr txBox="1"/>
          <p:nvPr/>
        </p:nvSpPr>
        <p:spPr>
          <a:xfrm>
            <a:off x="6355080" y="1801368"/>
            <a:ext cx="5120640" cy="411480"/>
          </a:xfrm>
          <a:prstGeom prst="rect">
            <a:avLst/>
          </a:prstGeom>
          <a:noFill/>
        </p:spPr>
        <p:txBody>
          <a:bodyPr wrap="square" lIns="0" tIns="0" rIns="0" bIns="0" anchor="ctr">
            <a:noAutofit/>
          </a:bodyPr>
          <a:lstStyle/>
          <a:p>
            <a:pPr algn="ctr">
              <a:lnSpc>
                <a:spcPct val="106000"/>
              </a:lnSpc>
              <a:spcBef>
                <a:spcPts val="0"/>
              </a:spcBef>
              <a:spcAft>
                <a:spcPts val="0"/>
              </a:spcAft>
            </a:pPr>
            <a:r>
              <a:rPr sz="2700" b="1">
                <a:solidFill>
                  <a:srgbClr val="0F2343"/>
                </a:solidFill>
                <a:latin typeface="Aptos"/>
              </a:rPr>
              <a:t>Software engineering</a:t>
            </a:r>
          </a:p>
        </p:txBody>
      </p:sp>
      <p:pic>
        <p:nvPicPr>
          <p:cNvPr id="11" name="software-engineering" descr="software engineering"/>
          <p:cNvPicPr>
            <a:picLocks noChangeAspect="1"/>
          </p:cNvPicPr>
          <p:nvPr/>
        </p:nvPicPr>
        <p:blipFill>
          <a:blip r:embed="rId4"/>
          <a:srcRect t="7778" b="7778"/>
          <a:stretch>
            <a:fillRect/>
          </a:stretch>
        </p:blipFill>
        <p:spPr>
          <a:xfrm>
            <a:off x="6355080" y="2359152"/>
            <a:ext cx="5120640" cy="2432304"/>
          </a:xfrm>
          <a:prstGeom prst="rect">
            <a:avLst/>
          </a:prstGeom>
        </p:spPr>
      </p:pic>
      <p:sp>
        <p:nvSpPr>
          <p:cNvPr id="12" name="Text: Requirements emerge"/>
          <p:cNvSpPr txBox="1"/>
          <p:nvPr/>
        </p:nvSpPr>
        <p:spPr>
          <a:xfrm>
            <a:off x="6355080" y="5001768"/>
            <a:ext cx="5120640" cy="384048"/>
          </a:xfrm>
          <a:prstGeom prst="rect">
            <a:avLst/>
          </a:prstGeom>
          <a:noFill/>
        </p:spPr>
        <p:txBody>
          <a:bodyPr wrap="square" lIns="0" tIns="0" rIns="0" bIns="0" anchor="ctr">
            <a:noAutofit/>
          </a:bodyPr>
          <a:lstStyle/>
          <a:p>
            <a:pPr algn="ctr">
              <a:lnSpc>
                <a:spcPct val="106000"/>
              </a:lnSpc>
              <a:spcBef>
                <a:spcPts val="0"/>
              </a:spcBef>
              <a:spcAft>
                <a:spcPts val="0"/>
              </a:spcAft>
            </a:pPr>
            <a:r>
              <a:rPr sz="2300" b="1">
                <a:solidFill>
                  <a:srgbClr val="0F2343"/>
                </a:solidFill>
                <a:latin typeface="Aptos"/>
              </a:rPr>
              <a:t>Requirements emerge</a:t>
            </a:r>
          </a:p>
        </p:txBody>
      </p:sp>
      <p:sp>
        <p:nvSpPr>
          <p:cNvPr id="13" name="Text: Tiny errors can matter"/>
          <p:cNvSpPr txBox="1"/>
          <p:nvPr/>
        </p:nvSpPr>
        <p:spPr>
          <a:xfrm>
            <a:off x="6355080" y="5486400"/>
            <a:ext cx="5120640" cy="374904"/>
          </a:xfrm>
          <a:prstGeom prst="rect">
            <a:avLst/>
          </a:prstGeom>
          <a:noFill/>
        </p:spPr>
        <p:txBody>
          <a:bodyPr wrap="square" lIns="0" tIns="0" rIns="0" bIns="0" anchor="ctr">
            <a:noAutofit/>
          </a:bodyPr>
          <a:lstStyle/>
          <a:p>
            <a:pPr algn="ctr">
              <a:lnSpc>
                <a:spcPct val="106000"/>
              </a:lnSpc>
              <a:spcBef>
                <a:spcPts val="0"/>
              </a:spcBef>
              <a:spcAft>
                <a:spcPts val="0"/>
              </a:spcAft>
            </a:pPr>
            <a:r>
              <a:rPr sz="2300" b="0">
                <a:solidFill>
                  <a:srgbClr val="0F2343"/>
                </a:solidFill>
                <a:latin typeface="Aptos"/>
              </a:rPr>
              <a:t>Tiny errors can matter</a:t>
            </a:r>
          </a:p>
        </p:txBody>
      </p:sp>
      <p:sp>
        <p:nvSpPr>
          <p:cNvPr id="14" name="Text: Learn quickly  ·  Change quickly and safely"/>
          <p:cNvSpPr txBox="1"/>
          <p:nvPr/>
        </p:nvSpPr>
        <p:spPr>
          <a:xfrm>
            <a:off x="731520" y="6053328"/>
            <a:ext cx="10744200" cy="338328"/>
          </a:xfrm>
          <a:prstGeom prst="rect">
            <a:avLst/>
          </a:prstGeom>
          <a:noFill/>
        </p:spPr>
        <p:txBody>
          <a:bodyPr wrap="square" lIns="0" tIns="0" rIns="0" bIns="0" anchor="ctr">
            <a:noAutofit/>
          </a:bodyPr>
          <a:lstStyle/>
          <a:p>
            <a:pPr algn="ctr">
              <a:lnSpc>
                <a:spcPct val="106000"/>
              </a:lnSpc>
              <a:spcBef>
                <a:spcPts val="0"/>
              </a:spcBef>
              <a:spcAft>
                <a:spcPts val="0"/>
              </a:spcAft>
            </a:pPr>
            <a:r>
              <a:rPr sz="2300" b="1">
                <a:solidFill>
                  <a:srgbClr val="F97316"/>
                </a:solidFill>
                <a:latin typeface="Aptos"/>
              </a:rPr>
              <a:t>Learn quickly  ·  Change quickly and safely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lide title"/>
          <p:cNvSpPr txBox="1"/>
          <p:nvPr/>
        </p:nvSpPr>
        <p:spPr>
          <a:xfrm>
            <a:off x="502920" y="246888"/>
            <a:ext cx="11183112" cy="1188720"/>
          </a:xfrm>
          <a:prstGeom prst="rect">
            <a:avLst/>
          </a:prstGeom>
          <a:noFill/>
        </p:spPr>
        <p:txBody>
          <a:bodyPr wrap="square" lIns="0" tIns="0" rIns="0" bIns="0" anchor="t">
            <a:noAutofit/>
          </a:bodyPr>
          <a:lstStyle/>
          <a:p>
            <a:pPr algn="l">
              <a:lnSpc>
                <a:spcPct val="106000"/>
              </a:lnSpc>
              <a:spcBef>
                <a:spcPts val="0"/>
              </a:spcBef>
              <a:spcAft>
                <a:spcPts val="0"/>
              </a:spcAft>
            </a:pPr>
            <a:r>
              <a:rPr sz="4000" b="1" dirty="0">
                <a:solidFill>
                  <a:srgbClr val="0F2343"/>
                </a:solidFill>
                <a:latin typeface="Aptos Display"/>
              </a:rPr>
              <a:t>Design and testing make</a:t>
            </a:r>
          </a:p>
          <a:p>
            <a:pPr algn="l">
              <a:lnSpc>
                <a:spcPct val="106000"/>
              </a:lnSpc>
              <a:spcBef>
                <a:spcPts val="0"/>
              </a:spcBef>
              <a:spcAft>
                <a:spcPts val="0"/>
              </a:spcAft>
            </a:pPr>
            <a:r>
              <a:rPr sz="4000" b="1" dirty="0">
                <a:solidFill>
                  <a:srgbClr val="0F2343"/>
                </a:solidFill>
                <a:latin typeface="Aptos Display"/>
              </a:rPr>
              <a:t>quick, safe change possible</a:t>
            </a:r>
          </a:p>
        </p:txBody>
      </p:sp>
      <p:sp>
        <p:nvSpPr>
          <p:cNvPr id="3" name="Rectangle 2"/>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11"/>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11</a:t>
            </a:r>
          </a:p>
        </p:txBody>
      </p:sp>
      <p:cxnSp>
        <p:nvCxnSpPr>
          <p:cNvPr id="6" name="Connector 5"/>
          <p:cNvCxnSpPr/>
          <p:nvPr/>
        </p:nvCxnSpPr>
        <p:spPr>
          <a:xfrm>
            <a:off x="1453895" y="2761488"/>
            <a:ext cx="2075689" cy="0"/>
          </a:xfrm>
          <a:prstGeom prst="line">
            <a:avLst/>
          </a:prstGeom>
          <a:ln w="1651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53895" y="2761488"/>
            <a:ext cx="3520441" cy="1097280"/>
          </a:xfrm>
          <a:prstGeom prst="line">
            <a:avLst/>
          </a:prstGeom>
          <a:ln w="1651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53895" y="2761488"/>
            <a:ext cx="2075689" cy="2267712"/>
          </a:xfrm>
          <a:prstGeom prst="line">
            <a:avLst/>
          </a:prstGeom>
          <a:ln w="1651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453895" y="2761488"/>
            <a:ext cx="0" cy="2267712"/>
          </a:xfrm>
          <a:prstGeom prst="line">
            <a:avLst/>
          </a:prstGeom>
          <a:ln w="1651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088136" y="2761488"/>
            <a:ext cx="365759" cy="1097280"/>
          </a:xfrm>
          <a:prstGeom prst="line">
            <a:avLst/>
          </a:prstGeom>
          <a:ln w="1651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529584" y="2761488"/>
            <a:ext cx="1444752" cy="1097280"/>
          </a:xfrm>
          <a:prstGeom prst="line">
            <a:avLst/>
          </a:prstGeom>
          <a:ln w="1651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529584" y="2761488"/>
            <a:ext cx="0" cy="2267712"/>
          </a:xfrm>
          <a:prstGeom prst="line">
            <a:avLst/>
          </a:prstGeom>
          <a:ln w="1651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1453895" y="2761488"/>
            <a:ext cx="2075689" cy="2267712"/>
          </a:xfrm>
          <a:prstGeom prst="line">
            <a:avLst/>
          </a:prstGeom>
          <a:ln w="1651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088136" y="2761488"/>
            <a:ext cx="2441448" cy="1097280"/>
          </a:xfrm>
          <a:prstGeom prst="line">
            <a:avLst/>
          </a:prstGeom>
          <a:ln w="1651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3529584" y="3858768"/>
            <a:ext cx="1444752" cy="1170432"/>
          </a:xfrm>
          <a:prstGeom prst="line">
            <a:avLst/>
          </a:prstGeom>
          <a:ln w="1651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453895" y="3858768"/>
            <a:ext cx="3520441" cy="1170432"/>
          </a:xfrm>
          <a:prstGeom prst="line">
            <a:avLst/>
          </a:prstGeom>
          <a:ln w="1651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088136" y="3858768"/>
            <a:ext cx="3886200" cy="0"/>
          </a:xfrm>
          <a:prstGeom prst="line">
            <a:avLst/>
          </a:prstGeom>
          <a:ln w="1651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453895" y="5029200"/>
            <a:ext cx="2075689" cy="0"/>
          </a:xfrm>
          <a:prstGeom prst="line">
            <a:avLst/>
          </a:prstGeom>
          <a:ln w="1651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1088136" y="3858768"/>
            <a:ext cx="2441448" cy="1170432"/>
          </a:xfrm>
          <a:prstGeom prst="line">
            <a:avLst/>
          </a:prstGeom>
          <a:ln w="1651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1088136" y="3858768"/>
            <a:ext cx="365759" cy="1170432"/>
          </a:xfrm>
          <a:prstGeom prst="line">
            <a:avLst/>
          </a:prstGeom>
          <a:ln w="16510">
            <a:solidFill>
              <a:srgbClr val="DDE4ED"/>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059168" y="2880360"/>
            <a:ext cx="1636776" cy="0"/>
          </a:xfrm>
          <a:prstGeom prst="line">
            <a:avLst/>
          </a:prstGeom>
          <a:ln w="19050">
            <a:solidFill>
              <a:srgbClr val="64748B"/>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695944" y="2880360"/>
            <a:ext cx="1636776" cy="0"/>
          </a:xfrm>
          <a:prstGeom prst="line">
            <a:avLst/>
          </a:prstGeom>
          <a:ln w="19050">
            <a:solidFill>
              <a:srgbClr val="64748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059168" y="2880360"/>
            <a:ext cx="0" cy="1682496"/>
          </a:xfrm>
          <a:prstGeom prst="line">
            <a:avLst/>
          </a:prstGeom>
          <a:ln w="19050">
            <a:solidFill>
              <a:srgbClr val="64748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95944" y="2880360"/>
            <a:ext cx="0" cy="1682496"/>
          </a:xfrm>
          <a:prstGeom prst="line">
            <a:avLst/>
          </a:prstGeom>
          <a:ln w="19050">
            <a:solidFill>
              <a:srgbClr val="64748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332720" y="2880360"/>
            <a:ext cx="0" cy="1682496"/>
          </a:xfrm>
          <a:prstGeom prst="line">
            <a:avLst/>
          </a:prstGeom>
          <a:ln w="19050">
            <a:solidFill>
              <a:srgbClr val="64748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059168" y="4562856"/>
            <a:ext cx="1636776" cy="0"/>
          </a:xfrm>
          <a:prstGeom prst="line">
            <a:avLst/>
          </a:prstGeom>
          <a:ln w="19050">
            <a:solidFill>
              <a:srgbClr val="64748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695944" y="4562856"/>
            <a:ext cx="1636776" cy="0"/>
          </a:xfrm>
          <a:prstGeom prst="line">
            <a:avLst/>
          </a:prstGeom>
          <a:ln w="19050">
            <a:solidFill>
              <a:srgbClr val="64748B"/>
            </a:solidFill>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78992" y="2487168"/>
            <a:ext cx="749808" cy="548640"/>
          </a:xfrm>
          <a:prstGeom prst="roundRect">
            <a:avLst>
              <a:gd name="adj" fmla="val 12000"/>
            </a:avLst>
          </a:prstGeom>
          <a:solidFill>
            <a:srgbClr val="FFFFFF"/>
          </a:solidFill>
          <a:ln w="2159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A"/>
          <p:cNvSpPr txBox="1"/>
          <p:nvPr/>
        </p:nvSpPr>
        <p:spPr>
          <a:xfrm>
            <a:off x="1078992" y="2532888"/>
            <a:ext cx="749808" cy="448056"/>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A</a:t>
            </a:r>
          </a:p>
        </p:txBody>
      </p:sp>
      <p:sp>
        <p:nvSpPr>
          <p:cNvPr id="30" name="Rounded Rectangle 29"/>
          <p:cNvSpPr/>
          <p:nvPr/>
        </p:nvSpPr>
        <p:spPr>
          <a:xfrm>
            <a:off x="3154680" y="2487168"/>
            <a:ext cx="749808" cy="548640"/>
          </a:xfrm>
          <a:prstGeom prst="roundRect">
            <a:avLst>
              <a:gd name="adj" fmla="val 12000"/>
            </a:avLst>
          </a:prstGeom>
          <a:solidFill>
            <a:srgbClr val="F97316"/>
          </a:solidFill>
          <a:ln w="2159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 B"/>
          <p:cNvSpPr txBox="1"/>
          <p:nvPr/>
        </p:nvSpPr>
        <p:spPr>
          <a:xfrm>
            <a:off x="3154680" y="2532888"/>
            <a:ext cx="749808" cy="448056"/>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FFFFFF"/>
                </a:solidFill>
                <a:latin typeface="Aptos"/>
              </a:rPr>
              <a:t>B</a:t>
            </a:r>
          </a:p>
        </p:txBody>
      </p:sp>
      <p:sp>
        <p:nvSpPr>
          <p:cNvPr id="32" name="Rounded Rectangle 31"/>
          <p:cNvSpPr/>
          <p:nvPr/>
        </p:nvSpPr>
        <p:spPr>
          <a:xfrm>
            <a:off x="4599432" y="3584448"/>
            <a:ext cx="749808" cy="548640"/>
          </a:xfrm>
          <a:prstGeom prst="roundRect">
            <a:avLst>
              <a:gd name="adj" fmla="val 12000"/>
            </a:avLst>
          </a:prstGeom>
          <a:solidFill>
            <a:srgbClr val="FFFFFF"/>
          </a:solidFill>
          <a:ln w="2159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C"/>
          <p:cNvSpPr txBox="1"/>
          <p:nvPr/>
        </p:nvSpPr>
        <p:spPr>
          <a:xfrm>
            <a:off x="4599432" y="3630168"/>
            <a:ext cx="749808" cy="448056"/>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C</a:t>
            </a:r>
          </a:p>
        </p:txBody>
      </p:sp>
      <p:sp>
        <p:nvSpPr>
          <p:cNvPr id="34" name="Rounded Rectangle 33"/>
          <p:cNvSpPr/>
          <p:nvPr/>
        </p:nvSpPr>
        <p:spPr>
          <a:xfrm>
            <a:off x="3154680" y="4754880"/>
            <a:ext cx="749808" cy="548640"/>
          </a:xfrm>
          <a:prstGeom prst="roundRect">
            <a:avLst>
              <a:gd name="adj" fmla="val 12000"/>
            </a:avLst>
          </a:prstGeom>
          <a:solidFill>
            <a:srgbClr val="FFFFFF"/>
          </a:solidFill>
          <a:ln w="2159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D"/>
          <p:cNvSpPr txBox="1"/>
          <p:nvPr/>
        </p:nvSpPr>
        <p:spPr>
          <a:xfrm>
            <a:off x="3154680" y="4800600"/>
            <a:ext cx="749808" cy="448056"/>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D</a:t>
            </a:r>
          </a:p>
        </p:txBody>
      </p:sp>
      <p:sp>
        <p:nvSpPr>
          <p:cNvPr id="36" name="Rounded Rectangle 35"/>
          <p:cNvSpPr/>
          <p:nvPr/>
        </p:nvSpPr>
        <p:spPr>
          <a:xfrm>
            <a:off x="1078992" y="4754880"/>
            <a:ext cx="749808" cy="548640"/>
          </a:xfrm>
          <a:prstGeom prst="roundRect">
            <a:avLst>
              <a:gd name="adj" fmla="val 12000"/>
            </a:avLst>
          </a:prstGeom>
          <a:solidFill>
            <a:srgbClr val="FFFFFF"/>
          </a:solidFill>
          <a:ln w="2159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 E"/>
          <p:cNvSpPr txBox="1"/>
          <p:nvPr/>
        </p:nvSpPr>
        <p:spPr>
          <a:xfrm>
            <a:off x="1078992" y="4800600"/>
            <a:ext cx="749808" cy="448056"/>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E</a:t>
            </a:r>
          </a:p>
        </p:txBody>
      </p:sp>
      <p:sp>
        <p:nvSpPr>
          <p:cNvPr id="38" name="Rounded Rectangle 37"/>
          <p:cNvSpPr/>
          <p:nvPr/>
        </p:nvSpPr>
        <p:spPr>
          <a:xfrm>
            <a:off x="713232" y="3584448"/>
            <a:ext cx="749808" cy="548640"/>
          </a:xfrm>
          <a:prstGeom prst="roundRect">
            <a:avLst>
              <a:gd name="adj" fmla="val 12000"/>
            </a:avLst>
          </a:prstGeom>
          <a:solidFill>
            <a:srgbClr val="FFFFFF"/>
          </a:solidFill>
          <a:ln w="2159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 F"/>
          <p:cNvSpPr txBox="1"/>
          <p:nvPr/>
        </p:nvSpPr>
        <p:spPr>
          <a:xfrm>
            <a:off x="713232" y="3630168"/>
            <a:ext cx="749808" cy="448056"/>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F</a:t>
            </a:r>
          </a:p>
        </p:txBody>
      </p:sp>
      <p:sp>
        <p:nvSpPr>
          <p:cNvPr id="40" name="Rounded Rectangle 39"/>
          <p:cNvSpPr/>
          <p:nvPr/>
        </p:nvSpPr>
        <p:spPr>
          <a:xfrm>
            <a:off x="6684264" y="2606040"/>
            <a:ext cx="749808" cy="548640"/>
          </a:xfrm>
          <a:prstGeom prst="roundRect">
            <a:avLst>
              <a:gd name="adj" fmla="val 12000"/>
            </a:avLst>
          </a:prstGeom>
          <a:solidFill>
            <a:srgbClr val="FFFFFF"/>
          </a:solidFill>
          <a:ln w="2159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 A"/>
          <p:cNvSpPr txBox="1"/>
          <p:nvPr/>
        </p:nvSpPr>
        <p:spPr>
          <a:xfrm>
            <a:off x="6684264" y="2651760"/>
            <a:ext cx="749808" cy="448056"/>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A</a:t>
            </a:r>
          </a:p>
        </p:txBody>
      </p:sp>
      <p:cxnSp>
        <p:nvCxnSpPr>
          <p:cNvPr id="42" name="Connector 41"/>
          <p:cNvCxnSpPr/>
          <p:nvPr/>
        </p:nvCxnSpPr>
        <p:spPr>
          <a:xfrm>
            <a:off x="7059168" y="3154680"/>
            <a:ext cx="0" cy="384048"/>
          </a:xfrm>
          <a:prstGeom prst="line">
            <a:avLst/>
          </a:prstGeom>
          <a:ln w="16510">
            <a:solidFill>
              <a:srgbClr val="64748B"/>
            </a:solidFill>
          </a:ln>
          <a:effectLst/>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757416" y="3538728"/>
            <a:ext cx="603504" cy="365760"/>
          </a:xfrm>
          <a:prstGeom prst="roundRect">
            <a:avLst>
              <a:gd name="adj" fmla="val 12000"/>
            </a:avLst>
          </a:prstGeom>
          <a:solidFill>
            <a:srgbClr val="FFFFFF"/>
          </a:solidFill>
          <a:ln w="1397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 ✓"/>
          <p:cNvSpPr txBox="1"/>
          <p:nvPr/>
        </p:nvSpPr>
        <p:spPr>
          <a:xfrm>
            <a:off x="6821424" y="3547872"/>
            <a:ext cx="466344" cy="310896"/>
          </a:xfrm>
          <a:prstGeom prst="rect">
            <a:avLst/>
          </a:prstGeom>
          <a:noFill/>
        </p:spPr>
        <p:txBody>
          <a:bodyPr wrap="square" lIns="0" tIns="0" rIns="0" bIns="0" anchor="ctr">
            <a:noAutofit/>
          </a:bodyPr>
          <a:lstStyle/>
          <a:p>
            <a:pPr algn="ctr">
              <a:lnSpc>
                <a:spcPct val="106000"/>
              </a:lnSpc>
              <a:spcBef>
                <a:spcPts val="0"/>
              </a:spcBef>
              <a:spcAft>
                <a:spcPts val="0"/>
              </a:spcAft>
            </a:pPr>
            <a:r>
              <a:rPr sz="1700" b="1">
                <a:solidFill>
                  <a:srgbClr val="F97316"/>
                </a:solidFill>
                <a:latin typeface="Segoe UI Symbol"/>
              </a:rPr>
              <a:t>✓</a:t>
            </a:r>
          </a:p>
        </p:txBody>
      </p:sp>
      <p:sp>
        <p:nvSpPr>
          <p:cNvPr id="45" name="Rounded Rectangle 44"/>
          <p:cNvSpPr/>
          <p:nvPr/>
        </p:nvSpPr>
        <p:spPr>
          <a:xfrm>
            <a:off x="8321040" y="2606040"/>
            <a:ext cx="749808" cy="548640"/>
          </a:xfrm>
          <a:prstGeom prst="roundRect">
            <a:avLst>
              <a:gd name="adj" fmla="val 12000"/>
            </a:avLst>
          </a:prstGeom>
          <a:solidFill>
            <a:srgbClr val="F97316"/>
          </a:solidFill>
          <a:ln w="2159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 B"/>
          <p:cNvSpPr txBox="1"/>
          <p:nvPr/>
        </p:nvSpPr>
        <p:spPr>
          <a:xfrm>
            <a:off x="8321040" y="2651760"/>
            <a:ext cx="749808" cy="448056"/>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FFFFFF"/>
                </a:solidFill>
                <a:latin typeface="Aptos"/>
              </a:rPr>
              <a:t>B</a:t>
            </a:r>
          </a:p>
        </p:txBody>
      </p:sp>
      <p:cxnSp>
        <p:nvCxnSpPr>
          <p:cNvPr id="47" name="Connector 46"/>
          <p:cNvCxnSpPr/>
          <p:nvPr/>
        </p:nvCxnSpPr>
        <p:spPr>
          <a:xfrm>
            <a:off x="8695944" y="3154680"/>
            <a:ext cx="0" cy="384048"/>
          </a:xfrm>
          <a:prstGeom prst="line">
            <a:avLst/>
          </a:prstGeom>
          <a:ln w="16510">
            <a:solidFill>
              <a:srgbClr val="64748B"/>
            </a:solidFill>
          </a:ln>
          <a:effectLst/>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8394192" y="3538728"/>
            <a:ext cx="603504" cy="365760"/>
          </a:xfrm>
          <a:prstGeom prst="roundRect">
            <a:avLst>
              <a:gd name="adj" fmla="val 12000"/>
            </a:avLst>
          </a:prstGeom>
          <a:solidFill>
            <a:srgbClr val="FFFFFF"/>
          </a:solidFill>
          <a:ln w="1397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 ✓"/>
          <p:cNvSpPr txBox="1"/>
          <p:nvPr/>
        </p:nvSpPr>
        <p:spPr>
          <a:xfrm>
            <a:off x="8458200" y="3547872"/>
            <a:ext cx="466344" cy="310896"/>
          </a:xfrm>
          <a:prstGeom prst="rect">
            <a:avLst/>
          </a:prstGeom>
          <a:noFill/>
        </p:spPr>
        <p:txBody>
          <a:bodyPr wrap="square" lIns="0" tIns="0" rIns="0" bIns="0" anchor="ctr">
            <a:noAutofit/>
          </a:bodyPr>
          <a:lstStyle/>
          <a:p>
            <a:pPr algn="ctr">
              <a:lnSpc>
                <a:spcPct val="106000"/>
              </a:lnSpc>
              <a:spcBef>
                <a:spcPts val="0"/>
              </a:spcBef>
              <a:spcAft>
                <a:spcPts val="0"/>
              </a:spcAft>
            </a:pPr>
            <a:r>
              <a:rPr sz="1700" b="1">
                <a:solidFill>
                  <a:srgbClr val="F97316"/>
                </a:solidFill>
                <a:latin typeface="Segoe UI Symbol"/>
              </a:rPr>
              <a:t>✓</a:t>
            </a:r>
          </a:p>
        </p:txBody>
      </p:sp>
      <p:sp>
        <p:nvSpPr>
          <p:cNvPr id="50" name="Rounded Rectangle 49"/>
          <p:cNvSpPr/>
          <p:nvPr/>
        </p:nvSpPr>
        <p:spPr>
          <a:xfrm>
            <a:off x="9957816" y="2606040"/>
            <a:ext cx="749808" cy="548640"/>
          </a:xfrm>
          <a:prstGeom prst="roundRect">
            <a:avLst>
              <a:gd name="adj" fmla="val 12000"/>
            </a:avLst>
          </a:prstGeom>
          <a:solidFill>
            <a:srgbClr val="FFFFFF"/>
          </a:solidFill>
          <a:ln w="2159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 C"/>
          <p:cNvSpPr txBox="1"/>
          <p:nvPr/>
        </p:nvSpPr>
        <p:spPr>
          <a:xfrm>
            <a:off x="9957816" y="2651760"/>
            <a:ext cx="749808" cy="448056"/>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C</a:t>
            </a:r>
          </a:p>
        </p:txBody>
      </p:sp>
      <p:cxnSp>
        <p:nvCxnSpPr>
          <p:cNvPr id="52" name="Connector 51"/>
          <p:cNvCxnSpPr/>
          <p:nvPr/>
        </p:nvCxnSpPr>
        <p:spPr>
          <a:xfrm>
            <a:off x="10332720" y="3154680"/>
            <a:ext cx="0" cy="384048"/>
          </a:xfrm>
          <a:prstGeom prst="line">
            <a:avLst/>
          </a:prstGeom>
          <a:ln w="16510">
            <a:solidFill>
              <a:srgbClr val="64748B"/>
            </a:solidFill>
          </a:ln>
          <a:effectLst/>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10030968" y="3538728"/>
            <a:ext cx="603504" cy="365760"/>
          </a:xfrm>
          <a:prstGeom prst="roundRect">
            <a:avLst>
              <a:gd name="adj" fmla="val 12000"/>
            </a:avLst>
          </a:prstGeom>
          <a:solidFill>
            <a:srgbClr val="FFFFFF"/>
          </a:solidFill>
          <a:ln w="1397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 ✓"/>
          <p:cNvSpPr txBox="1"/>
          <p:nvPr/>
        </p:nvSpPr>
        <p:spPr>
          <a:xfrm>
            <a:off x="10094976" y="3547872"/>
            <a:ext cx="466344" cy="310896"/>
          </a:xfrm>
          <a:prstGeom prst="rect">
            <a:avLst/>
          </a:prstGeom>
          <a:noFill/>
        </p:spPr>
        <p:txBody>
          <a:bodyPr wrap="square" lIns="0" tIns="0" rIns="0" bIns="0" anchor="ctr">
            <a:noAutofit/>
          </a:bodyPr>
          <a:lstStyle/>
          <a:p>
            <a:pPr algn="ctr">
              <a:lnSpc>
                <a:spcPct val="106000"/>
              </a:lnSpc>
              <a:spcBef>
                <a:spcPts val="0"/>
              </a:spcBef>
              <a:spcAft>
                <a:spcPts val="0"/>
              </a:spcAft>
            </a:pPr>
            <a:r>
              <a:rPr sz="1700" b="1">
                <a:solidFill>
                  <a:srgbClr val="F97316"/>
                </a:solidFill>
                <a:latin typeface="Segoe UI Symbol"/>
              </a:rPr>
              <a:t>✓</a:t>
            </a:r>
          </a:p>
        </p:txBody>
      </p:sp>
      <p:sp>
        <p:nvSpPr>
          <p:cNvPr id="55" name="Rounded Rectangle 54"/>
          <p:cNvSpPr/>
          <p:nvPr/>
        </p:nvSpPr>
        <p:spPr>
          <a:xfrm>
            <a:off x="6684264" y="4288536"/>
            <a:ext cx="749808" cy="548640"/>
          </a:xfrm>
          <a:prstGeom prst="roundRect">
            <a:avLst>
              <a:gd name="adj" fmla="val 12000"/>
            </a:avLst>
          </a:prstGeom>
          <a:solidFill>
            <a:srgbClr val="FFFFFF"/>
          </a:solidFill>
          <a:ln w="2159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 D"/>
          <p:cNvSpPr txBox="1"/>
          <p:nvPr/>
        </p:nvSpPr>
        <p:spPr>
          <a:xfrm>
            <a:off x="6684264" y="4334256"/>
            <a:ext cx="749808" cy="448056"/>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D</a:t>
            </a:r>
          </a:p>
        </p:txBody>
      </p:sp>
      <p:cxnSp>
        <p:nvCxnSpPr>
          <p:cNvPr id="57" name="Connector 56"/>
          <p:cNvCxnSpPr/>
          <p:nvPr/>
        </p:nvCxnSpPr>
        <p:spPr>
          <a:xfrm>
            <a:off x="7059168" y="4837176"/>
            <a:ext cx="0" cy="384048"/>
          </a:xfrm>
          <a:prstGeom prst="line">
            <a:avLst/>
          </a:prstGeom>
          <a:ln w="16510">
            <a:solidFill>
              <a:srgbClr val="64748B"/>
            </a:solidFill>
          </a:ln>
          <a:effectLst/>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6757416" y="5221224"/>
            <a:ext cx="603504" cy="365760"/>
          </a:xfrm>
          <a:prstGeom prst="roundRect">
            <a:avLst>
              <a:gd name="adj" fmla="val 12000"/>
            </a:avLst>
          </a:prstGeom>
          <a:solidFill>
            <a:srgbClr val="FFFFFF"/>
          </a:solidFill>
          <a:ln w="1397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 ✓"/>
          <p:cNvSpPr txBox="1"/>
          <p:nvPr/>
        </p:nvSpPr>
        <p:spPr>
          <a:xfrm>
            <a:off x="6821424" y="5230368"/>
            <a:ext cx="466344" cy="310896"/>
          </a:xfrm>
          <a:prstGeom prst="rect">
            <a:avLst/>
          </a:prstGeom>
          <a:noFill/>
        </p:spPr>
        <p:txBody>
          <a:bodyPr wrap="square" lIns="0" tIns="0" rIns="0" bIns="0" anchor="ctr">
            <a:noAutofit/>
          </a:bodyPr>
          <a:lstStyle/>
          <a:p>
            <a:pPr algn="ctr">
              <a:lnSpc>
                <a:spcPct val="106000"/>
              </a:lnSpc>
              <a:spcBef>
                <a:spcPts val="0"/>
              </a:spcBef>
              <a:spcAft>
                <a:spcPts val="0"/>
              </a:spcAft>
            </a:pPr>
            <a:r>
              <a:rPr sz="1700" b="1">
                <a:solidFill>
                  <a:srgbClr val="F97316"/>
                </a:solidFill>
                <a:latin typeface="Segoe UI Symbol"/>
              </a:rPr>
              <a:t>✓</a:t>
            </a:r>
          </a:p>
        </p:txBody>
      </p:sp>
      <p:sp>
        <p:nvSpPr>
          <p:cNvPr id="60" name="Rounded Rectangle 59"/>
          <p:cNvSpPr/>
          <p:nvPr/>
        </p:nvSpPr>
        <p:spPr>
          <a:xfrm>
            <a:off x="8321040" y="4288536"/>
            <a:ext cx="749808" cy="548640"/>
          </a:xfrm>
          <a:prstGeom prst="roundRect">
            <a:avLst>
              <a:gd name="adj" fmla="val 12000"/>
            </a:avLst>
          </a:prstGeom>
          <a:solidFill>
            <a:srgbClr val="FFFFFF"/>
          </a:solidFill>
          <a:ln w="2159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 E"/>
          <p:cNvSpPr txBox="1"/>
          <p:nvPr/>
        </p:nvSpPr>
        <p:spPr>
          <a:xfrm>
            <a:off x="8321040" y="4334256"/>
            <a:ext cx="749808" cy="448056"/>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E</a:t>
            </a:r>
          </a:p>
        </p:txBody>
      </p:sp>
      <p:cxnSp>
        <p:nvCxnSpPr>
          <p:cNvPr id="62" name="Connector 61"/>
          <p:cNvCxnSpPr/>
          <p:nvPr/>
        </p:nvCxnSpPr>
        <p:spPr>
          <a:xfrm>
            <a:off x="8695944" y="4837176"/>
            <a:ext cx="0" cy="384048"/>
          </a:xfrm>
          <a:prstGeom prst="line">
            <a:avLst/>
          </a:prstGeom>
          <a:ln w="16510">
            <a:solidFill>
              <a:srgbClr val="64748B"/>
            </a:solidFill>
          </a:ln>
          <a:effectLst/>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8394192" y="5221224"/>
            <a:ext cx="603504" cy="365760"/>
          </a:xfrm>
          <a:prstGeom prst="roundRect">
            <a:avLst>
              <a:gd name="adj" fmla="val 12000"/>
            </a:avLst>
          </a:prstGeom>
          <a:solidFill>
            <a:srgbClr val="FFFFFF"/>
          </a:solidFill>
          <a:ln w="1397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 ✓"/>
          <p:cNvSpPr txBox="1"/>
          <p:nvPr/>
        </p:nvSpPr>
        <p:spPr>
          <a:xfrm>
            <a:off x="8458200" y="5230368"/>
            <a:ext cx="466344" cy="310896"/>
          </a:xfrm>
          <a:prstGeom prst="rect">
            <a:avLst/>
          </a:prstGeom>
          <a:noFill/>
        </p:spPr>
        <p:txBody>
          <a:bodyPr wrap="square" lIns="0" tIns="0" rIns="0" bIns="0" anchor="ctr">
            <a:noAutofit/>
          </a:bodyPr>
          <a:lstStyle/>
          <a:p>
            <a:pPr algn="ctr">
              <a:lnSpc>
                <a:spcPct val="106000"/>
              </a:lnSpc>
              <a:spcBef>
                <a:spcPts val="0"/>
              </a:spcBef>
              <a:spcAft>
                <a:spcPts val="0"/>
              </a:spcAft>
            </a:pPr>
            <a:r>
              <a:rPr sz="1700" b="1">
                <a:solidFill>
                  <a:srgbClr val="F97316"/>
                </a:solidFill>
                <a:latin typeface="Segoe UI Symbol"/>
              </a:rPr>
              <a:t>✓</a:t>
            </a:r>
          </a:p>
        </p:txBody>
      </p:sp>
      <p:sp>
        <p:nvSpPr>
          <p:cNvPr id="65" name="Rounded Rectangle 64"/>
          <p:cNvSpPr/>
          <p:nvPr/>
        </p:nvSpPr>
        <p:spPr>
          <a:xfrm>
            <a:off x="9957816" y="4288536"/>
            <a:ext cx="749808" cy="548640"/>
          </a:xfrm>
          <a:prstGeom prst="roundRect">
            <a:avLst>
              <a:gd name="adj" fmla="val 12000"/>
            </a:avLst>
          </a:prstGeom>
          <a:solidFill>
            <a:srgbClr val="FFFFFF"/>
          </a:solidFill>
          <a:ln w="2159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 F"/>
          <p:cNvSpPr txBox="1"/>
          <p:nvPr/>
        </p:nvSpPr>
        <p:spPr>
          <a:xfrm>
            <a:off x="9957816" y="4334256"/>
            <a:ext cx="749808" cy="448056"/>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F</a:t>
            </a:r>
          </a:p>
        </p:txBody>
      </p:sp>
      <p:cxnSp>
        <p:nvCxnSpPr>
          <p:cNvPr id="67" name="Connector 66"/>
          <p:cNvCxnSpPr/>
          <p:nvPr/>
        </p:nvCxnSpPr>
        <p:spPr>
          <a:xfrm>
            <a:off x="10332720" y="4837176"/>
            <a:ext cx="0" cy="384048"/>
          </a:xfrm>
          <a:prstGeom prst="line">
            <a:avLst/>
          </a:prstGeom>
          <a:ln w="16510">
            <a:solidFill>
              <a:srgbClr val="64748B"/>
            </a:solidFill>
          </a:ln>
          <a:effectLst/>
        </p:spPr>
        <p:style>
          <a:lnRef idx="2">
            <a:schemeClr val="accent1"/>
          </a:lnRef>
          <a:fillRef idx="0">
            <a:schemeClr val="accent1"/>
          </a:fillRef>
          <a:effectRef idx="1">
            <a:schemeClr val="accent1"/>
          </a:effectRef>
          <a:fontRef idx="minor">
            <a:schemeClr val="tx1"/>
          </a:fontRef>
        </p:style>
      </p:cxnSp>
      <p:sp>
        <p:nvSpPr>
          <p:cNvPr id="68" name="Rounded Rectangle 67"/>
          <p:cNvSpPr/>
          <p:nvPr/>
        </p:nvSpPr>
        <p:spPr>
          <a:xfrm>
            <a:off x="10030968" y="5221224"/>
            <a:ext cx="603504" cy="365760"/>
          </a:xfrm>
          <a:prstGeom prst="roundRect">
            <a:avLst>
              <a:gd name="adj" fmla="val 12000"/>
            </a:avLst>
          </a:prstGeom>
          <a:solidFill>
            <a:srgbClr val="FFFFFF"/>
          </a:solidFill>
          <a:ln w="1397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 ✓"/>
          <p:cNvSpPr txBox="1"/>
          <p:nvPr/>
        </p:nvSpPr>
        <p:spPr>
          <a:xfrm>
            <a:off x="10094976" y="5230368"/>
            <a:ext cx="466344" cy="310896"/>
          </a:xfrm>
          <a:prstGeom prst="rect">
            <a:avLst/>
          </a:prstGeom>
          <a:noFill/>
        </p:spPr>
        <p:txBody>
          <a:bodyPr wrap="square" lIns="0" tIns="0" rIns="0" bIns="0" anchor="ctr">
            <a:noAutofit/>
          </a:bodyPr>
          <a:lstStyle/>
          <a:p>
            <a:pPr algn="ctr">
              <a:lnSpc>
                <a:spcPct val="106000"/>
              </a:lnSpc>
              <a:spcBef>
                <a:spcPts val="0"/>
              </a:spcBef>
              <a:spcAft>
                <a:spcPts val="0"/>
              </a:spcAft>
            </a:pPr>
            <a:r>
              <a:rPr sz="1700" b="1">
                <a:solidFill>
                  <a:srgbClr val="F97316"/>
                </a:solidFill>
                <a:latin typeface="Segoe UI Symbol"/>
              </a:rPr>
              <a:t>✓</a:t>
            </a:r>
          </a:p>
        </p:txBody>
      </p:sp>
      <p:sp>
        <p:nvSpPr>
          <p:cNvPr id="70" name="Text: Tests"/>
          <p:cNvSpPr txBox="1"/>
          <p:nvPr/>
        </p:nvSpPr>
        <p:spPr>
          <a:xfrm>
            <a:off x="10881360" y="5276088"/>
            <a:ext cx="731520" cy="320040"/>
          </a:xfrm>
          <a:prstGeom prst="rect">
            <a:avLst/>
          </a:prstGeom>
          <a:noFill/>
        </p:spPr>
        <p:txBody>
          <a:bodyPr wrap="square" lIns="0" tIns="0" rIns="0" bIns="0" anchor="ctr">
            <a:noAutofit/>
          </a:bodyPr>
          <a:lstStyle/>
          <a:p>
            <a:pPr algn="l">
              <a:lnSpc>
                <a:spcPct val="106000"/>
              </a:lnSpc>
              <a:spcBef>
                <a:spcPts val="0"/>
              </a:spcBef>
              <a:spcAft>
                <a:spcPts val="0"/>
              </a:spcAft>
            </a:pPr>
            <a:r>
              <a:rPr sz="1700" b="0">
                <a:solidFill>
                  <a:srgbClr val="64748B"/>
                </a:solidFill>
                <a:latin typeface="Aptos"/>
              </a:rPr>
              <a:t>Tests</a:t>
            </a:r>
          </a:p>
        </p:txBody>
      </p:sp>
      <p:sp>
        <p:nvSpPr>
          <p:cNvPr id="71" name="Text: Changes spread"/>
          <p:cNvSpPr txBox="1"/>
          <p:nvPr/>
        </p:nvSpPr>
        <p:spPr>
          <a:xfrm>
            <a:off x="649224" y="5833872"/>
            <a:ext cx="5148072" cy="438912"/>
          </a:xfrm>
          <a:prstGeom prst="rect">
            <a:avLst/>
          </a:prstGeom>
          <a:noFill/>
        </p:spPr>
        <p:txBody>
          <a:bodyPr wrap="square" lIns="0" tIns="0" rIns="0" bIns="0" anchor="ctr">
            <a:noAutofit/>
          </a:bodyPr>
          <a:lstStyle/>
          <a:p>
            <a:pPr algn="ctr">
              <a:lnSpc>
                <a:spcPct val="106000"/>
              </a:lnSpc>
              <a:spcBef>
                <a:spcPts val="0"/>
              </a:spcBef>
              <a:spcAft>
                <a:spcPts val="0"/>
              </a:spcAft>
            </a:pPr>
            <a:r>
              <a:rPr sz="2700" b="1">
                <a:solidFill>
                  <a:srgbClr val="0F2343"/>
                </a:solidFill>
                <a:latin typeface="Aptos"/>
              </a:rPr>
              <a:t>Changes spread</a:t>
            </a:r>
          </a:p>
        </p:txBody>
      </p:sp>
      <p:sp>
        <p:nvSpPr>
          <p:cNvPr id="72" name="Text: Changes stay manageable"/>
          <p:cNvSpPr txBox="1"/>
          <p:nvPr/>
        </p:nvSpPr>
        <p:spPr>
          <a:xfrm>
            <a:off x="6263640" y="5833872"/>
            <a:ext cx="5212080" cy="438912"/>
          </a:xfrm>
          <a:prstGeom prst="rect">
            <a:avLst/>
          </a:prstGeom>
          <a:noFill/>
        </p:spPr>
        <p:txBody>
          <a:bodyPr wrap="square" lIns="0" tIns="0" rIns="0" bIns="0" anchor="ctr">
            <a:noAutofit/>
          </a:bodyPr>
          <a:lstStyle/>
          <a:p>
            <a:pPr algn="ctr">
              <a:lnSpc>
                <a:spcPct val="106000"/>
              </a:lnSpc>
              <a:spcBef>
                <a:spcPts val="0"/>
              </a:spcBef>
              <a:spcAft>
                <a:spcPts val="0"/>
              </a:spcAft>
            </a:pPr>
            <a:r>
              <a:rPr sz="2700" b="1">
                <a:solidFill>
                  <a:srgbClr val="0F2343"/>
                </a:solidFill>
                <a:latin typeface="Aptos"/>
              </a:rPr>
              <a:t>Changes stay manageable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lide title"/>
          <p:cNvSpPr txBox="1"/>
          <p:nvPr/>
        </p:nvSpPr>
        <p:spPr>
          <a:xfrm>
            <a:off x="502920" y="292608"/>
            <a:ext cx="11183112" cy="1051560"/>
          </a:xfrm>
          <a:prstGeom prst="rect">
            <a:avLst/>
          </a:prstGeom>
          <a:noFill/>
        </p:spPr>
        <p:txBody>
          <a:bodyPr wrap="square" lIns="0" tIns="0" rIns="0" bIns="0" anchor="t">
            <a:noAutofit/>
          </a:bodyPr>
          <a:lstStyle/>
          <a:p>
            <a:pPr algn="l">
              <a:lnSpc>
                <a:spcPct val="106000"/>
              </a:lnSpc>
              <a:spcBef>
                <a:spcPts val="0"/>
              </a:spcBef>
              <a:spcAft>
                <a:spcPts val="0"/>
              </a:spcAft>
            </a:pPr>
            <a:r>
              <a:rPr sz="4000" b="1" dirty="0">
                <a:solidFill>
                  <a:srgbClr val="0F2343"/>
                </a:solidFill>
                <a:latin typeface="Aptos Display"/>
              </a:rPr>
              <a:t>What an automated test is</a:t>
            </a:r>
          </a:p>
        </p:txBody>
      </p:sp>
      <p:sp>
        <p:nvSpPr>
          <p:cNvPr id="3" name="Rectangle 2"/>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12"/>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12</a:t>
            </a:r>
          </a:p>
        </p:txBody>
      </p:sp>
      <p:sp>
        <p:nvSpPr>
          <p:cNvPr id="6" name="Freeform 5"/>
          <p:cNvSpPr/>
          <p:nvPr/>
        </p:nvSpPr>
        <p:spPr>
          <a:xfrm>
            <a:off x="1687068" y="2240280"/>
            <a:ext cx="859536" cy="859536"/>
          </a:xfrm>
          <a:custGeom>
            <a:avLst/>
            <a:gdLst/>
            <a:ahLst/>
            <a:cxnLst/>
            <a:rect l="l" t="t" r="r" b="b"/>
            <a:pathLst>
              <a:path w="940" h="940">
                <a:moveTo>
                  <a:pt x="470" y="0"/>
                </a:moveTo>
                <a:lnTo>
                  <a:pt x="940" y="940"/>
                </a:lnTo>
                <a:lnTo>
                  <a:pt x="0" y="940"/>
                </a:lnTo>
                <a:close/>
              </a:path>
            </a:pathLst>
          </a:custGeom>
          <a:solidFill>
            <a:srgbClr val="90CAF9"/>
          </a:solidFill>
          <a:ln w="17780">
            <a:solidFill>
              <a:srgbClr val="1565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reeform 6"/>
          <p:cNvSpPr/>
          <p:nvPr/>
        </p:nvSpPr>
        <p:spPr>
          <a:xfrm>
            <a:off x="1202436" y="3209544"/>
            <a:ext cx="1828800" cy="859536"/>
          </a:xfrm>
          <a:custGeom>
            <a:avLst/>
            <a:gdLst/>
            <a:ahLst/>
            <a:cxnLst/>
            <a:rect l="l" t="t" r="r" b="b"/>
            <a:pathLst>
              <a:path w="2000" h="940">
                <a:moveTo>
                  <a:pt x="460" y="0"/>
                </a:moveTo>
                <a:lnTo>
                  <a:pt x="1540" y="0"/>
                </a:lnTo>
                <a:lnTo>
                  <a:pt x="2000" y="940"/>
                </a:lnTo>
                <a:lnTo>
                  <a:pt x="0" y="940"/>
                </a:lnTo>
                <a:close/>
              </a:path>
            </a:pathLst>
          </a:custGeom>
          <a:solidFill>
            <a:srgbClr val="FFF59D"/>
          </a:solidFill>
          <a:ln w="17780">
            <a:solidFill>
              <a:srgbClr val="8A6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eeform 7"/>
          <p:cNvSpPr/>
          <p:nvPr/>
        </p:nvSpPr>
        <p:spPr>
          <a:xfrm>
            <a:off x="699516" y="4178808"/>
            <a:ext cx="2834640" cy="859536"/>
          </a:xfrm>
          <a:custGeom>
            <a:avLst/>
            <a:gdLst/>
            <a:ahLst/>
            <a:cxnLst/>
            <a:rect l="l" t="t" r="r" b="b"/>
            <a:pathLst>
              <a:path w="3100" h="940">
                <a:moveTo>
                  <a:pt x="480" y="0"/>
                </a:moveTo>
                <a:lnTo>
                  <a:pt x="2620" y="0"/>
                </a:lnTo>
                <a:lnTo>
                  <a:pt x="3100" y="940"/>
                </a:lnTo>
                <a:lnTo>
                  <a:pt x="0" y="940"/>
                </a:lnTo>
                <a:close/>
              </a:path>
            </a:pathLst>
          </a:custGeom>
          <a:solidFill>
            <a:srgbClr val="A5D6A7"/>
          </a:solidFill>
          <a:ln w="1778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 End-to-end"/>
          <p:cNvSpPr txBox="1"/>
          <p:nvPr/>
        </p:nvSpPr>
        <p:spPr>
          <a:xfrm>
            <a:off x="685800" y="1819656"/>
            <a:ext cx="2862072" cy="338328"/>
          </a:xfrm>
          <a:prstGeom prst="rect">
            <a:avLst/>
          </a:prstGeom>
          <a:noFill/>
        </p:spPr>
        <p:txBody>
          <a:bodyPr wrap="square" lIns="0" tIns="0" rIns="0" bIns="0" anchor="ctr">
            <a:noAutofit/>
          </a:bodyPr>
          <a:lstStyle/>
          <a:p>
            <a:pPr algn="ctr">
              <a:lnSpc>
                <a:spcPct val="106000"/>
              </a:lnSpc>
              <a:spcBef>
                <a:spcPts val="0"/>
              </a:spcBef>
              <a:spcAft>
                <a:spcPts val="0"/>
              </a:spcAft>
            </a:pPr>
            <a:r>
              <a:rPr sz="1800" b="1">
                <a:solidFill>
                  <a:srgbClr val="1565C0"/>
                </a:solidFill>
                <a:latin typeface="Aptos"/>
              </a:rPr>
              <a:t>End-to-end</a:t>
            </a:r>
          </a:p>
        </p:txBody>
      </p:sp>
      <p:cxnSp>
        <p:nvCxnSpPr>
          <p:cNvPr id="10" name="Connector 9"/>
          <p:cNvCxnSpPr/>
          <p:nvPr/>
        </p:nvCxnSpPr>
        <p:spPr>
          <a:xfrm>
            <a:off x="2116836" y="2157984"/>
            <a:ext cx="0" cy="82296"/>
          </a:xfrm>
          <a:prstGeom prst="line">
            <a:avLst/>
          </a:prstGeom>
          <a:ln w="16510">
            <a:solidFill>
              <a:srgbClr val="1565C0"/>
            </a:solidFill>
          </a:ln>
          <a:effectLst/>
        </p:spPr>
        <p:style>
          <a:lnRef idx="2">
            <a:schemeClr val="accent1"/>
          </a:lnRef>
          <a:fillRef idx="0">
            <a:schemeClr val="accent1"/>
          </a:fillRef>
          <a:effectRef idx="1">
            <a:schemeClr val="accent1"/>
          </a:effectRef>
          <a:fontRef idx="minor">
            <a:schemeClr val="tx1"/>
          </a:fontRef>
        </p:style>
      </p:cxnSp>
      <p:sp>
        <p:nvSpPr>
          <p:cNvPr id="11" name="Text: Integration"/>
          <p:cNvSpPr txBox="1"/>
          <p:nvPr/>
        </p:nvSpPr>
        <p:spPr>
          <a:xfrm>
            <a:off x="932688" y="3538728"/>
            <a:ext cx="2368296" cy="329184"/>
          </a:xfrm>
          <a:prstGeom prst="rect">
            <a:avLst/>
          </a:prstGeom>
          <a:noFill/>
        </p:spPr>
        <p:txBody>
          <a:bodyPr wrap="square" lIns="0" tIns="0" rIns="0" bIns="0" anchor="ctr">
            <a:noAutofit/>
          </a:bodyPr>
          <a:lstStyle/>
          <a:p>
            <a:pPr algn="ctr">
              <a:lnSpc>
                <a:spcPct val="106000"/>
              </a:lnSpc>
              <a:spcBef>
                <a:spcPts val="0"/>
              </a:spcBef>
              <a:spcAft>
                <a:spcPts val="0"/>
              </a:spcAft>
            </a:pPr>
            <a:r>
              <a:rPr sz="1800" b="1">
                <a:solidFill>
                  <a:srgbClr val="8A6500"/>
                </a:solidFill>
                <a:latin typeface="Aptos"/>
              </a:rPr>
              <a:t>Integration</a:t>
            </a:r>
          </a:p>
        </p:txBody>
      </p:sp>
      <p:sp>
        <p:nvSpPr>
          <p:cNvPr id="12" name="Text: Unit"/>
          <p:cNvSpPr txBox="1"/>
          <p:nvPr/>
        </p:nvSpPr>
        <p:spPr>
          <a:xfrm>
            <a:off x="932688" y="4471416"/>
            <a:ext cx="2368296" cy="347472"/>
          </a:xfrm>
          <a:prstGeom prst="rect">
            <a:avLst/>
          </a:prstGeom>
          <a:noFill/>
        </p:spPr>
        <p:txBody>
          <a:bodyPr wrap="square" lIns="0" tIns="0" rIns="0" bIns="0" anchor="ctr">
            <a:noAutofit/>
          </a:bodyPr>
          <a:lstStyle/>
          <a:p>
            <a:pPr algn="ctr">
              <a:lnSpc>
                <a:spcPct val="106000"/>
              </a:lnSpc>
              <a:spcBef>
                <a:spcPts val="0"/>
              </a:spcBef>
              <a:spcAft>
                <a:spcPts val="0"/>
              </a:spcAft>
            </a:pPr>
            <a:r>
              <a:rPr sz="2100" b="1">
                <a:solidFill>
                  <a:srgbClr val="2E7D32"/>
                </a:solidFill>
                <a:latin typeface="Aptos"/>
              </a:rPr>
              <a:t>Unit</a:t>
            </a:r>
          </a:p>
        </p:txBody>
      </p:sp>
      <p:sp>
        <p:nvSpPr>
          <p:cNvPr id="13" name="Text: Unit"/>
          <p:cNvSpPr txBox="1"/>
          <p:nvPr/>
        </p:nvSpPr>
        <p:spPr>
          <a:xfrm>
            <a:off x="4014215" y="1865376"/>
            <a:ext cx="2258568" cy="393192"/>
          </a:xfrm>
          <a:prstGeom prst="rect">
            <a:avLst/>
          </a:prstGeom>
          <a:noFill/>
        </p:spPr>
        <p:txBody>
          <a:bodyPr wrap="square" lIns="0" tIns="0" rIns="0" bIns="0" anchor="ctr">
            <a:noAutofit/>
          </a:bodyPr>
          <a:lstStyle/>
          <a:p>
            <a:pPr algn="ctr">
              <a:lnSpc>
                <a:spcPct val="106000"/>
              </a:lnSpc>
              <a:spcBef>
                <a:spcPts val="0"/>
              </a:spcBef>
              <a:spcAft>
                <a:spcPts val="0"/>
              </a:spcAft>
            </a:pPr>
            <a:r>
              <a:rPr sz="2500" b="1">
                <a:solidFill>
                  <a:srgbClr val="2E7D32"/>
                </a:solidFill>
                <a:latin typeface="Aptos"/>
              </a:rPr>
              <a:t>Unit</a:t>
            </a:r>
          </a:p>
        </p:txBody>
      </p:sp>
      <p:cxnSp>
        <p:nvCxnSpPr>
          <p:cNvPr id="14" name="Connector 13"/>
          <p:cNvCxnSpPr/>
          <p:nvPr/>
        </p:nvCxnSpPr>
        <p:spPr>
          <a:xfrm>
            <a:off x="5084064" y="3255264"/>
            <a:ext cx="0" cy="274320"/>
          </a:xfrm>
          <a:prstGeom prst="line">
            <a:avLst/>
          </a:prstGeom>
          <a:ln w="2159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078224" y="2734056"/>
            <a:ext cx="2020824" cy="521207"/>
          </a:xfrm>
          <a:prstGeom prst="roundRect">
            <a:avLst>
              <a:gd name="adj" fmla="val 12000"/>
            </a:avLst>
          </a:prstGeom>
          <a:solidFill>
            <a:srgbClr val="FFFFFF"/>
          </a:solidFill>
          <a:ln w="1778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 Read"/>
          <p:cNvSpPr txBox="1"/>
          <p:nvPr/>
        </p:nvSpPr>
        <p:spPr>
          <a:xfrm>
            <a:off x="4123944" y="2788920"/>
            <a:ext cx="1929384" cy="393192"/>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Read</a:t>
            </a:r>
          </a:p>
        </p:txBody>
      </p:sp>
      <p:cxnSp>
        <p:nvCxnSpPr>
          <p:cNvPr id="17" name="Connector 16"/>
          <p:cNvCxnSpPr/>
          <p:nvPr/>
        </p:nvCxnSpPr>
        <p:spPr>
          <a:xfrm>
            <a:off x="5084064" y="4096512"/>
            <a:ext cx="0" cy="274320"/>
          </a:xfrm>
          <a:prstGeom prst="line">
            <a:avLst/>
          </a:prstGeom>
          <a:ln w="2159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078224" y="3575304"/>
            <a:ext cx="2020824" cy="521207"/>
          </a:xfrm>
          <a:prstGeom prst="roundRect">
            <a:avLst>
              <a:gd name="adj" fmla="val 12000"/>
            </a:avLst>
          </a:prstGeom>
          <a:solidFill>
            <a:srgbClr val="A5D6A7"/>
          </a:solidFill>
          <a:ln w="1778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 Compute"/>
          <p:cNvSpPr txBox="1"/>
          <p:nvPr/>
        </p:nvSpPr>
        <p:spPr>
          <a:xfrm>
            <a:off x="4123944" y="3630168"/>
            <a:ext cx="1929384" cy="393192"/>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Compute</a:t>
            </a:r>
          </a:p>
        </p:txBody>
      </p:sp>
      <p:sp>
        <p:nvSpPr>
          <p:cNvPr id="20" name="Rounded Rectangle 19"/>
          <p:cNvSpPr/>
          <p:nvPr/>
        </p:nvSpPr>
        <p:spPr>
          <a:xfrm>
            <a:off x="4078224" y="4416552"/>
            <a:ext cx="2020824" cy="521207"/>
          </a:xfrm>
          <a:prstGeom prst="roundRect">
            <a:avLst>
              <a:gd name="adj" fmla="val 12000"/>
            </a:avLst>
          </a:prstGeom>
          <a:solidFill>
            <a:srgbClr val="FFFFFF"/>
          </a:solidFill>
          <a:ln w="1778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 Report"/>
          <p:cNvSpPr txBox="1"/>
          <p:nvPr/>
        </p:nvSpPr>
        <p:spPr>
          <a:xfrm>
            <a:off x="4123944" y="4471416"/>
            <a:ext cx="1929384" cy="393192"/>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Report</a:t>
            </a:r>
          </a:p>
        </p:txBody>
      </p:sp>
      <p:sp>
        <p:nvSpPr>
          <p:cNvPr id="22" name="Text: Integration"/>
          <p:cNvSpPr txBox="1"/>
          <p:nvPr/>
        </p:nvSpPr>
        <p:spPr>
          <a:xfrm>
            <a:off x="6446520" y="1865376"/>
            <a:ext cx="2258568" cy="393192"/>
          </a:xfrm>
          <a:prstGeom prst="rect">
            <a:avLst/>
          </a:prstGeom>
          <a:noFill/>
        </p:spPr>
        <p:txBody>
          <a:bodyPr wrap="square" lIns="0" tIns="0" rIns="0" bIns="0" anchor="ctr">
            <a:noAutofit/>
          </a:bodyPr>
          <a:lstStyle/>
          <a:p>
            <a:pPr algn="ctr">
              <a:lnSpc>
                <a:spcPct val="106000"/>
              </a:lnSpc>
              <a:spcBef>
                <a:spcPts val="0"/>
              </a:spcBef>
              <a:spcAft>
                <a:spcPts val="0"/>
              </a:spcAft>
            </a:pPr>
            <a:r>
              <a:rPr sz="2500" b="1">
                <a:solidFill>
                  <a:srgbClr val="8A6500"/>
                </a:solidFill>
                <a:latin typeface="Aptos"/>
              </a:rPr>
              <a:t>Integration</a:t>
            </a:r>
          </a:p>
        </p:txBody>
      </p:sp>
      <p:sp>
        <p:nvSpPr>
          <p:cNvPr id="23" name="Rounded Rectangle 22"/>
          <p:cNvSpPr/>
          <p:nvPr/>
        </p:nvSpPr>
        <p:spPr>
          <a:xfrm>
            <a:off x="6391656" y="3429000"/>
            <a:ext cx="2267712" cy="1627632"/>
          </a:xfrm>
          <a:prstGeom prst="roundRect">
            <a:avLst>
              <a:gd name="adj" fmla="val 12000"/>
            </a:avLst>
          </a:prstGeom>
          <a:solidFill>
            <a:srgbClr val="FFF59D"/>
          </a:solidFill>
          <a:ln w="19050">
            <a:solidFill>
              <a:srgbClr val="8A6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7516368" y="3255264"/>
            <a:ext cx="0" cy="274320"/>
          </a:xfrm>
          <a:prstGeom prst="line">
            <a:avLst/>
          </a:prstGeom>
          <a:ln w="2159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510528" y="2734056"/>
            <a:ext cx="2020824" cy="521207"/>
          </a:xfrm>
          <a:prstGeom prst="roundRect">
            <a:avLst>
              <a:gd name="adj" fmla="val 12000"/>
            </a:avLst>
          </a:prstGeom>
          <a:solidFill>
            <a:srgbClr val="FFFFFF"/>
          </a:solidFill>
          <a:ln w="1778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Read"/>
          <p:cNvSpPr txBox="1"/>
          <p:nvPr/>
        </p:nvSpPr>
        <p:spPr>
          <a:xfrm>
            <a:off x="6556248" y="2788920"/>
            <a:ext cx="1929384" cy="393192"/>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Read</a:t>
            </a:r>
          </a:p>
        </p:txBody>
      </p:sp>
      <p:cxnSp>
        <p:nvCxnSpPr>
          <p:cNvPr id="27" name="Connector 26"/>
          <p:cNvCxnSpPr/>
          <p:nvPr/>
        </p:nvCxnSpPr>
        <p:spPr>
          <a:xfrm>
            <a:off x="7516368" y="4096512"/>
            <a:ext cx="0" cy="274320"/>
          </a:xfrm>
          <a:prstGeom prst="line">
            <a:avLst/>
          </a:prstGeom>
          <a:ln w="2159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510528" y="3575304"/>
            <a:ext cx="2020824" cy="521207"/>
          </a:xfrm>
          <a:prstGeom prst="roundRect">
            <a:avLst>
              <a:gd name="adj" fmla="val 12000"/>
            </a:avLst>
          </a:prstGeom>
          <a:solidFill>
            <a:srgbClr val="FFFFFF"/>
          </a:solidFill>
          <a:ln w="1778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Compute"/>
          <p:cNvSpPr txBox="1"/>
          <p:nvPr/>
        </p:nvSpPr>
        <p:spPr>
          <a:xfrm>
            <a:off x="6556248" y="3630168"/>
            <a:ext cx="1929384" cy="393192"/>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Compute</a:t>
            </a:r>
          </a:p>
        </p:txBody>
      </p:sp>
      <p:sp>
        <p:nvSpPr>
          <p:cNvPr id="30" name="Rounded Rectangle 29"/>
          <p:cNvSpPr/>
          <p:nvPr/>
        </p:nvSpPr>
        <p:spPr>
          <a:xfrm>
            <a:off x="6510528" y="4416552"/>
            <a:ext cx="2020824" cy="521207"/>
          </a:xfrm>
          <a:prstGeom prst="roundRect">
            <a:avLst>
              <a:gd name="adj" fmla="val 12000"/>
            </a:avLst>
          </a:prstGeom>
          <a:solidFill>
            <a:srgbClr val="FFFFFF"/>
          </a:solidFill>
          <a:ln w="1778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 Report"/>
          <p:cNvSpPr txBox="1"/>
          <p:nvPr/>
        </p:nvSpPr>
        <p:spPr>
          <a:xfrm>
            <a:off x="6556248" y="4471416"/>
            <a:ext cx="1929384" cy="393192"/>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Report</a:t>
            </a:r>
          </a:p>
        </p:txBody>
      </p:sp>
      <p:sp>
        <p:nvSpPr>
          <p:cNvPr id="32" name="Text: End-to-end"/>
          <p:cNvSpPr txBox="1"/>
          <p:nvPr/>
        </p:nvSpPr>
        <p:spPr>
          <a:xfrm>
            <a:off x="8878824" y="1865376"/>
            <a:ext cx="2258568" cy="393192"/>
          </a:xfrm>
          <a:prstGeom prst="rect">
            <a:avLst/>
          </a:prstGeom>
          <a:noFill/>
        </p:spPr>
        <p:txBody>
          <a:bodyPr wrap="square" lIns="0" tIns="0" rIns="0" bIns="0" anchor="ctr">
            <a:noAutofit/>
          </a:bodyPr>
          <a:lstStyle/>
          <a:p>
            <a:pPr algn="ctr">
              <a:lnSpc>
                <a:spcPct val="106000"/>
              </a:lnSpc>
              <a:spcBef>
                <a:spcPts val="0"/>
              </a:spcBef>
              <a:spcAft>
                <a:spcPts val="0"/>
              </a:spcAft>
            </a:pPr>
            <a:r>
              <a:rPr sz="2500" b="1">
                <a:solidFill>
                  <a:srgbClr val="1565C0"/>
                </a:solidFill>
                <a:latin typeface="Aptos"/>
              </a:rPr>
              <a:t>End-to-end</a:t>
            </a:r>
          </a:p>
        </p:txBody>
      </p:sp>
      <p:sp>
        <p:nvSpPr>
          <p:cNvPr id="33" name="Rounded Rectangle 32"/>
          <p:cNvSpPr/>
          <p:nvPr/>
        </p:nvSpPr>
        <p:spPr>
          <a:xfrm>
            <a:off x="8823960" y="2569464"/>
            <a:ext cx="2267712" cy="2487168"/>
          </a:xfrm>
          <a:prstGeom prst="roundRect">
            <a:avLst>
              <a:gd name="adj" fmla="val 12000"/>
            </a:avLst>
          </a:prstGeom>
          <a:solidFill>
            <a:srgbClr val="90CAF9"/>
          </a:solidFill>
          <a:ln w="19050">
            <a:solidFill>
              <a:srgbClr val="1565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Connector 33"/>
          <p:cNvCxnSpPr/>
          <p:nvPr/>
        </p:nvCxnSpPr>
        <p:spPr>
          <a:xfrm>
            <a:off x="9948672" y="3255264"/>
            <a:ext cx="0" cy="274320"/>
          </a:xfrm>
          <a:prstGeom prst="line">
            <a:avLst/>
          </a:prstGeom>
          <a:ln w="2159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942832" y="2734056"/>
            <a:ext cx="2020824" cy="521207"/>
          </a:xfrm>
          <a:prstGeom prst="roundRect">
            <a:avLst>
              <a:gd name="adj" fmla="val 12000"/>
            </a:avLst>
          </a:prstGeom>
          <a:solidFill>
            <a:srgbClr val="FFFFFF"/>
          </a:solidFill>
          <a:ln w="1778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 Read"/>
          <p:cNvSpPr txBox="1"/>
          <p:nvPr/>
        </p:nvSpPr>
        <p:spPr>
          <a:xfrm>
            <a:off x="8988552" y="2788920"/>
            <a:ext cx="1929384" cy="393192"/>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Read</a:t>
            </a:r>
          </a:p>
        </p:txBody>
      </p:sp>
      <p:cxnSp>
        <p:nvCxnSpPr>
          <p:cNvPr id="37" name="Connector 36"/>
          <p:cNvCxnSpPr/>
          <p:nvPr/>
        </p:nvCxnSpPr>
        <p:spPr>
          <a:xfrm>
            <a:off x="9948672" y="4096512"/>
            <a:ext cx="0" cy="274320"/>
          </a:xfrm>
          <a:prstGeom prst="line">
            <a:avLst/>
          </a:prstGeom>
          <a:ln w="2159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942832" y="3575304"/>
            <a:ext cx="2020824" cy="521207"/>
          </a:xfrm>
          <a:prstGeom prst="roundRect">
            <a:avLst>
              <a:gd name="adj" fmla="val 12000"/>
            </a:avLst>
          </a:prstGeom>
          <a:solidFill>
            <a:srgbClr val="FFFFFF"/>
          </a:solidFill>
          <a:ln w="1778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 Compute"/>
          <p:cNvSpPr txBox="1"/>
          <p:nvPr/>
        </p:nvSpPr>
        <p:spPr>
          <a:xfrm>
            <a:off x="8988552" y="3630168"/>
            <a:ext cx="1929384" cy="393192"/>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Compute</a:t>
            </a:r>
          </a:p>
        </p:txBody>
      </p:sp>
      <p:sp>
        <p:nvSpPr>
          <p:cNvPr id="40" name="Rounded Rectangle 39"/>
          <p:cNvSpPr/>
          <p:nvPr/>
        </p:nvSpPr>
        <p:spPr>
          <a:xfrm>
            <a:off x="8942832" y="4416552"/>
            <a:ext cx="2020824" cy="521207"/>
          </a:xfrm>
          <a:prstGeom prst="roundRect">
            <a:avLst>
              <a:gd name="adj" fmla="val 12000"/>
            </a:avLst>
          </a:prstGeom>
          <a:solidFill>
            <a:srgbClr val="FFFFFF"/>
          </a:solidFill>
          <a:ln w="1778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 Report"/>
          <p:cNvSpPr txBox="1"/>
          <p:nvPr/>
        </p:nvSpPr>
        <p:spPr>
          <a:xfrm>
            <a:off x="8988552" y="4471416"/>
            <a:ext cx="1929384" cy="393192"/>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Report</a:t>
            </a:r>
          </a:p>
        </p:txBody>
      </p:sp>
      <p:sp>
        <p:nvSpPr>
          <p:cNvPr id="42" name="Text: Arrange"/>
          <p:cNvSpPr txBox="1"/>
          <p:nvPr/>
        </p:nvSpPr>
        <p:spPr>
          <a:xfrm>
            <a:off x="1828800" y="5559552"/>
            <a:ext cx="2560320" cy="475488"/>
          </a:xfrm>
          <a:prstGeom prst="rect">
            <a:avLst/>
          </a:prstGeom>
          <a:noFill/>
        </p:spPr>
        <p:txBody>
          <a:bodyPr wrap="square" lIns="0" tIns="0" rIns="0" bIns="0" anchor="ctr">
            <a:noAutofit/>
          </a:bodyPr>
          <a:lstStyle/>
          <a:p>
            <a:pPr algn="ctr">
              <a:lnSpc>
                <a:spcPct val="106000"/>
              </a:lnSpc>
              <a:spcBef>
                <a:spcPts val="0"/>
              </a:spcBef>
              <a:spcAft>
                <a:spcPts val="0"/>
              </a:spcAft>
            </a:pPr>
            <a:r>
              <a:rPr sz="2800" b="1">
                <a:solidFill>
                  <a:srgbClr val="0F2343"/>
                </a:solidFill>
                <a:latin typeface="Aptos"/>
              </a:rPr>
              <a:t>Arrange</a:t>
            </a:r>
          </a:p>
        </p:txBody>
      </p:sp>
      <p:sp>
        <p:nvSpPr>
          <p:cNvPr id="43" name="Text: Set up"/>
          <p:cNvSpPr txBox="1"/>
          <p:nvPr/>
        </p:nvSpPr>
        <p:spPr>
          <a:xfrm>
            <a:off x="1828800" y="6025896"/>
            <a:ext cx="2560320" cy="347472"/>
          </a:xfrm>
          <a:prstGeom prst="rect">
            <a:avLst/>
          </a:prstGeom>
          <a:noFill/>
        </p:spPr>
        <p:txBody>
          <a:bodyPr wrap="square" lIns="0" tIns="0" rIns="0" bIns="0" anchor="ctr">
            <a:noAutofit/>
          </a:bodyPr>
          <a:lstStyle/>
          <a:p>
            <a:pPr algn="ctr">
              <a:lnSpc>
                <a:spcPct val="106000"/>
              </a:lnSpc>
              <a:spcBef>
                <a:spcPts val="0"/>
              </a:spcBef>
              <a:spcAft>
                <a:spcPts val="0"/>
              </a:spcAft>
            </a:pPr>
            <a:r>
              <a:rPr sz="2000" b="0">
                <a:solidFill>
                  <a:srgbClr val="64748B"/>
                </a:solidFill>
                <a:latin typeface="Aptos"/>
              </a:rPr>
              <a:t>Set up</a:t>
            </a:r>
          </a:p>
        </p:txBody>
      </p:sp>
      <p:sp>
        <p:nvSpPr>
          <p:cNvPr id="44" name="Text: Act"/>
          <p:cNvSpPr txBox="1"/>
          <p:nvPr/>
        </p:nvSpPr>
        <p:spPr>
          <a:xfrm>
            <a:off x="4818888" y="5559552"/>
            <a:ext cx="2560320" cy="475488"/>
          </a:xfrm>
          <a:prstGeom prst="rect">
            <a:avLst/>
          </a:prstGeom>
          <a:noFill/>
        </p:spPr>
        <p:txBody>
          <a:bodyPr wrap="square" lIns="0" tIns="0" rIns="0" bIns="0" anchor="ctr">
            <a:noAutofit/>
          </a:bodyPr>
          <a:lstStyle/>
          <a:p>
            <a:pPr algn="ctr">
              <a:lnSpc>
                <a:spcPct val="106000"/>
              </a:lnSpc>
              <a:spcBef>
                <a:spcPts val="0"/>
              </a:spcBef>
              <a:spcAft>
                <a:spcPts val="0"/>
              </a:spcAft>
            </a:pPr>
            <a:r>
              <a:rPr sz="2800" b="1">
                <a:solidFill>
                  <a:srgbClr val="0F2343"/>
                </a:solidFill>
                <a:latin typeface="Aptos"/>
              </a:rPr>
              <a:t>Act</a:t>
            </a:r>
          </a:p>
        </p:txBody>
      </p:sp>
      <p:sp>
        <p:nvSpPr>
          <p:cNvPr id="45" name="Text: Run"/>
          <p:cNvSpPr txBox="1"/>
          <p:nvPr/>
        </p:nvSpPr>
        <p:spPr>
          <a:xfrm>
            <a:off x="4818888" y="6025896"/>
            <a:ext cx="2560320" cy="347472"/>
          </a:xfrm>
          <a:prstGeom prst="rect">
            <a:avLst/>
          </a:prstGeom>
          <a:noFill/>
        </p:spPr>
        <p:txBody>
          <a:bodyPr wrap="square" lIns="0" tIns="0" rIns="0" bIns="0" anchor="ctr">
            <a:noAutofit/>
          </a:bodyPr>
          <a:lstStyle/>
          <a:p>
            <a:pPr algn="ctr">
              <a:lnSpc>
                <a:spcPct val="106000"/>
              </a:lnSpc>
              <a:spcBef>
                <a:spcPts val="0"/>
              </a:spcBef>
              <a:spcAft>
                <a:spcPts val="0"/>
              </a:spcAft>
            </a:pPr>
            <a:r>
              <a:rPr sz="2000" b="0">
                <a:solidFill>
                  <a:srgbClr val="64748B"/>
                </a:solidFill>
                <a:latin typeface="Aptos"/>
              </a:rPr>
              <a:t>Run</a:t>
            </a:r>
          </a:p>
        </p:txBody>
      </p:sp>
      <p:sp>
        <p:nvSpPr>
          <p:cNvPr id="46" name="Text: Assert"/>
          <p:cNvSpPr txBox="1"/>
          <p:nvPr/>
        </p:nvSpPr>
        <p:spPr>
          <a:xfrm>
            <a:off x="7799831" y="5559552"/>
            <a:ext cx="2560320" cy="475488"/>
          </a:xfrm>
          <a:prstGeom prst="rect">
            <a:avLst/>
          </a:prstGeom>
          <a:noFill/>
        </p:spPr>
        <p:txBody>
          <a:bodyPr wrap="square" lIns="0" tIns="0" rIns="0" bIns="0" anchor="ctr">
            <a:noAutofit/>
          </a:bodyPr>
          <a:lstStyle/>
          <a:p>
            <a:pPr algn="ctr">
              <a:lnSpc>
                <a:spcPct val="106000"/>
              </a:lnSpc>
              <a:spcBef>
                <a:spcPts val="0"/>
              </a:spcBef>
              <a:spcAft>
                <a:spcPts val="0"/>
              </a:spcAft>
            </a:pPr>
            <a:r>
              <a:rPr sz="2800" b="1">
                <a:solidFill>
                  <a:srgbClr val="0F2343"/>
                </a:solidFill>
                <a:latin typeface="Aptos"/>
              </a:rPr>
              <a:t>Assert</a:t>
            </a:r>
          </a:p>
        </p:txBody>
      </p:sp>
      <p:sp>
        <p:nvSpPr>
          <p:cNvPr id="47" name="Text: Check"/>
          <p:cNvSpPr txBox="1"/>
          <p:nvPr/>
        </p:nvSpPr>
        <p:spPr>
          <a:xfrm>
            <a:off x="7799831" y="6025896"/>
            <a:ext cx="2560320" cy="347472"/>
          </a:xfrm>
          <a:prstGeom prst="rect">
            <a:avLst/>
          </a:prstGeom>
          <a:noFill/>
        </p:spPr>
        <p:txBody>
          <a:bodyPr wrap="square" lIns="0" tIns="0" rIns="0" bIns="0" anchor="ctr">
            <a:noAutofit/>
          </a:bodyPr>
          <a:lstStyle/>
          <a:p>
            <a:pPr algn="ctr">
              <a:lnSpc>
                <a:spcPct val="106000"/>
              </a:lnSpc>
              <a:spcBef>
                <a:spcPts val="0"/>
              </a:spcBef>
              <a:spcAft>
                <a:spcPts val="0"/>
              </a:spcAft>
            </a:pPr>
            <a:r>
              <a:rPr sz="2000" b="0">
                <a:solidFill>
                  <a:srgbClr val="64748B"/>
                </a:solidFill>
                <a:latin typeface="Aptos"/>
              </a:rPr>
              <a:t>Check</a:t>
            </a:r>
          </a:p>
        </p:txBody>
      </p:sp>
      <p:sp>
        <p:nvSpPr>
          <p:cNvPr id="48" name="Text: →"/>
          <p:cNvSpPr txBox="1"/>
          <p:nvPr/>
        </p:nvSpPr>
        <p:spPr>
          <a:xfrm>
            <a:off x="4416552" y="5596128"/>
            <a:ext cx="365760" cy="402336"/>
          </a:xfrm>
          <a:prstGeom prst="rect">
            <a:avLst/>
          </a:prstGeom>
          <a:noFill/>
        </p:spPr>
        <p:txBody>
          <a:bodyPr wrap="square" lIns="0" tIns="0" rIns="0" bIns="0" anchor="ctr">
            <a:noAutofit/>
          </a:bodyPr>
          <a:lstStyle/>
          <a:p>
            <a:pPr algn="ctr">
              <a:lnSpc>
                <a:spcPct val="106000"/>
              </a:lnSpc>
              <a:spcBef>
                <a:spcPts val="0"/>
              </a:spcBef>
              <a:spcAft>
                <a:spcPts val="0"/>
              </a:spcAft>
            </a:pPr>
            <a:r>
              <a:rPr sz="2600" b="1">
                <a:solidFill>
                  <a:srgbClr val="F97316"/>
                </a:solidFill>
                <a:latin typeface="Aptos"/>
              </a:rPr>
              <a:t>→</a:t>
            </a:r>
          </a:p>
        </p:txBody>
      </p:sp>
      <p:sp>
        <p:nvSpPr>
          <p:cNvPr id="49" name="Text: →"/>
          <p:cNvSpPr txBox="1"/>
          <p:nvPr/>
        </p:nvSpPr>
        <p:spPr>
          <a:xfrm>
            <a:off x="7406640" y="5596128"/>
            <a:ext cx="365760" cy="402336"/>
          </a:xfrm>
          <a:prstGeom prst="rect">
            <a:avLst/>
          </a:prstGeom>
          <a:noFill/>
        </p:spPr>
        <p:txBody>
          <a:bodyPr wrap="square" lIns="0" tIns="0" rIns="0" bIns="0" anchor="ctr">
            <a:noAutofit/>
          </a:bodyPr>
          <a:lstStyle/>
          <a:p>
            <a:pPr algn="ctr">
              <a:lnSpc>
                <a:spcPct val="106000"/>
              </a:lnSpc>
              <a:spcBef>
                <a:spcPts val="0"/>
              </a:spcBef>
              <a:spcAft>
                <a:spcPts val="0"/>
              </a:spcAft>
            </a:pPr>
            <a:r>
              <a:rPr sz="2600" b="1">
                <a:solidFill>
                  <a:srgbClr val="F97316"/>
                </a:solidFill>
                <a:latin typeface="Aptos"/>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lide title"/>
          <p:cNvSpPr txBox="1"/>
          <p:nvPr/>
        </p:nvSpPr>
        <p:spPr>
          <a:xfrm>
            <a:off x="502920" y="292608"/>
            <a:ext cx="11183112" cy="1051560"/>
          </a:xfrm>
          <a:prstGeom prst="rect">
            <a:avLst/>
          </a:prstGeom>
          <a:noFill/>
        </p:spPr>
        <p:txBody>
          <a:bodyPr wrap="square" lIns="0" tIns="0" rIns="0" bIns="0" anchor="t">
            <a:noAutofit/>
          </a:bodyPr>
          <a:lstStyle/>
          <a:p>
            <a:pPr algn="l">
              <a:lnSpc>
                <a:spcPct val="106000"/>
              </a:lnSpc>
              <a:spcBef>
                <a:spcPts val="0"/>
              </a:spcBef>
              <a:spcAft>
                <a:spcPts val="0"/>
              </a:spcAft>
            </a:pPr>
            <a:r>
              <a:rPr sz="4000" b="1">
                <a:solidFill>
                  <a:srgbClr val="0F2343"/>
                </a:solidFill>
                <a:latin typeface="Aptos Display"/>
              </a:rPr>
              <a:t>A DSS example design</a:t>
            </a:r>
          </a:p>
        </p:txBody>
      </p:sp>
      <p:sp>
        <p:nvSpPr>
          <p:cNvPr id="3" name="Rectangle 2"/>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13"/>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13</a:t>
            </a:r>
          </a:p>
        </p:txBody>
      </p:sp>
      <p:sp>
        <p:nvSpPr>
          <p:cNvPr id="6" name="Rounded Rectangle 5"/>
          <p:cNvSpPr/>
          <p:nvPr/>
        </p:nvSpPr>
        <p:spPr>
          <a:xfrm>
            <a:off x="548640" y="2487168"/>
            <a:ext cx="1938528" cy="2148840"/>
          </a:xfrm>
          <a:prstGeom prst="roundRect">
            <a:avLst>
              <a:gd name="adj" fmla="val 12000"/>
            </a:avLst>
          </a:prstGeom>
          <a:solidFill>
            <a:srgbClr val="FFFFFF"/>
          </a:solidFill>
          <a:ln w="1905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245778" y="2813791"/>
            <a:ext cx="544250" cy="754928"/>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7"/>
          <p:cNvCxnSpPr/>
          <p:nvPr/>
        </p:nvCxnSpPr>
        <p:spPr>
          <a:xfrm>
            <a:off x="1351117" y="3050804"/>
            <a:ext cx="333573"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351117" y="3191256"/>
            <a:ext cx="333573"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351117" y="3340486"/>
            <a:ext cx="228234" cy="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11" name="Text: Read data"/>
          <p:cNvSpPr txBox="1"/>
          <p:nvPr/>
        </p:nvSpPr>
        <p:spPr>
          <a:xfrm>
            <a:off x="603503" y="3995928"/>
            <a:ext cx="1828800" cy="402336"/>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Read data</a:t>
            </a:r>
          </a:p>
        </p:txBody>
      </p:sp>
      <p:cxnSp>
        <p:nvCxnSpPr>
          <p:cNvPr id="12" name="Connector 11"/>
          <p:cNvCxnSpPr/>
          <p:nvPr/>
        </p:nvCxnSpPr>
        <p:spPr>
          <a:xfrm>
            <a:off x="2560320" y="3547872"/>
            <a:ext cx="246888" cy="0"/>
          </a:xfrm>
          <a:prstGeom prst="line">
            <a:avLst/>
          </a:prstGeom>
          <a:ln w="31750">
            <a:solidFill>
              <a:srgbClr val="F9731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80360" y="2487168"/>
            <a:ext cx="1938528" cy="2148840"/>
          </a:xfrm>
          <a:prstGeom prst="roundRect">
            <a:avLst>
              <a:gd name="adj" fmla="val 12000"/>
            </a:avLst>
          </a:prstGeom>
          <a:solidFill>
            <a:srgbClr val="FFFFFF"/>
          </a:solidFill>
          <a:ln w="1905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472159" y="2840126"/>
            <a:ext cx="280903" cy="263347"/>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946184" y="2840126"/>
            <a:ext cx="280903" cy="263347"/>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709172" y="3296594"/>
            <a:ext cx="280903" cy="263347"/>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a:off x="3612611" y="3103473"/>
            <a:ext cx="0" cy="9656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086636" y="3103473"/>
            <a:ext cx="0" cy="9656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612611" y="3200034"/>
            <a:ext cx="474025"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849624" y="3200034"/>
            <a:ext cx="0" cy="9656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21" name="Text: Preprocess"/>
          <p:cNvSpPr txBox="1"/>
          <p:nvPr/>
        </p:nvSpPr>
        <p:spPr>
          <a:xfrm>
            <a:off x="2935224" y="3995928"/>
            <a:ext cx="1828800" cy="402336"/>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Preprocess</a:t>
            </a:r>
          </a:p>
        </p:txBody>
      </p:sp>
      <p:cxnSp>
        <p:nvCxnSpPr>
          <p:cNvPr id="22" name="Connector 21"/>
          <p:cNvCxnSpPr/>
          <p:nvPr/>
        </p:nvCxnSpPr>
        <p:spPr>
          <a:xfrm>
            <a:off x="4892040" y="3547872"/>
            <a:ext cx="246888" cy="0"/>
          </a:xfrm>
          <a:prstGeom prst="line">
            <a:avLst/>
          </a:prstGeom>
          <a:ln w="31750">
            <a:solidFill>
              <a:srgbClr val="F9731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212079" y="2487168"/>
            <a:ext cx="1938528" cy="2148840"/>
          </a:xfrm>
          <a:prstGeom prst="roundRect">
            <a:avLst>
              <a:gd name="adj" fmla="val 12000"/>
            </a:avLst>
          </a:prstGeom>
          <a:solidFill>
            <a:srgbClr val="FFFFFF"/>
          </a:solidFill>
          <a:ln w="1905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 ∑"/>
          <p:cNvSpPr txBox="1"/>
          <p:nvPr/>
        </p:nvSpPr>
        <p:spPr>
          <a:xfrm>
            <a:off x="5742431" y="2752344"/>
            <a:ext cx="877824" cy="877824"/>
          </a:xfrm>
          <a:prstGeom prst="rect">
            <a:avLst/>
          </a:prstGeom>
          <a:noFill/>
        </p:spPr>
        <p:txBody>
          <a:bodyPr wrap="square" lIns="0" tIns="0" rIns="0" bIns="0" anchor="ctr">
            <a:noAutofit/>
          </a:bodyPr>
          <a:lstStyle/>
          <a:p>
            <a:pPr algn="ctr">
              <a:lnSpc>
                <a:spcPct val="106000"/>
              </a:lnSpc>
              <a:spcBef>
                <a:spcPts val="0"/>
              </a:spcBef>
              <a:spcAft>
                <a:spcPts val="0"/>
              </a:spcAft>
            </a:pPr>
            <a:r>
              <a:rPr sz="4416" b="0">
                <a:solidFill>
                  <a:srgbClr val="0F2343"/>
                </a:solidFill>
                <a:latin typeface="Cambria Math"/>
              </a:rPr>
              <a:t>∑</a:t>
            </a:r>
          </a:p>
        </p:txBody>
      </p:sp>
      <p:sp>
        <p:nvSpPr>
          <p:cNvPr id="25" name="Text: Solve"/>
          <p:cNvSpPr txBox="1"/>
          <p:nvPr/>
        </p:nvSpPr>
        <p:spPr>
          <a:xfrm>
            <a:off x="5266943" y="3995928"/>
            <a:ext cx="1828800" cy="402336"/>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Solve</a:t>
            </a:r>
          </a:p>
        </p:txBody>
      </p:sp>
      <p:cxnSp>
        <p:nvCxnSpPr>
          <p:cNvPr id="26" name="Connector 25"/>
          <p:cNvCxnSpPr/>
          <p:nvPr/>
        </p:nvCxnSpPr>
        <p:spPr>
          <a:xfrm>
            <a:off x="7223759" y="3547872"/>
            <a:ext cx="246889" cy="0"/>
          </a:xfrm>
          <a:prstGeom prst="line">
            <a:avLst/>
          </a:prstGeom>
          <a:ln w="31750">
            <a:solidFill>
              <a:srgbClr val="F9731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543800" y="2487168"/>
            <a:ext cx="1938528" cy="2148840"/>
          </a:xfrm>
          <a:prstGeom prst="roundRect">
            <a:avLst>
              <a:gd name="adj" fmla="val 12000"/>
            </a:avLst>
          </a:prstGeom>
          <a:solidFill>
            <a:srgbClr val="FFFFFF"/>
          </a:solidFill>
          <a:ln w="1905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135599" y="2840126"/>
            <a:ext cx="280903" cy="263347"/>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609624" y="2840126"/>
            <a:ext cx="280903" cy="263347"/>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372612" y="3296594"/>
            <a:ext cx="280903" cy="263347"/>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p:cNvCxnSpPr/>
          <p:nvPr/>
        </p:nvCxnSpPr>
        <p:spPr>
          <a:xfrm>
            <a:off x="8276051" y="3103473"/>
            <a:ext cx="0" cy="9656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750076" y="3103473"/>
            <a:ext cx="0" cy="9656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276051" y="3200034"/>
            <a:ext cx="474025"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513064" y="3200034"/>
            <a:ext cx="0" cy="9656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35" name="Text: Postprocess"/>
          <p:cNvSpPr txBox="1"/>
          <p:nvPr/>
        </p:nvSpPr>
        <p:spPr>
          <a:xfrm>
            <a:off x="7598664" y="3995928"/>
            <a:ext cx="1828800" cy="402336"/>
          </a:xfrm>
          <a:prstGeom prst="rect">
            <a:avLst/>
          </a:prstGeom>
          <a:noFill/>
        </p:spPr>
        <p:txBody>
          <a:bodyPr wrap="square" lIns="0" tIns="0" rIns="0" bIns="0" anchor="ctr">
            <a:noAutofit/>
          </a:bodyPr>
          <a:lstStyle/>
          <a:p>
            <a:pPr algn="ctr">
              <a:lnSpc>
                <a:spcPct val="106000"/>
              </a:lnSpc>
              <a:spcBef>
                <a:spcPts val="0"/>
              </a:spcBef>
              <a:spcAft>
                <a:spcPts val="0"/>
              </a:spcAft>
            </a:pPr>
            <a:r>
              <a:rPr sz="2100" b="1">
                <a:solidFill>
                  <a:srgbClr val="0F2343"/>
                </a:solidFill>
                <a:latin typeface="Aptos"/>
              </a:rPr>
              <a:t>Postprocess</a:t>
            </a:r>
          </a:p>
        </p:txBody>
      </p:sp>
      <p:cxnSp>
        <p:nvCxnSpPr>
          <p:cNvPr id="36" name="Connector 35"/>
          <p:cNvCxnSpPr/>
          <p:nvPr/>
        </p:nvCxnSpPr>
        <p:spPr>
          <a:xfrm>
            <a:off x="9555480" y="3547872"/>
            <a:ext cx="246888" cy="0"/>
          </a:xfrm>
          <a:prstGeom prst="line">
            <a:avLst/>
          </a:prstGeom>
          <a:ln w="31750">
            <a:solidFill>
              <a:srgbClr val="F9731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875519" y="2487168"/>
            <a:ext cx="1938528" cy="2148840"/>
          </a:xfrm>
          <a:prstGeom prst="roundRect">
            <a:avLst>
              <a:gd name="adj" fmla="val 12000"/>
            </a:avLst>
          </a:prstGeom>
          <a:solidFill>
            <a:srgbClr val="FFFFFF"/>
          </a:solidFill>
          <a:ln w="1905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10467319" y="2866461"/>
            <a:ext cx="754928" cy="640811"/>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Connector 38"/>
          <p:cNvCxnSpPr/>
          <p:nvPr/>
        </p:nvCxnSpPr>
        <p:spPr>
          <a:xfrm>
            <a:off x="10511210" y="3050804"/>
            <a:ext cx="667147" cy="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572658" y="3191256"/>
            <a:ext cx="535473"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72658" y="3340486"/>
            <a:ext cx="535473"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827227" y="3050804"/>
            <a:ext cx="0" cy="403799"/>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sp>
        <p:nvSpPr>
          <p:cNvPr id="43" name="Text: Result"/>
          <p:cNvSpPr txBox="1"/>
          <p:nvPr/>
        </p:nvSpPr>
        <p:spPr>
          <a:xfrm>
            <a:off x="9930384" y="3995928"/>
            <a:ext cx="1828800" cy="402336"/>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Result</a:t>
            </a:r>
          </a:p>
        </p:txBody>
      </p:sp>
      <p:sp>
        <p:nvSpPr>
          <p:cNvPr id="44" name="Rounded Rectangle 43"/>
          <p:cNvSpPr/>
          <p:nvPr/>
        </p:nvSpPr>
        <p:spPr>
          <a:xfrm>
            <a:off x="594360" y="5614416"/>
            <a:ext cx="11000232" cy="457200"/>
          </a:xfrm>
          <a:prstGeom prst="roundRect">
            <a:avLst>
              <a:gd name="adj" fmla="val 12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 SC101  ·  Live demonstration"/>
          <p:cNvSpPr txBox="1"/>
          <p:nvPr/>
        </p:nvSpPr>
        <p:spPr>
          <a:xfrm>
            <a:off x="722376" y="5650992"/>
            <a:ext cx="10744200" cy="384048"/>
          </a:xfrm>
          <a:prstGeom prst="rect">
            <a:avLst/>
          </a:prstGeom>
          <a:noFill/>
        </p:spPr>
        <p:txBody>
          <a:bodyPr wrap="square" lIns="0" tIns="0" rIns="0" bIns="0" anchor="ctr">
            <a:noAutofit/>
          </a:bodyPr>
          <a:lstStyle/>
          <a:p>
            <a:pPr algn="ctr">
              <a:lnSpc>
                <a:spcPct val="106000"/>
              </a:lnSpc>
              <a:spcBef>
                <a:spcPts val="0"/>
              </a:spcBef>
              <a:spcAft>
                <a:spcPts val="0"/>
              </a:spcAft>
            </a:pPr>
            <a:r>
              <a:rPr sz="2200" b="1">
                <a:solidFill>
                  <a:srgbClr val="0F2343"/>
                </a:solidFill>
                <a:latin typeface="Aptos"/>
              </a:rPr>
              <a:t>SC101  ·  Live demonstration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lide title"/>
          <p:cNvSpPr txBox="1"/>
          <p:nvPr/>
        </p:nvSpPr>
        <p:spPr>
          <a:xfrm>
            <a:off x="502920" y="292608"/>
            <a:ext cx="11183112" cy="1051560"/>
          </a:xfrm>
          <a:prstGeom prst="rect">
            <a:avLst/>
          </a:prstGeom>
          <a:noFill/>
        </p:spPr>
        <p:txBody>
          <a:bodyPr wrap="square" lIns="0" tIns="0" rIns="0" bIns="0" anchor="t">
            <a:noAutofit/>
          </a:bodyPr>
          <a:lstStyle/>
          <a:p>
            <a:pPr algn="l">
              <a:lnSpc>
                <a:spcPct val="106000"/>
              </a:lnSpc>
              <a:spcBef>
                <a:spcPts val="0"/>
              </a:spcBef>
              <a:spcAft>
                <a:spcPts val="0"/>
              </a:spcAft>
            </a:pPr>
            <a:r>
              <a:rPr sz="4000" b="1" dirty="0">
                <a:solidFill>
                  <a:srgbClr val="0F2343"/>
                </a:solidFill>
                <a:latin typeface="Aptos Display"/>
              </a:rPr>
              <a:t>The planner’s examples become acceptance tests</a:t>
            </a:r>
          </a:p>
        </p:txBody>
      </p:sp>
      <p:sp>
        <p:nvSpPr>
          <p:cNvPr id="3" name="Rectangle 2"/>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14"/>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14</a:t>
            </a:r>
          </a:p>
        </p:txBody>
      </p:sp>
      <p:sp>
        <p:nvSpPr>
          <p:cNvPr id="6" name="Text: 500 kg limit"/>
          <p:cNvSpPr txBox="1"/>
          <p:nvPr/>
        </p:nvSpPr>
        <p:spPr>
          <a:xfrm>
            <a:off x="841248" y="1965960"/>
            <a:ext cx="4892040" cy="356616"/>
          </a:xfrm>
          <a:prstGeom prst="rect">
            <a:avLst/>
          </a:prstGeom>
          <a:noFill/>
        </p:spPr>
        <p:txBody>
          <a:bodyPr wrap="square" lIns="0" tIns="0" rIns="0" bIns="0" anchor="ctr">
            <a:noAutofit/>
          </a:bodyPr>
          <a:lstStyle/>
          <a:p>
            <a:pPr algn="ctr">
              <a:lnSpc>
                <a:spcPct val="106000"/>
              </a:lnSpc>
              <a:spcBef>
                <a:spcPts val="0"/>
              </a:spcBef>
              <a:spcAft>
                <a:spcPts val="0"/>
              </a:spcAft>
            </a:pPr>
            <a:r>
              <a:rPr sz="2300" b="1">
                <a:solidFill>
                  <a:srgbClr val="F97316"/>
                </a:solidFill>
                <a:latin typeface="Aptos"/>
              </a:rPr>
              <a:t>500 kg limit</a:t>
            </a:r>
          </a:p>
        </p:txBody>
      </p:sp>
      <p:graphicFrame>
        <p:nvGraphicFramePr>
          <p:cNvPr id="7" name="Table 6"/>
          <p:cNvGraphicFramePr>
            <a:graphicFrameLocks noGrp="1"/>
          </p:cNvGraphicFramePr>
          <p:nvPr/>
        </p:nvGraphicFramePr>
        <p:xfrm>
          <a:off x="841248" y="2596896"/>
          <a:ext cx="4892039" cy="2286000"/>
        </p:xfrm>
        <a:graphic>
          <a:graphicData uri="http://schemas.openxmlformats.org/drawingml/2006/table">
            <a:tbl>
              <a:tblPr firstRow="1" bandRow="1">
                <a:tableStyleId>{5C22544A-7EE6-4342-B048-85BDC9FD1C3A}</a:tableStyleId>
              </a:tblPr>
              <a:tblGrid>
                <a:gridCol w="2348179">
                  <a:extLst>
                    <a:ext uri="{9D8B030D-6E8A-4147-A177-3AD203B41FA5}">
                      <a16:colId xmlns:a16="http://schemas.microsoft.com/office/drawing/2014/main" val="20000"/>
                    </a:ext>
                  </a:extLst>
                </a:gridCol>
                <a:gridCol w="1174089">
                  <a:extLst>
                    <a:ext uri="{9D8B030D-6E8A-4147-A177-3AD203B41FA5}">
                      <a16:colId xmlns:a16="http://schemas.microsoft.com/office/drawing/2014/main" val="20001"/>
                    </a:ext>
                  </a:extLst>
                </a:gridCol>
                <a:gridCol w="1369771">
                  <a:extLst>
                    <a:ext uri="{9D8B030D-6E8A-4147-A177-3AD203B41FA5}">
                      <a16:colId xmlns:a16="http://schemas.microsoft.com/office/drawing/2014/main" val="20002"/>
                    </a:ext>
                  </a:extLst>
                </a:gridCol>
              </a:tblGrid>
              <a:tr h="475488">
                <a:tc>
                  <a:txBody>
                    <a:bodyPr/>
                    <a:lstStyle/>
                    <a:p>
                      <a:pPr algn="l">
                        <a:spcBef>
                          <a:spcPts val="0"/>
                        </a:spcBef>
                        <a:spcAft>
                          <a:spcPts val="0"/>
                        </a:spcAft>
                      </a:pPr>
                      <a:r>
                        <a:rPr sz="1800" b="1">
                          <a:solidFill>
                            <a:srgbClr val="FFFFFF"/>
                          </a:solidFill>
                          <a:latin typeface="Aptos"/>
                        </a:rPr>
                        <a:t>Customer</a:t>
                      </a:r>
                    </a:p>
                  </a:txBody>
                  <a:tcPr marL="128016" marR="109728" anchor="ctr">
                    <a:solidFill>
                      <a:srgbClr val="0F2343"/>
                    </a:solidFill>
                  </a:tcPr>
                </a:tc>
                <a:tc>
                  <a:txBody>
                    <a:bodyPr/>
                    <a:lstStyle/>
                    <a:p>
                      <a:pPr algn="r">
                        <a:spcBef>
                          <a:spcPts val="0"/>
                        </a:spcBef>
                        <a:spcAft>
                          <a:spcPts val="0"/>
                        </a:spcAft>
                      </a:pPr>
                      <a:r>
                        <a:rPr sz="1800" b="1">
                          <a:solidFill>
                            <a:srgbClr val="FFFFFF"/>
                          </a:solidFill>
                          <a:latin typeface="Aptos"/>
                        </a:rPr>
                        <a:t>Weight</a:t>
                      </a:r>
                    </a:p>
                  </a:txBody>
                  <a:tcPr marL="128016" marR="109728" anchor="ctr">
                    <a:solidFill>
                      <a:srgbClr val="0F2343"/>
                    </a:solidFill>
                  </a:tcPr>
                </a:tc>
                <a:tc>
                  <a:txBody>
                    <a:bodyPr/>
                    <a:lstStyle/>
                    <a:p>
                      <a:pPr algn="r">
                        <a:spcBef>
                          <a:spcPts val="0"/>
                        </a:spcBef>
                        <a:spcAft>
                          <a:spcPts val="0"/>
                        </a:spcAft>
                      </a:pPr>
                      <a:r>
                        <a:rPr sz="1800" b="1">
                          <a:solidFill>
                            <a:srgbClr val="FFFFFF"/>
                          </a:solidFill>
                          <a:latin typeface="Aptos"/>
                        </a:rPr>
                        <a:t>Revenue</a:t>
                      </a:r>
                    </a:p>
                  </a:txBody>
                  <a:tcPr marL="128016" marR="109728" anchor="ctr">
                    <a:solidFill>
                      <a:srgbClr val="0F2343"/>
                    </a:solidFill>
                  </a:tcPr>
                </a:tc>
                <a:extLst>
                  <a:ext uri="{0D108BD9-81ED-4DB2-BD59-A6C34878D82A}">
                    <a16:rowId xmlns:a16="http://schemas.microsoft.com/office/drawing/2014/main" val="10000"/>
                  </a:ext>
                </a:extLst>
              </a:tr>
              <a:tr h="603504">
                <a:tc>
                  <a:txBody>
                    <a:bodyPr/>
                    <a:lstStyle/>
                    <a:p>
                      <a:pPr algn="l">
                        <a:spcBef>
                          <a:spcPts val="0"/>
                        </a:spcBef>
                        <a:spcAft>
                          <a:spcPts val="0"/>
                        </a:spcAft>
                      </a:pPr>
                      <a:r>
                        <a:rPr sz="2000" b="1">
                          <a:solidFill>
                            <a:srgbClr val="0F2343"/>
                          </a:solidFill>
                          <a:latin typeface="Aptos"/>
                        </a:rPr>
                        <a:t>Atlas Steel</a:t>
                      </a:r>
                    </a:p>
                  </a:txBody>
                  <a:tcPr marL="128016" marR="109728" anchor="ctr">
                    <a:solidFill>
                      <a:srgbClr val="FFF0E5"/>
                    </a:solidFill>
                  </a:tcPr>
                </a:tc>
                <a:tc>
                  <a:txBody>
                    <a:bodyPr/>
                    <a:lstStyle/>
                    <a:p>
                      <a:pPr algn="r">
                        <a:spcBef>
                          <a:spcPts val="0"/>
                        </a:spcBef>
                        <a:spcAft>
                          <a:spcPts val="0"/>
                        </a:spcAft>
                      </a:pPr>
                      <a:r>
                        <a:rPr sz="2000" b="1">
                          <a:solidFill>
                            <a:srgbClr val="0F2343"/>
                          </a:solidFill>
                          <a:latin typeface="Aptos"/>
                        </a:rPr>
                        <a:t>300 kg</a:t>
                      </a:r>
                    </a:p>
                  </a:txBody>
                  <a:tcPr marL="128016" marR="109728" anchor="ctr">
                    <a:solidFill>
                      <a:srgbClr val="FFF0E5"/>
                    </a:solidFill>
                  </a:tcPr>
                </a:tc>
                <a:tc>
                  <a:txBody>
                    <a:bodyPr/>
                    <a:lstStyle/>
                    <a:p>
                      <a:pPr algn="r">
                        <a:spcBef>
                          <a:spcPts val="0"/>
                        </a:spcBef>
                        <a:spcAft>
                          <a:spcPts val="0"/>
                        </a:spcAft>
                      </a:pPr>
                      <a:r>
                        <a:rPr sz="2000" b="1">
                          <a:solidFill>
                            <a:srgbClr val="0F2343"/>
                          </a:solidFill>
                          <a:latin typeface="Aptos"/>
                        </a:rPr>
                        <a:t>$3,000</a:t>
                      </a:r>
                    </a:p>
                  </a:txBody>
                  <a:tcPr marL="128016" marR="109728" anchor="ctr">
                    <a:solidFill>
                      <a:srgbClr val="FFF0E5"/>
                    </a:solidFill>
                  </a:tcPr>
                </a:tc>
                <a:extLst>
                  <a:ext uri="{0D108BD9-81ED-4DB2-BD59-A6C34878D82A}">
                    <a16:rowId xmlns:a16="http://schemas.microsoft.com/office/drawing/2014/main" val="10001"/>
                  </a:ext>
                </a:extLst>
              </a:tr>
              <a:tr h="603504">
                <a:tc>
                  <a:txBody>
                    <a:bodyPr/>
                    <a:lstStyle/>
                    <a:p>
                      <a:pPr algn="l">
                        <a:spcBef>
                          <a:spcPts val="0"/>
                        </a:spcBef>
                        <a:spcAft>
                          <a:spcPts val="0"/>
                        </a:spcAft>
                      </a:pPr>
                      <a:r>
                        <a:rPr sz="2000" b="0">
                          <a:solidFill>
                            <a:srgbClr val="0F2343"/>
                          </a:solidFill>
                          <a:latin typeface="Aptos"/>
                        </a:rPr>
                        <a:t>Bighorn Auto</a:t>
                      </a:r>
                    </a:p>
                  </a:txBody>
                  <a:tcPr marL="128016" marR="109728" anchor="ctr">
                    <a:solidFill>
                      <a:srgbClr val="FFFFFF"/>
                    </a:solidFill>
                  </a:tcPr>
                </a:tc>
                <a:tc>
                  <a:txBody>
                    <a:bodyPr/>
                    <a:lstStyle/>
                    <a:p>
                      <a:pPr algn="r">
                        <a:spcBef>
                          <a:spcPts val="0"/>
                        </a:spcBef>
                        <a:spcAft>
                          <a:spcPts val="0"/>
                        </a:spcAft>
                      </a:pPr>
                      <a:r>
                        <a:rPr sz="2000" b="0">
                          <a:solidFill>
                            <a:srgbClr val="0F2343"/>
                          </a:solidFill>
                          <a:latin typeface="Aptos"/>
                        </a:rPr>
                        <a:t>900 kg</a:t>
                      </a:r>
                    </a:p>
                  </a:txBody>
                  <a:tcPr marL="128016" marR="109728" anchor="ctr">
                    <a:solidFill>
                      <a:srgbClr val="FFFFFF"/>
                    </a:solidFill>
                  </a:tcPr>
                </a:tc>
                <a:tc>
                  <a:txBody>
                    <a:bodyPr/>
                    <a:lstStyle/>
                    <a:p>
                      <a:pPr algn="r">
                        <a:spcBef>
                          <a:spcPts val="0"/>
                        </a:spcBef>
                        <a:spcAft>
                          <a:spcPts val="0"/>
                        </a:spcAft>
                      </a:pPr>
                      <a:r>
                        <a:rPr sz="2000" b="0">
                          <a:solidFill>
                            <a:srgbClr val="0F2343"/>
                          </a:solidFill>
                          <a:latin typeface="Aptos"/>
                        </a:rPr>
                        <a:t>$9,000</a:t>
                      </a:r>
                    </a:p>
                  </a:txBody>
                  <a:tcPr marL="128016" marR="109728" anchor="ctr">
                    <a:solidFill>
                      <a:srgbClr val="FFFFFF"/>
                    </a:solidFill>
                  </a:tcPr>
                </a:tc>
                <a:extLst>
                  <a:ext uri="{0D108BD9-81ED-4DB2-BD59-A6C34878D82A}">
                    <a16:rowId xmlns:a16="http://schemas.microsoft.com/office/drawing/2014/main" val="10002"/>
                  </a:ext>
                </a:extLst>
              </a:tr>
              <a:tr h="603504">
                <a:tc>
                  <a:txBody>
                    <a:bodyPr/>
                    <a:lstStyle/>
                    <a:p>
                      <a:pPr algn="l">
                        <a:spcBef>
                          <a:spcPts val="0"/>
                        </a:spcBef>
                        <a:spcAft>
                          <a:spcPts val="0"/>
                        </a:spcAft>
                      </a:pPr>
                      <a:r>
                        <a:rPr sz="2000" b="0">
                          <a:solidFill>
                            <a:srgbClr val="0F2343"/>
                          </a:solidFill>
                          <a:latin typeface="Aptos"/>
                        </a:rPr>
                        <a:t>Cedar Pharma</a:t>
                      </a:r>
                    </a:p>
                  </a:txBody>
                  <a:tcPr marL="128016" marR="109728" anchor="ctr">
                    <a:solidFill>
                      <a:srgbClr val="FFFFFF"/>
                    </a:solidFill>
                  </a:tcPr>
                </a:tc>
                <a:tc>
                  <a:txBody>
                    <a:bodyPr/>
                    <a:lstStyle/>
                    <a:p>
                      <a:pPr algn="r">
                        <a:spcBef>
                          <a:spcPts val="0"/>
                        </a:spcBef>
                        <a:spcAft>
                          <a:spcPts val="0"/>
                        </a:spcAft>
                      </a:pPr>
                      <a:r>
                        <a:rPr sz="2000" b="0">
                          <a:solidFill>
                            <a:srgbClr val="0F2343"/>
                          </a:solidFill>
                          <a:latin typeface="Aptos"/>
                        </a:rPr>
                        <a:t>300 kg</a:t>
                      </a:r>
                    </a:p>
                  </a:txBody>
                  <a:tcPr marL="128016" marR="109728" anchor="ctr">
                    <a:solidFill>
                      <a:srgbClr val="FFFFFF"/>
                    </a:solidFill>
                  </a:tcPr>
                </a:tc>
                <a:tc>
                  <a:txBody>
                    <a:bodyPr/>
                    <a:lstStyle/>
                    <a:p>
                      <a:pPr algn="r">
                        <a:spcBef>
                          <a:spcPts val="0"/>
                        </a:spcBef>
                        <a:spcAft>
                          <a:spcPts val="0"/>
                        </a:spcAft>
                      </a:pPr>
                      <a:r>
                        <a:rPr sz="2000" b="0">
                          <a:solidFill>
                            <a:srgbClr val="0F2343"/>
                          </a:solidFill>
                          <a:latin typeface="Aptos"/>
                        </a:rPr>
                        <a:t>$800</a:t>
                      </a:r>
                    </a:p>
                  </a:txBody>
                  <a:tcPr marL="128016" marR="109728" anchor="ctr">
                    <a:solidFill>
                      <a:srgbClr val="FFFFFF"/>
                    </a:solidFill>
                  </a:tcPr>
                </a:tc>
                <a:extLst>
                  <a:ext uri="{0D108BD9-81ED-4DB2-BD59-A6C34878D82A}">
                    <a16:rowId xmlns:a16="http://schemas.microsoft.com/office/drawing/2014/main" val="10003"/>
                  </a:ext>
                </a:extLst>
              </a:tr>
            </a:tbl>
          </a:graphicData>
        </a:graphic>
      </p:graphicFrame>
      <p:sp>
        <p:nvSpPr>
          <p:cNvPr id="8" name="Rectangle 7"/>
          <p:cNvSpPr/>
          <p:nvPr/>
        </p:nvSpPr>
        <p:spPr>
          <a:xfrm>
            <a:off x="841248" y="3072384"/>
            <a:ext cx="4892040" cy="603504"/>
          </a:xfrm>
          <a:prstGeom prst="rect">
            <a:avLst/>
          </a:prstGeom>
          <a:noFill/>
          <a:ln w="2032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 ✓"/>
          <p:cNvSpPr txBox="1"/>
          <p:nvPr/>
        </p:nvSpPr>
        <p:spPr>
          <a:xfrm>
            <a:off x="466344" y="3154679"/>
            <a:ext cx="310896" cy="384048"/>
          </a:xfrm>
          <a:prstGeom prst="rect">
            <a:avLst/>
          </a:prstGeom>
          <a:noFill/>
        </p:spPr>
        <p:txBody>
          <a:bodyPr wrap="square" lIns="0" tIns="0" rIns="0" bIns="0" anchor="ctr">
            <a:noAutofit/>
          </a:bodyPr>
          <a:lstStyle/>
          <a:p>
            <a:pPr algn="ctr">
              <a:lnSpc>
                <a:spcPct val="106000"/>
              </a:lnSpc>
              <a:spcBef>
                <a:spcPts val="0"/>
              </a:spcBef>
              <a:spcAft>
                <a:spcPts val="0"/>
              </a:spcAft>
            </a:pPr>
            <a:r>
              <a:rPr sz="2100" b="1">
                <a:solidFill>
                  <a:srgbClr val="F97316"/>
                </a:solidFill>
                <a:latin typeface="Segoe UI Symbol"/>
              </a:rPr>
              <a:t>✓</a:t>
            </a:r>
          </a:p>
        </p:txBody>
      </p:sp>
      <p:sp>
        <p:nvSpPr>
          <p:cNvPr id="10" name="Text: Expected: Atlas"/>
          <p:cNvSpPr txBox="1"/>
          <p:nvPr/>
        </p:nvSpPr>
        <p:spPr>
          <a:xfrm>
            <a:off x="841248" y="5065776"/>
            <a:ext cx="4892040" cy="393192"/>
          </a:xfrm>
          <a:prstGeom prst="rect">
            <a:avLst/>
          </a:prstGeom>
          <a:noFill/>
        </p:spPr>
        <p:txBody>
          <a:bodyPr wrap="square" lIns="0" tIns="0" rIns="0" bIns="0" anchor="ctr">
            <a:noAutofit/>
          </a:bodyPr>
          <a:lstStyle/>
          <a:p>
            <a:pPr algn="ctr">
              <a:lnSpc>
                <a:spcPct val="106000"/>
              </a:lnSpc>
              <a:spcBef>
                <a:spcPts val="0"/>
              </a:spcBef>
              <a:spcAft>
                <a:spcPts val="0"/>
              </a:spcAft>
            </a:pPr>
            <a:r>
              <a:rPr sz="2500" b="1">
                <a:solidFill>
                  <a:srgbClr val="0F2343"/>
                </a:solidFill>
                <a:latin typeface="Aptos"/>
              </a:rPr>
              <a:t>Expected: Atlas</a:t>
            </a:r>
          </a:p>
        </p:txBody>
      </p:sp>
      <p:sp>
        <p:nvSpPr>
          <p:cNvPr id="11" name="Text: $3,000  ·  300 kg"/>
          <p:cNvSpPr txBox="1"/>
          <p:nvPr/>
        </p:nvSpPr>
        <p:spPr>
          <a:xfrm>
            <a:off x="841248" y="5577840"/>
            <a:ext cx="4892040" cy="438912"/>
          </a:xfrm>
          <a:prstGeom prst="rect">
            <a:avLst/>
          </a:prstGeom>
          <a:noFill/>
        </p:spPr>
        <p:txBody>
          <a:bodyPr wrap="square" lIns="0" tIns="0" rIns="0" bIns="0" anchor="ctr">
            <a:noAutofit/>
          </a:bodyPr>
          <a:lstStyle/>
          <a:p>
            <a:pPr algn="ctr">
              <a:lnSpc>
                <a:spcPct val="106000"/>
              </a:lnSpc>
              <a:spcBef>
                <a:spcPts val="0"/>
              </a:spcBef>
              <a:spcAft>
                <a:spcPts val="0"/>
              </a:spcAft>
            </a:pPr>
            <a:r>
              <a:rPr sz="2700" b="1">
                <a:solidFill>
                  <a:srgbClr val="0F2343"/>
                </a:solidFill>
                <a:latin typeface="Aptos"/>
              </a:rPr>
              <a:t>$3,000  ·  300 kg</a:t>
            </a:r>
          </a:p>
        </p:txBody>
      </p:sp>
      <p:sp>
        <p:nvSpPr>
          <p:cNvPr id="12" name="Text: Would this test catch…"/>
          <p:cNvSpPr txBox="1"/>
          <p:nvPr/>
        </p:nvSpPr>
        <p:spPr>
          <a:xfrm>
            <a:off x="6318504" y="1975104"/>
            <a:ext cx="5029200" cy="393192"/>
          </a:xfrm>
          <a:prstGeom prst="rect">
            <a:avLst/>
          </a:prstGeom>
          <a:noFill/>
        </p:spPr>
        <p:txBody>
          <a:bodyPr wrap="square" lIns="0" tIns="0" rIns="0" bIns="0" anchor="ctr">
            <a:noAutofit/>
          </a:bodyPr>
          <a:lstStyle/>
          <a:p>
            <a:pPr algn="l">
              <a:lnSpc>
                <a:spcPct val="106000"/>
              </a:lnSpc>
              <a:spcBef>
                <a:spcPts val="0"/>
              </a:spcBef>
              <a:spcAft>
                <a:spcPts val="0"/>
              </a:spcAft>
            </a:pPr>
            <a:r>
              <a:rPr sz="2600" b="1">
                <a:solidFill>
                  <a:srgbClr val="0F2343"/>
                </a:solidFill>
                <a:latin typeface="Aptos"/>
              </a:rPr>
              <a:t>Would this test catch…</a:t>
            </a:r>
          </a:p>
        </p:txBody>
      </p:sp>
      <p:sp>
        <p:nvSpPr>
          <p:cNvPr id="13" name="Rounded Rectangle 12"/>
          <p:cNvSpPr/>
          <p:nvPr/>
        </p:nvSpPr>
        <p:spPr>
          <a:xfrm>
            <a:off x="6318504" y="2743200"/>
            <a:ext cx="5029200" cy="1051560"/>
          </a:xfrm>
          <a:prstGeom prst="roundRect">
            <a:avLst>
              <a:gd name="adj" fmla="val 12000"/>
            </a:avLst>
          </a:prstGeom>
          <a:solidFill>
            <a:srgbClr val="FFFFFF"/>
          </a:solidFill>
          <a:ln w="1905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 Ignoring the weight limit?"/>
          <p:cNvSpPr txBox="1"/>
          <p:nvPr/>
        </p:nvSpPr>
        <p:spPr>
          <a:xfrm>
            <a:off x="6565392" y="2898648"/>
            <a:ext cx="4535424" cy="713232"/>
          </a:xfrm>
          <a:prstGeom prst="rect">
            <a:avLst/>
          </a:prstGeom>
          <a:noFill/>
        </p:spPr>
        <p:txBody>
          <a:bodyPr wrap="square" lIns="0" tIns="0" rIns="0" bIns="0" anchor="ctr">
            <a:noAutofit/>
          </a:bodyPr>
          <a:lstStyle/>
          <a:p>
            <a:pPr algn="l">
              <a:lnSpc>
                <a:spcPct val="106000"/>
              </a:lnSpc>
              <a:spcBef>
                <a:spcPts val="0"/>
              </a:spcBef>
              <a:spcAft>
                <a:spcPts val="0"/>
              </a:spcAft>
            </a:pPr>
            <a:r>
              <a:rPr sz="2600" b="1">
                <a:solidFill>
                  <a:srgbClr val="0F2343"/>
                </a:solidFill>
                <a:latin typeface="Aptos"/>
              </a:rPr>
              <a:t>Ignoring the weight limit?</a:t>
            </a:r>
          </a:p>
        </p:txBody>
      </p:sp>
      <p:sp>
        <p:nvSpPr>
          <p:cNvPr id="15" name="Rounded Rectangle 14"/>
          <p:cNvSpPr/>
          <p:nvPr/>
        </p:nvSpPr>
        <p:spPr>
          <a:xfrm>
            <a:off x="6318504" y="4178808"/>
            <a:ext cx="5029200" cy="1051560"/>
          </a:xfrm>
          <a:prstGeom prst="roundRect">
            <a:avLst>
              <a:gd name="adj" fmla="val 12000"/>
            </a:avLst>
          </a:prstGeom>
          <a:solidFill>
            <a:srgbClr val="FFFFFF"/>
          </a:solidFill>
          <a:ln w="1905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 Splitting a shipment?"/>
          <p:cNvSpPr txBox="1"/>
          <p:nvPr/>
        </p:nvSpPr>
        <p:spPr>
          <a:xfrm>
            <a:off x="6565392" y="4334256"/>
            <a:ext cx="4535424" cy="713232"/>
          </a:xfrm>
          <a:prstGeom prst="rect">
            <a:avLst/>
          </a:prstGeom>
          <a:noFill/>
        </p:spPr>
        <p:txBody>
          <a:bodyPr wrap="square" lIns="0" tIns="0" rIns="0" bIns="0" anchor="ctr">
            <a:noAutofit/>
          </a:bodyPr>
          <a:lstStyle/>
          <a:p>
            <a:pPr algn="l">
              <a:lnSpc>
                <a:spcPct val="106000"/>
              </a:lnSpc>
              <a:spcBef>
                <a:spcPts val="0"/>
              </a:spcBef>
              <a:spcAft>
                <a:spcPts val="0"/>
              </a:spcAft>
            </a:pPr>
            <a:r>
              <a:rPr sz="2600" b="1">
                <a:solidFill>
                  <a:srgbClr val="0F2343"/>
                </a:solidFill>
                <a:latin typeface="Aptos"/>
              </a:rPr>
              <a:t>Splitting a shipment?</a:t>
            </a:r>
          </a:p>
        </p:txBody>
      </p:sp>
      <p:sp>
        <p:nvSpPr>
          <p:cNvPr id="17" name="Text: Predict in pairs  ·  Explain why"/>
          <p:cNvSpPr txBox="1"/>
          <p:nvPr/>
        </p:nvSpPr>
        <p:spPr>
          <a:xfrm>
            <a:off x="6318504" y="5715000"/>
            <a:ext cx="5029200" cy="393192"/>
          </a:xfrm>
          <a:prstGeom prst="rect">
            <a:avLst/>
          </a:prstGeom>
          <a:noFill/>
        </p:spPr>
        <p:txBody>
          <a:bodyPr wrap="square" lIns="0" tIns="0" rIns="0" bIns="0" anchor="ctr">
            <a:noAutofit/>
          </a:bodyPr>
          <a:lstStyle/>
          <a:p>
            <a:pPr algn="ctr">
              <a:lnSpc>
                <a:spcPct val="106000"/>
              </a:lnSpc>
              <a:spcBef>
                <a:spcPts val="0"/>
              </a:spcBef>
              <a:spcAft>
                <a:spcPts val="0"/>
              </a:spcAft>
            </a:pPr>
            <a:r>
              <a:rPr sz="2100" b="1">
                <a:solidFill>
                  <a:srgbClr val="F97316"/>
                </a:solidFill>
                <a:latin typeface="Aptos"/>
              </a:rPr>
              <a:t>Predict in pairs  ·  Explain why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lide title"/>
          <p:cNvSpPr txBox="1"/>
          <p:nvPr/>
        </p:nvSpPr>
        <p:spPr>
          <a:xfrm>
            <a:off x="502920" y="246888"/>
            <a:ext cx="11183112" cy="1188720"/>
          </a:xfrm>
          <a:prstGeom prst="rect">
            <a:avLst/>
          </a:prstGeom>
          <a:noFill/>
        </p:spPr>
        <p:txBody>
          <a:bodyPr wrap="square" lIns="0" tIns="0" rIns="0" bIns="0" anchor="t">
            <a:noAutofit/>
          </a:bodyPr>
          <a:lstStyle/>
          <a:p>
            <a:pPr algn="l">
              <a:lnSpc>
                <a:spcPct val="106000"/>
              </a:lnSpc>
              <a:spcBef>
                <a:spcPts val="0"/>
              </a:spcBef>
              <a:spcAft>
                <a:spcPts val="0"/>
              </a:spcAft>
            </a:pPr>
            <a:r>
              <a:rPr sz="4000" b="1" dirty="0">
                <a:solidFill>
                  <a:srgbClr val="0F2343"/>
                </a:solidFill>
                <a:latin typeface="Aptos Display"/>
              </a:rPr>
              <a:t>The cycle runs again:</a:t>
            </a:r>
          </a:p>
          <a:p>
            <a:pPr algn="l">
              <a:lnSpc>
                <a:spcPct val="106000"/>
              </a:lnSpc>
              <a:spcBef>
                <a:spcPts val="0"/>
              </a:spcBef>
              <a:spcAft>
                <a:spcPts val="0"/>
              </a:spcAft>
            </a:pPr>
            <a:r>
              <a:rPr sz="4000" b="1" dirty="0">
                <a:solidFill>
                  <a:srgbClr val="0F2343"/>
                </a:solidFill>
                <a:latin typeface="Aptos Display"/>
              </a:rPr>
              <a:t>the planner asks for client diversity</a:t>
            </a:r>
          </a:p>
        </p:txBody>
      </p:sp>
      <p:sp>
        <p:nvSpPr>
          <p:cNvPr id="3" name="Rectangle 2"/>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15"/>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15</a:t>
            </a:r>
          </a:p>
        </p:txBody>
      </p:sp>
      <p:sp>
        <p:nvSpPr>
          <p:cNvPr id="6" name="Freeform 5"/>
          <p:cNvSpPr/>
          <p:nvPr/>
        </p:nvSpPr>
        <p:spPr>
          <a:xfrm>
            <a:off x="7281367" y="2450592"/>
            <a:ext cx="475488" cy="72238"/>
          </a:xfrm>
          <a:custGeom>
            <a:avLst/>
            <a:gdLst/>
            <a:ahLst/>
            <a:cxnLst/>
            <a:rect l="l" t="t" r="r" b="b"/>
            <a:pathLst>
              <a:path w="520" h="79">
                <a:moveTo>
                  <a:pt x="0" y="0"/>
                </a:moveTo>
                <a:lnTo>
                  <a:pt x="16" y="2"/>
                </a:lnTo>
                <a:lnTo>
                  <a:pt x="33" y="4"/>
                </a:lnTo>
                <a:lnTo>
                  <a:pt x="49" y="6"/>
                </a:lnTo>
                <a:lnTo>
                  <a:pt x="66" y="8"/>
                </a:lnTo>
                <a:lnTo>
                  <a:pt x="82" y="10"/>
                </a:lnTo>
                <a:lnTo>
                  <a:pt x="99" y="13"/>
                </a:lnTo>
                <a:lnTo>
                  <a:pt x="115" y="15"/>
                </a:lnTo>
                <a:lnTo>
                  <a:pt x="132" y="17"/>
                </a:lnTo>
                <a:lnTo>
                  <a:pt x="148" y="19"/>
                </a:lnTo>
                <a:lnTo>
                  <a:pt x="165" y="22"/>
                </a:lnTo>
                <a:lnTo>
                  <a:pt x="181" y="24"/>
                </a:lnTo>
                <a:lnTo>
                  <a:pt x="198" y="26"/>
                </a:lnTo>
                <a:lnTo>
                  <a:pt x="214" y="29"/>
                </a:lnTo>
                <a:lnTo>
                  <a:pt x="230" y="31"/>
                </a:lnTo>
                <a:lnTo>
                  <a:pt x="247" y="34"/>
                </a:lnTo>
                <a:lnTo>
                  <a:pt x="263" y="36"/>
                </a:lnTo>
                <a:lnTo>
                  <a:pt x="279" y="39"/>
                </a:lnTo>
                <a:lnTo>
                  <a:pt x="295" y="41"/>
                </a:lnTo>
                <a:lnTo>
                  <a:pt x="312" y="44"/>
                </a:lnTo>
                <a:lnTo>
                  <a:pt x="328" y="46"/>
                </a:lnTo>
                <a:lnTo>
                  <a:pt x="344" y="49"/>
                </a:lnTo>
                <a:lnTo>
                  <a:pt x="360" y="52"/>
                </a:lnTo>
                <a:lnTo>
                  <a:pt x="376" y="54"/>
                </a:lnTo>
                <a:lnTo>
                  <a:pt x="392" y="57"/>
                </a:lnTo>
                <a:lnTo>
                  <a:pt x="408" y="60"/>
                </a:lnTo>
                <a:lnTo>
                  <a:pt x="424" y="62"/>
                </a:lnTo>
                <a:lnTo>
                  <a:pt x="440" y="65"/>
                </a:lnTo>
                <a:lnTo>
                  <a:pt x="456" y="68"/>
                </a:lnTo>
                <a:lnTo>
                  <a:pt x="472" y="71"/>
                </a:lnTo>
                <a:lnTo>
                  <a:pt x="488" y="74"/>
                </a:lnTo>
                <a:lnTo>
                  <a:pt x="504" y="77"/>
                </a:lnTo>
                <a:lnTo>
                  <a:pt x="520" y="79"/>
                </a:lnTo>
              </a:path>
            </a:pathLst>
          </a:custGeom>
          <a:noFill/>
          <a:ln w="21590">
            <a:solidFill>
              <a:srgbClr val="64748B"/>
            </a:solidFill>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reeform 6"/>
          <p:cNvSpPr/>
          <p:nvPr/>
        </p:nvSpPr>
        <p:spPr>
          <a:xfrm>
            <a:off x="9669780" y="3253435"/>
            <a:ext cx="351130" cy="373075"/>
          </a:xfrm>
          <a:custGeom>
            <a:avLst/>
            <a:gdLst/>
            <a:ahLst/>
            <a:cxnLst/>
            <a:rect l="l" t="t" r="r" b="b"/>
            <a:pathLst>
              <a:path w="384" h="408">
                <a:moveTo>
                  <a:pt x="0" y="0"/>
                </a:moveTo>
                <a:lnTo>
                  <a:pt x="8" y="6"/>
                </a:lnTo>
                <a:lnTo>
                  <a:pt x="16" y="12"/>
                </a:lnTo>
                <a:lnTo>
                  <a:pt x="24" y="19"/>
                </a:lnTo>
                <a:lnTo>
                  <a:pt x="32" y="25"/>
                </a:lnTo>
                <a:lnTo>
                  <a:pt x="40" y="31"/>
                </a:lnTo>
                <a:lnTo>
                  <a:pt x="48" y="37"/>
                </a:lnTo>
                <a:lnTo>
                  <a:pt x="56" y="44"/>
                </a:lnTo>
                <a:lnTo>
                  <a:pt x="63" y="50"/>
                </a:lnTo>
                <a:lnTo>
                  <a:pt x="71" y="56"/>
                </a:lnTo>
                <a:lnTo>
                  <a:pt x="78" y="63"/>
                </a:lnTo>
                <a:lnTo>
                  <a:pt x="86" y="69"/>
                </a:lnTo>
                <a:lnTo>
                  <a:pt x="93" y="76"/>
                </a:lnTo>
                <a:lnTo>
                  <a:pt x="101" y="82"/>
                </a:lnTo>
                <a:lnTo>
                  <a:pt x="108" y="88"/>
                </a:lnTo>
                <a:lnTo>
                  <a:pt x="115" y="95"/>
                </a:lnTo>
                <a:lnTo>
                  <a:pt x="123" y="101"/>
                </a:lnTo>
                <a:lnTo>
                  <a:pt x="130" y="108"/>
                </a:lnTo>
                <a:lnTo>
                  <a:pt x="137" y="114"/>
                </a:lnTo>
                <a:lnTo>
                  <a:pt x="144" y="121"/>
                </a:lnTo>
                <a:lnTo>
                  <a:pt x="151" y="127"/>
                </a:lnTo>
                <a:lnTo>
                  <a:pt x="158" y="134"/>
                </a:lnTo>
                <a:lnTo>
                  <a:pt x="164" y="140"/>
                </a:lnTo>
                <a:lnTo>
                  <a:pt x="171" y="147"/>
                </a:lnTo>
                <a:lnTo>
                  <a:pt x="178" y="153"/>
                </a:lnTo>
                <a:lnTo>
                  <a:pt x="184" y="160"/>
                </a:lnTo>
                <a:lnTo>
                  <a:pt x="191" y="166"/>
                </a:lnTo>
                <a:lnTo>
                  <a:pt x="197" y="173"/>
                </a:lnTo>
                <a:lnTo>
                  <a:pt x="204" y="179"/>
                </a:lnTo>
                <a:lnTo>
                  <a:pt x="210" y="186"/>
                </a:lnTo>
                <a:lnTo>
                  <a:pt x="217" y="193"/>
                </a:lnTo>
                <a:lnTo>
                  <a:pt x="223" y="199"/>
                </a:lnTo>
                <a:lnTo>
                  <a:pt x="229" y="206"/>
                </a:lnTo>
                <a:lnTo>
                  <a:pt x="235" y="212"/>
                </a:lnTo>
                <a:lnTo>
                  <a:pt x="241" y="219"/>
                </a:lnTo>
                <a:lnTo>
                  <a:pt x="247" y="226"/>
                </a:lnTo>
                <a:lnTo>
                  <a:pt x="253" y="232"/>
                </a:lnTo>
                <a:lnTo>
                  <a:pt x="259" y="239"/>
                </a:lnTo>
                <a:lnTo>
                  <a:pt x="265" y="246"/>
                </a:lnTo>
                <a:lnTo>
                  <a:pt x="270" y="252"/>
                </a:lnTo>
                <a:lnTo>
                  <a:pt x="276" y="259"/>
                </a:lnTo>
                <a:lnTo>
                  <a:pt x="282" y="266"/>
                </a:lnTo>
                <a:lnTo>
                  <a:pt x="287" y="272"/>
                </a:lnTo>
                <a:lnTo>
                  <a:pt x="293" y="279"/>
                </a:lnTo>
                <a:lnTo>
                  <a:pt x="298" y="286"/>
                </a:lnTo>
                <a:lnTo>
                  <a:pt x="304" y="292"/>
                </a:lnTo>
                <a:lnTo>
                  <a:pt x="309" y="299"/>
                </a:lnTo>
                <a:lnTo>
                  <a:pt x="314" y="306"/>
                </a:lnTo>
                <a:lnTo>
                  <a:pt x="319" y="313"/>
                </a:lnTo>
                <a:lnTo>
                  <a:pt x="324" y="319"/>
                </a:lnTo>
                <a:lnTo>
                  <a:pt x="329" y="326"/>
                </a:lnTo>
                <a:lnTo>
                  <a:pt x="334" y="333"/>
                </a:lnTo>
                <a:lnTo>
                  <a:pt x="339" y="340"/>
                </a:lnTo>
                <a:lnTo>
                  <a:pt x="344" y="347"/>
                </a:lnTo>
                <a:lnTo>
                  <a:pt x="349" y="353"/>
                </a:lnTo>
                <a:lnTo>
                  <a:pt x="353" y="360"/>
                </a:lnTo>
                <a:lnTo>
                  <a:pt x="358" y="367"/>
                </a:lnTo>
                <a:lnTo>
                  <a:pt x="363" y="374"/>
                </a:lnTo>
                <a:lnTo>
                  <a:pt x="367" y="381"/>
                </a:lnTo>
                <a:lnTo>
                  <a:pt x="371" y="388"/>
                </a:lnTo>
                <a:lnTo>
                  <a:pt x="376" y="394"/>
                </a:lnTo>
                <a:lnTo>
                  <a:pt x="380" y="401"/>
                </a:lnTo>
                <a:lnTo>
                  <a:pt x="384" y="408"/>
                </a:lnTo>
              </a:path>
            </a:pathLst>
          </a:custGeom>
          <a:noFill/>
          <a:ln w="21590">
            <a:solidFill>
              <a:srgbClr val="64748B"/>
            </a:solidFill>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eeform 7"/>
          <p:cNvSpPr/>
          <p:nvPr/>
        </p:nvSpPr>
        <p:spPr>
          <a:xfrm>
            <a:off x="9669780" y="4420210"/>
            <a:ext cx="351130" cy="373075"/>
          </a:xfrm>
          <a:custGeom>
            <a:avLst/>
            <a:gdLst/>
            <a:ahLst/>
            <a:cxnLst/>
            <a:rect l="l" t="t" r="r" b="b"/>
            <a:pathLst>
              <a:path w="384" h="408">
                <a:moveTo>
                  <a:pt x="384" y="0"/>
                </a:moveTo>
                <a:lnTo>
                  <a:pt x="380" y="7"/>
                </a:lnTo>
                <a:lnTo>
                  <a:pt x="376" y="14"/>
                </a:lnTo>
                <a:lnTo>
                  <a:pt x="371" y="20"/>
                </a:lnTo>
                <a:lnTo>
                  <a:pt x="367" y="27"/>
                </a:lnTo>
                <a:lnTo>
                  <a:pt x="363" y="34"/>
                </a:lnTo>
                <a:lnTo>
                  <a:pt x="358" y="41"/>
                </a:lnTo>
                <a:lnTo>
                  <a:pt x="353" y="48"/>
                </a:lnTo>
                <a:lnTo>
                  <a:pt x="349" y="55"/>
                </a:lnTo>
                <a:lnTo>
                  <a:pt x="344" y="61"/>
                </a:lnTo>
                <a:lnTo>
                  <a:pt x="339" y="68"/>
                </a:lnTo>
                <a:lnTo>
                  <a:pt x="334" y="75"/>
                </a:lnTo>
                <a:lnTo>
                  <a:pt x="329" y="82"/>
                </a:lnTo>
                <a:lnTo>
                  <a:pt x="324" y="89"/>
                </a:lnTo>
                <a:lnTo>
                  <a:pt x="319" y="95"/>
                </a:lnTo>
                <a:lnTo>
                  <a:pt x="314" y="102"/>
                </a:lnTo>
                <a:lnTo>
                  <a:pt x="309" y="109"/>
                </a:lnTo>
                <a:lnTo>
                  <a:pt x="304" y="116"/>
                </a:lnTo>
                <a:lnTo>
                  <a:pt x="298" y="122"/>
                </a:lnTo>
                <a:lnTo>
                  <a:pt x="293" y="129"/>
                </a:lnTo>
                <a:lnTo>
                  <a:pt x="287" y="136"/>
                </a:lnTo>
                <a:lnTo>
                  <a:pt x="282" y="142"/>
                </a:lnTo>
                <a:lnTo>
                  <a:pt x="276" y="149"/>
                </a:lnTo>
                <a:lnTo>
                  <a:pt x="270" y="156"/>
                </a:lnTo>
                <a:lnTo>
                  <a:pt x="265" y="162"/>
                </a:lnTo>
                <a:lnTo>
                  <a:pt x="259" y="169"/>
                </a:lnTo>
                <a:lnTo>
                  <a:pt x="253" y="176"/>
                </a:lnTo>
                <a:lnTo>
                  <a:pt x="247" y="182"/>
                </a:lnTo>
                <a:lnTo>
                  <a:pt x="241" y="189"/>
                </a:lnTo>
                <a:lnTo>
                  <a:pt x="235" y="196"/>
                </a:lnTo>
                <a:lnTo>
                  <a:pt x="229" y="202"/>
                </a:lnTo>
                <a:lnTo>
                  <a:pt x="223" y="209"/>
                </a:lnTo>
                <a:lnTo>
                  <a:pt x="217" y="215"/>
                </a:lnTo>
                <a:lnTo>
                  <a:pt x="210" y="222"/>
                </a:lnTo>
                <a:lnTo>
                  <a:pt x="204" y="229"/>
                </a:lnTo>
                <a:lnTo>
                  <a:pt x="197" y="235"/>
                </a:lnTo>
                <a:lnTo>
                  <a:pt x="191" y="242"/>
                </a:lnTo>
                <a:lnTo>
                  <a:pt x="184" y="248"/>
                </a:lnTo>
                <a:lnTo>
                  <a:pt x="178" y="255"/>
                </a:lnTo>
                <a:lnTo>
                  <a:pt x="171" y="261"/>
                </a:lnTo>
                <a:lnTo>
                  <a:pt x="164" y="268"/>
                </a:lnTo>
                <a:lnTo>
                  <a:pt x="158" y="274"/>
                </a:lnTo>
                <a:lnTo>
                  <a:pt x="151" y="281"/>
                </a:lnTo>
                <a:lnTo>
                  <a:pt x="144" y="287"/>
                </a:lnTo>
                <a:lnTo>
                  <a:pt x="137" y="294"/>
                </a:lnTo>
                <a:lnTo>
                  <a:pt x="130" y="300"/>
                </a:lnTo>
                <a:lnTo>
                  <a:pt x="123" y="307"/>
                </a:lnTo>
                <a:lnTo>
                  <a:pt x="115" y="313"/>
                </a:lnTo>
                <a:lnTo>
                  <a:pt x="108" y="320"/>
                </a:lnTo>
                <a:lnTo>
                  <a:pt x="101" y="326"/>
                </a:lnTo>
                <a:lnTo>
                  <a:pt x="93" y="332"/>
                </a:lnTo>
                <a:lnTo>
                  <a:pt x="86" y="339"/>
                </a:lnTo>
                <a:lnTo>
                  <a:pt x="78" y="345"/>
                </a:lnTo>
                <a:lnTo>
                  <a:pt x="71" y="352"/>
                </a:lnTo>
                <a:lnTo>
                  <a:pt x="63" y="358"/>
                </a:lnTo>
                <a:lnTo>
                  <a:pt x="56" y="364"/>
                </a:lnTo>
                <a:lnTo>
                  <a:pt x="48" y="371"/>
                </a:lnTo>
                <a:lnTo>
                  <a:pt x="40" y="377"/>
                </a:lnTo>
                <a:lnTo>
                  <a:pt x="32" y="383"/>
                </a:lnTo>
                <a:lnTo>
                  <a:pt x="24" y="389"/>
                </a:lnTo>
                <a:lnTo>
                  <a:pt x="16" y="396"/>
                </a:lnTo>
                <a:lnTo>
                  <a:pt x="8" y="402"/>
                </a:lnTo>
                <a:lnTo>
                  <a:pt x="0" y="408"/>
                </a:lnTo>
              </a:path>
            </a:pathLst>
          </a:custGeom>
          <a:noFill/>
          <a:ln w="21590">
            <a:solidFill>
              <a:srgbClr val="64748B"/>
            </a:solidFill>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Freeform 8"/>
          <p:cNvSpPr/>
          <p:nvPr/>
        </p:nvSpPr>
        <p:spPr>
          <a:xfrm>
            <a:off x="7281367" y="5523890"/>
            <a:ext cx="475488" cy="72238"/>
          </a:xfrm>
          <a:custGeom>
            <a:avLst/>
            <a:gdLst/>
            <a:ahLst/>
            <a:cxnLst/>
            <a:rect l="l" t="t" r="r" b="b"/>
            <a:pathLst>
              <a:path w="520" h="79">
                <a:moveTo>
                  <a:pt x="520" y="0"/>
                </a:moveTo>
                <a:lnTo>
                  <a:pt x="504" y="2"/>
                </a:lnTo>
                <a:lnTo>
                  <a:pt x="488" y="5"/>
                </a:lnTo>
                <a:lnTo>
                  <a:pt x="472" y="8"/>
                </a:lnTo>
                <a:lnTo>
                  <a:pt x="456" y="11"/>
                </a:lnTo>
                <a:lnTo>
                  <a:pt x="440" y="14"/>
                </a:lnTo>
                <a:lnTo>
                  <a:pt x="424" y="17"/>
                </a:lnTo>
                <a:lnTo>
                  <a:pt x="408" y="19"/>
                </a:lnTo>
                <a:lnTo>
                  <a:pt x="392" y="22"/>
                </a:lnTo>
                <a:lnTo>
                  <a:pt x="376" y="25"/>
                </a:lnTo>
                <a:lnTo>
                  <a:pt x="360" y="27"/>
                </a:lnTo>
                <a:lnTo>
                  <a:pt x="344" y="30"/>
                </a:lnTo>
                <a:lnTo>
                  <a:pt x="328" y="33"/>
                </a:lnTo>
                <a:lnTo>
                  <a:pt x="312" y="35"/>
                </a:lnTo>
                <a:lnTo>
                  <a:pt x="295" y="38"/>
                </a:lnTo>
                <a:lnTo>
                  <a:pt x="279" y="40"/>
                </a:lnTo>
                <a:lnTo>
                  <a:pt x="263" y="43"/>
                </a:lnTo>
                <a:lnTo>
                  <a:pt x="247" y="45"/>
                </a:lnTo>
                <a:lnTo>
                  <a:pt x="230" y="48"/>
                </a:lnTo>
                <a:lnTo>
                  <a:pt x="214" y="50"/>
                </a:lnTo>
                <a:lnTo>
                  <a:pt x="198" y="53"/>
                </a:lnTo>
                <a:lnTo>
                  <a:pt x="181" y="55"/>
                </a:lnTo>
                <a:lnTo>
                  <a:pt x="165" y="57"/>
                </a:lnTo>
                <a:lnTo>
                  <a:pt x="148" y="60"/>
                </a:lnTo>
                <a:lnTo>
                  <a:pt x="132" y="62"/>
                </a:lnTo>
                <a:lnTo>
                  <a:pt x="115" y="64"/>
                </a:lnTo>
                <a:lnTo>
                  <a:pt x="99" y="66"/>
                </a:lnTo>
                <a:lnTo>
                  <a:pt x="82" y="69"/>
                </a:lnTo>
                <a:lnTo>
                  <a:pt x="66" y="71"/>
                </a:lnTo>
                <a:lnTo>
                  <a:pt x="49" y="73"/>
                </a:lnTo>
                <a:lnTo>
                  <a:pt x="33" y="75"/>
                </a:lnTo>
                <a:lnTo>
                  <a:pt x="16" y="77"/>
                </a:lnTo>
                <a:lnTo>
                  <a:pt x="0" y="79"/>
                </a:lnTo>
              </a:path>
            </a:pathLst>
          </a:custGeom>
          <a:noFill/>
          <a:ln w="21590">
            <a:solidFill>
              <a:srgbClr val="64748B"/>
            </a:solidFill>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Freeform 9"/>
          <p:cNvSpPr/>
          <p:nvPr/>
        </p:nvSpPr>
        <p:spPr>
          <a:xfrm>
            <a:off x="4422953" y="5523890"/>
            <a:ext cx="475488" cy="72238"/>
          </a:xfrm>
          <a:custGeom>
            <a:avLst/>
            <a:gdLst/>
            <a:ahLst/>
            <a:cxnLst/>
            <a:rect l="l" t="t" r="r" b="b"/>
            <a:pathLst>
              <a:path w="520" h="79">
                <a:moveTo>
                  <a:pt x="520" y="79"/>
                </a:moveTo>
                <a:lnTo>
                  <a:pt x="504" y="77"/>
                </a:lnTo>
                <a:lnTo>
                  <a:pt x="487" y="75"/>
                </a:lnTo>
                <a:lnTo>
                  <a:pt x="471" y="73"/>
                </a:lnTo>
                <a:lnTo>
                  <a:pt x="454" y="71"/>
                </a:lnTo>
                <a:lnTo>
                  <a:pt x="438" y="69"/>
                </a:lnTo>
                <a:lnTo>
                  <a:pt x="421" y="66"/>
                </a:lnTo>
                <a:lnTo>
                  <a:pt x="405" y="64"/>
                </a:lnTo>
                <a:lnTo>
                  <a:pt x="388" y="62"/>
                </a:lnTo>
                <a:lnTo>
                  <a:pt x="372" y="60"/>
                </a:lnTo>
                <a:lnTo>
                  <a:pt x="355" y="57"/>
                </a:lnTo>
                <a:lnTo>
                  <a:pt x="339" y="55"/>
                </a:lnTo>
                <a:lnTo>
                  <a:pt x="322" y="53"/>
                </a:lnTo>
                <a:lnTo>
                  <a:pt x="306" y="50"/>
                </a:lnTo>
                <a:lnTo>
                  <a:pt x="290" y="48"/>
                </a:lnTo>
                <a:lnTo>
                  <a:pt x="273" y="45"/>
                </a:lnTo>
                <a:lnTo>
                  <a:pt x="257" y="43"/>
                </a:lnTo>
                <a:lnTo>
                  <a:pt x="241" y="40"/>
                </a:lnTo>
                <a:lnTo>
                  <a:pt x="225" y="38"/>
                </a:lnTo>
                <a:lnTo>
                  <a:pt x="208" y="35"/>
                </a:lnTo>
                <a:lnTo>
                  <a:pt x="192" y="33"/>
                </a:lnTo>
                <a:lnTo>
                  <a:pt x="176" y="30"/>
                </a:lnTo>
                <a:lnTo>
                  <a:pt x="160" y="27"/>
                </a:lnTo>
                <a:lnTo>
                  <a:pt x="144" y="25"/>
                </a:lnTo>
                <a:lnTo>
                  <a:pt x="128" y="22"/>
                </a:lnTo>
                <a:lnTo>
                  <a:pt x="112" y="19"/>
                </a:lnTo>
                <a:lnTo>
                  <a:pt x="96" y="17"/>
                </a:lnTo>
                <a:lnTo>
                  <a:pt x="80" y="14"/>
                </a:lnTo>
                <a:lnTo>
                  <a:pt x="64" y="11"/>
                </a:lnTo>
                <a:lnTo>
                  <a:pt x="48" y="8"/>
                </a:lnTo>
                <a:lnTo>
                  <a:pt x="32" y="5"/>
                </a:lnTo>
                <a:lnTo>
                  <a:pt x="16" y="2"/>
                </a:lnTo>
                <a:lnTo>
                  <a:pt x="0" y="0"/>
                </a:lnTo>
              </a:path>
            </a:pathLst>
          </a:custGeom>
          <a:noFill/>
          <a:ln w="21590">
            <a:solidFill>
              <a:srgbClr val="64748B"/>
            </a:solidFill>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Freeform 10"/>
          <p:cNvSpPr/>
          <p:nvPr/>
        </p:nvSpPr>
        <p:spPr>
          <a:xfrm>
            <a:off x="2158898" y="4420210"/>
            <a:ext cx="351130" cy="373075"/>
          </a:xfrm>
          <a:custGeom>
            <a:avLst/>
            <a:gdLst/>
            <a:ahLst/>
            <a:cxnLst/>
            <a:rect l="l" t="t" r="r" b="b"/>
            <a:pathLst>
              <a:path w="384" h="408">
                <a:moveTo>
                  <a:pt x="384" y="408"/>
                </a:moveTo>
                <a:lnTo>
                  <a:pt x="376" y="402"/>
                </a:lnTo>
                <a:lnTo>
                  <a:pt x="368" y="396"/>
                </a:lnTo>
                <a:lnTo>
                  <a:pt x="360" y="389"/>
                </a:lnTo>
                <a:lnTo>
                  <a:pt x="352" y="383"/>
                </a:lnTo>
                <a:lnTo>
                  <a:pt x="344" y="377"/>
                </a:lnTo>
                <a:lnTo>
                  <a:pt x="336" y="371"/>
                </a:lnTo>
                <a:lnTo>
                  <a:pt x="328" y="364"/>
                </a:lnTo>
                <a:lnTo>
                  <a:pt x="321" y="358"/>
                </a:lnTo>
                <a:lnTo>
                  <a:pt x="313" y="352"/>
                </a:lnTo>
                <a:lnTo>
                  <a:pt x="306" y="345"/>
                </a:lnTo>
                <a:lnTo>
                  <a:pt x="298" y="339"/>
                </a:lnTo>
                <a:lnTo>
                  <a:pt x="291" y="332"/>
                </a:lnTo>
                <a:lnTo>
                  <a:pt x="283" y="326"/>
                </a:lnTo>
                <a:lnTo>
                  <a:pt x="276" y="320"/>
                </a:lnTo>
                <a:lnTo>
                  <a:pt x="269" y="313"/>
                </a:lnTo>
                <a:lnTo>
                  <a:pt x="261" y="307"/>
                </a:lnTo>
                <a:lnTo>
                  <a:pt x="254" y="300"/>
                </a:lnTo>
                <a:lnTo>
                  <a:pt x="247" y="294"/>
                </a:lnTo>
                <a:lnTo>
                  <a:pt x="240" y="287"/>
                </a:lnTo>
                <a:lnTo>
                  <a:pt x="233" y="281"/>
                </a:lnTo>
                <a:lnTo>
                  <a:pt x="226" y="274"/>
                </a:lnTo>
                <a:lnTo>
                  <a:pt x="220" y="268"/>
                </a:lnTo>
                <a:lnTo>
                  <a:pt x="213" y="261"/>
                </a:lnTo>
                <a:lnTo>
                  <a:pt x="206" y="255"/>
                </a:lnTo>
                <a:lnTo>
                  <a:pt x="200" y="248"/>
                </a:lnTo>
                <a:lnTo>
                  <a:pt x="193" y="242"/>
                </a:lnTo>
                <a:lnTo>
                  <a:pt x="187" y="235"/>
                </a:lnTo>
                <a:lnTo>
                  <a:pt x="180" y="229"/>
                </a:lnTo>
                <a:lnTo>
                  <a:pt x="174" y="222"/>
                </a:lnTo>
                <a:lnTo>
                  <a:pt x="167" y="215"/>
                </a:lnTo>
                <a:lnTo>
                  <a:pt x="161" y="209"/>
                </a:lnTo>
                <a:lnTo>
                  <a:pt x="155" y="202"/>
                </a:lnTo>
                <a:lnTo>
                  <a:pt x="149" y="196"/>
                </a:lnTo>
                <a:lnTo>
                  <a:pt x="143" y="189"/>
                </a:lnTo>
                <a:lnTo>
                  <a:pt x="137" y="182"/>
                </a:lnTo>
                <a:lnTo>
                  <a:pt x="131" y="176"/>
                </a:lnTo>
                <a:lnTo>
                  <a:pt x="125" y="169"/>
                </a:lnTo>
                <a:lnTo>
                  <a:pt x="119" y="162"/>
                </a:lnTo>
                <a:lnTo>
                  <a:pt x="114" y="156"/>
                </a:lnTo>
                <a:lnTo>
                  <a:pt x="108" y="149"/>
                </a:lnTo>
                <a:lnTo>
                  <a:pt x="102" y="142"/>
                </a:lnTo>
                <a:lnTo>
                  <a:pt x="97" y="136"/>
                </a:lnTo>
                <a:lnTo>
                  <a:pt x="91" y="129"/>
                </a:lnTo>
                <a:lnTo>
                  <a:pt x="86" y="122"/>
                </a:lnTo>
                <a:lnTo>
                  <a:pt x="80" y="116"/>
                </a:lnTo>
                <a:lnTo>
                  <a:pt x="75" y="109"/>
                </a:lnTo>
                <a:lnTo>
                  <a:pt x="70" y="102"/>
                </a:lnTo>
                <a:lnTo>
                  <a:pt x="65" y="95"/>
                </a:lnTo>
                <a:lnTo>
                  <a:pt x="60" y="89"/>
                </a:lnTo>
                <a:lnTo>
                  <a:pt x="55" y="82"/>
                </a:lnTo>
                <a:lnTo>
                  <a:pt x="50" y="75"/>
                </a:lnTo>
                <a:lnTo>
                  <a:pt x="45" y="68"/>
                </a:lnTo>
                <a:lnTo>
                  <a:pt x="40" y="61"/>
                </a:lnTo>
                <a:lnTo>
                  <a:pt x="35" y="55"/>
                </a:lnTo>
                <a:lnTo>
                  <a:pt x="31" y="48"/>
                </a:lnTo>
                <a:lnTo>
                  <a:pt x="26" y="41"/>
                </a:lnTo>
                <a:lnTo>
                  <a:pt x="21" y="34"/>
                </a:lnTo>
                <a:lnTo>
                  <a:pt x="17" y="27"/>
                </a:lnTo>
                <a:lnTo>
                  <a:pt x="13" y="20"/>
                </a:lnTo>
                <a:lnTo>
                  <a:pt x="8" y="14"/>
                </a:lnTo>
                <a:lnTo>
                  <a:pt x="4" y="7"/>
                </a:lnTo>
                <a:lnTo>
                  <a:pt x="0" y="0"/>
                </a:lnTo>
              </a:path>
            </a:pathLst>
          </a:custGeom>
          <a:noFill/>
          <a:ln w="21590">
            <a:solidFill>
              <a:srgbClr val="64748B"/>
            </a:solidFill>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Freeform 11"/>
          <p:cNvSpPr/>
          <p:nvPr/>
        </p:nvSpPr>
        <p:spPr>
          <a:xfrm>
            <a:off x="2158898" y="3253435"/>
            <a:ext cx="351130" cy="373075"/>
          </a:xfrm>
          <a:custGeom>
            <a:avLst/>
            <a:gdLst/>
            <a:ahLst/>
            <a:cxnLst/>
            <a:rect l="l" t="t" r="r" b="b"/>
            <a:pathLst>
              <a:path w="384" h="408">
                <a:moveTo>
                  <a:pt x="0" y="408"/>
                </a:moveTo>
                <a:lnTo>
                  <a:pt x="4" y="401"/>
                </a:lnTo>
                <a:lnTo>
                  <a:pt x="8" y="394"/>
                </a:lnTo>
                <a:lnTo>
                  <a:pt x="13" y="388"/>
                </a:lnTo>
                <a:lnTo>
                  <a:pt x="17" y="381"/>
                </a:lnTo>
                <a:lnTo>
                  <a:pt x="21" y="374"/>
                </a:lnTo>
                <a:lnTo>
                  <a:pt x="26" y="367"/>
                </a:lnTo>
                <a:lnTo>
                  <a:pt x="31" y="360"/>
                </a:lnTo>
                <a:lnTo>
                  <a:pt x="35" y="353"/>
                </a:lnTo>
                <a:lnTo>
                  <a:pt x="40" y="347"/>
                </a:lnTo>
                <a:lnTo>
                  <a:pt x="45" y="340"/>
                </a:lnTo>
                <a:lnTo>
                  <a:pt x="50" y="333"/>
                </a:lnTo>
                <a:lnTo>
                  <a:pt x="55" y="326"/>
                </a:lnTo>
                <a:lnTo>
                  <a:pt x="60" y="319"/>
                </a:lnTo>
                <a:lnTo>
                  <a:pt x="65" y="313"/>
                </a:lnTo>
                <a:lnTo>
                  <a:pt x="70" y="306"/>
                </a:lnTo>
                <a:lnTo>
                  <a:pt x="75" y="299"/>
                </a:lnTo>
                <a:lnTo>
                  <a:pt x="80" y="292"/>
                </a:lnTo>
                <a:lnTo>
                  <a:pt x="86" y="286"/>
                </a:lnTo>
                <a:lnTo>
                  <a:pt x="91" y="279"/>
                </a:lnTo>
                <a:lnTo>
                  <a:pt x="97" y="272"/>
                </a:lnTo>
                <a:lnTo>
                  <a:pt x="102" y="266"/>
                </a:lnTo>
                <a:lnTo>
                  <a:pt x="108" y="259"/>
                </a:lnTo>
                <a:lnTo>
                  <a:pt x="114" y="252"/>
                </a:lnTo>
                <a:lnTo>
                  <a:pt x="119" y="246"/>
                </a:lnTo>
                <a:lnTo>
                  <a:pt x="125" y="239"/>
                </a:lnTo>
                <a:lnTo>
                  <a:pt x="131" y="232"/>
                </a:lnTo>
                <a:lnTo>
                  <a:pt x="137" y="226"/>
                </a:lnTo>
                <a:lnTo>
                  <a:pt x="143" y="219"/>
                </a:lnTo>
                <a:lnTo>
                  <a:pt x="149" y="212"/>
                </a:lnTo>
                <a:lnTo>
                  <a:pt x="155" y="206"/>
                </a:lnTo>
                <a:lnTo>
                  <a:pt x="161" y="199"/>
                </a:lnTo>
                <a:lnTo>
                  <a:pt x="167" y="193"/>
                </a:lnTo>
                <a:lnTo>
                  <a:pt x="174" y="186"/>
                </a:lnTo>
                <a:lnTo>
                  <a:pt x="180" y="179"/>
                </a:lnTo>
                <a:lnTo>
                  <a:pt x="187" y="173"/>
                </a:lnTo>
                <a:lnTo>
                  <a:pt x="193" y="166"/>
                </a:lnTo>
                <a:lnTo>
                  <a:pt x="200" y="160"/>
                </a:lnTo>
                <a:lnTo>
                  <a:pt x="206" y="153"/>
                </a:lnTo>
                <a:lnTo>
                  <a:pt x="213" y="147"/>
                </a:lnTo>
                <a:lnTo>
                  <a:pt x="220" y="140"/>
                </a:lnTo>
                <a:lnTo>
                  <a:pt x="226" y="134"/>
                </a:lnTo>
                <a:lnTo>
                  <a:pt x="233" y="127"/>
                </a:lnTo>
                <a:lnTo>
                  <a:pt x="240" y="121"/>
                </a:lnTo>
                <a:lnTo>
                  <a:pt x="247" y="114"/>
                </a:lnTo>
                <a:lnTo>
                  <a:pt x="254" y="108"/>
                </a:lnTo>
                <a:lnTo>
                  <a:pt x="261" y="101"/>
                </a:lnTo>
                <a:lnTo>
                  <a:pt x="269" y="95"/>
                </a:lnTo>
                <a:lnTo>
                  <a:pt x="276" y="88"/>
                </a:lnTo>
                <a:lnTo>
                  <a:pt x="283" y="82"/>
                </a:lnTo>
                <a:lnTo>
                  <a:pt x="291" y="76"/>
                </a:lnTo>
                <a:lnTo>
                  <a:pt x="298" y="69"/>
                </a:lnTo>
                <a:lnTo>
                  <a:pt x="306" y="63"/>
                </a:lnTo>
                <a:lnTo>
                  <a:pt x="313" y="56"/>
                </a:lnTo>
                <a:lnTo>
                  <a:pt x="321" y="50"/>
                </a:lnTo>
                <a:lnTo>
                  <a:pt x="328" y="44"/>
                </a:lnTo>
                <a:lnTo>
                  <a:pt x="336" y="37"/>
                </a:lnTo>
                <a:lnTo>
                  <a:pt x="344" y="31"/>
                </a:lnTo>
                <a:lnTo>
                  <a:pt x="352" y="25"/>
                </a:lnTo>
                <a:lnTo>
                  <a:pt x="360" y="19"/>
                </a:lnTo>
                <a:lnTo>
                  <a:pt x="368" y="12"/>
                </a:lnTo>
                <a:lnTo>
                  <a:pt x="376" y="6"/>
                </a:lnTo>
                <a:lnTo>
                  <a:pt x="384" y="0"/>
                </a:lnTo>
              </a:path>
            </a:pathLst>
          </a:custGeom>
          <a:noFill/>
          <a:ln w="21590">
            <a:solidFill>
              <a:srgbClr val="64748B"/>
            </a:solidFill>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reeform 12"/>
          <p:cNvSpPr/>
          <p:nvPr/>
        </p:nvSpPr>
        <p:spPr>
          <a:xfrm>
            <a:off x="4422953" y="2450592"/>
            <a:ext cx="475488" cy="72238"/>
          </a:xfrm>
          <a:custGeom>
            <a:avLst/>
            <a:gdLst/>
            <a:ahLst/>
            <a:cxnLst/>
            <a:rect l="l" t="t" r="r" b="b"/>
            <a:pathLst>
              <a:path w="520" h="79">
                <a:moveTo>
                  <a:pt x="0" y="79"/>
                </a:moveTo>
                <a:lnTo>
                  <a:pt x="16" y="77"/>
                </a:lnTo>
                <a:lnTo>
                  <a:pt x="32" y="74"/>
                </a:lnTo>
                <a:lnTo>
                  <a:pt x="48" y="71"/>
                </a:lnTo>
                <a:lnTo>
                  <a:pt x="64" y="68"/>
                </a:lnTo>
                <a:lnTo>
                  <a:pt x="80" y="65"/>
                </a:lnTo>
                <a:lnTo>
                  <a:pt x="96" y="62"/>
                </a:lnTo>
                <a:lnTo>
                  <a:pt x="112" y="60"/>
                </a:lnTo>
                <a:lnTo>
                  <a:pt x="128" y="57"/>
                </a:lnTo>
                <a:lnTo>
                  <a:pt x="144" y="54"/>
                </a:lnTo>
                <a:lnTo>
                  <a:pt x="160" y="52"/>
                </a:lnTo>
                <a:lnTo>
                  <a:pt x="176" y="49"/>
                </a:lnTo>
                <a:lnTo>
                  <a:pt x="192" y="46"/>
                </a:lnTo>
                <a:lnTo>
                  <a:pt x="208" y="44"/>
                </a:lnTo>
                <a:lnTo>
                  <a:pt x="225" y="41"/>
                </a:lnTo>
                <a:lnTo>
                  <a:pt x="241" y="39"/>
                </a:lnTo>
                <a:lnTo>
                  <a:pt x="257" y="36"/>
                </a:lnTo>
                <a:lnTo>
                  <a:pt x="273" y="34"/>
                </a:lnTo>
                <a:lnTo>
                  <a:pt x="290" y="31"/>
                </a:lnTo>
                <a:lnTo>
                  <a:pt x="306" y="29"/>
                </a:lnTo>
                <a:lnTo>
                  <a:pt x="322" y="26"/>
                </a:lnTo>
                <a:lnTo>
                  <a:pt x="339" y="24"/>
                </a:lnTo>
                <a:lnTo>
                  <a:pt x="355" y="22"/>
                </a:lnTo>
                <a:lnTo>
                  <a:pt x="372" y="19"/>
                </a:lnTo>
                <a:lnTo>
                  <a:pt x="388" y="17"/>
                </a:lnTo>
                <a:lnTo>
                  <a:pt x="405" y="15"/>
                </a:lnTo>
                <a:lnTo>
                  <a:pt x="421" y="13"/>
                </a:lnTo>
                <a:lnTo>
                  <a:pt x="438" y="10"/>
                </a:lnTo>
                <a:lnTo>
                  <a:pt x="454" y="8"/>
                </a:lnTo>
                <a:lnTo>
                  <a:pt x="471" y="6"/>
                </a:lnTo>
                <a:lnTo>
                  <a:pt x="487" y="4"/>
                </a:lnTo>
                <a:lnTo>
                  <a:pt x="504" y="2"/>
                </a:lnTo>
                <a:lnTo>
                  <a:pt x="520" y="0"/>
                </a:lnTo>
              </a:path>
            </a:pathLst>
          </a:custGeom>
          <a:noFill/>
          <a:ln w="31750">
            <a:solidFill>
              <a:srgbClr val="F97316"/>
            </a:solidFill>
            <a:tailEnd type="triangle" w="sm" len="sm"/>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Lifecycle: Request"/>
          <p:cNvSpPr/>
          <p:nvPr/>
        </p:nvSpPr>
        <p:spPr>
          <a:xfrm>
            <a:off x="4946904" y="2029968"/>
            <a:ext cx="2286000" cy="694944"/>
          </a:xfrm>
          <a:prstGeom prst="roundRect">
            <a:avLst>
              <a:gd name="adj" fmla="val 12000"/>
            </a:avLst>
          </a:prstGeom>
          <a:solidFill>
            <a:srgbClr val="FFFFFF"/>
          </a:solidFill>
          <a:ln w="2540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066507" y="2206264"/>
            <a:ext cx="346008" cy="241401"/>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a:off x="5134904" y="2447665"/>
            <a:ext cx="0" cy="7242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5134904" y="2447665"/>
            <a:ext cx="84491" cy="7242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136916" y="2316906"/>
            <a:ext cx="28163" cy="28163"/>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225430" y="2316906"/>
            <a:ext cx="28163" cy="28163"/>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313944" y="2316906"/>
            <a:ext cx="28163" cy="28163"/>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 Request"/>
          <p:cNvSpPr txBox="1"/>
          <p:nvPr/>
        </p:nvSpPr>
        <p:spPr>
          <a:xfrm>
            <a:off x="5504688" y="2103120"/>
            <a:ext cx="1645920" cy="548640"/>
          </a:xfrm>
          <a:prstGeom prst="rect">
            <a:avLst/>
          </a:prstGeom>
          <a:noFill/>
        </p:spPr>
        <p:txBody>
          <a:bodyPr wrap="square" lIns="0" tIns="0" rIns="0" bIns="0" anchor="ctr">
            <a:noAutofit/>
          </a:bodyPr>
          <a:lstStyle/>
          <a:p>
            <a:pPr algn="l">
              <a:lnSpc>
                <a:spcPct val="106000"/>
              </a:lnSpc>
              <a:spcBef>
                <a:spcPts val="0"/>
              </a:spcBef>
              <a:spcAft>
                <a:spcPts val="0"/>
              </a:spcAft>
            </a:pPr>
            <a:r>
              <a:rPr sz="2000" b="1">
                <a:solidFill>
                  <a:srgbClr val="0F2343"/>
                </a:solidFill>
                <a:latin typeface="Aptos"/>
              </a:rPr>
              <a:t>Request</a:t>
            </a:r>
          </a:p>
        </p:txBody>
      </p:sp>
      <p:sp>
        <p:nvSpPr>
          <p:cNvPr id="22" name="Lifecycle: Requirements"/>
          <p:cNvSpPr/>
          <p:nvPr/>
        </p:nvSpPr>
        <p:spPr>
          <a:xfrm>
            <a:off x="7811246" y="2512046"/>
            <a:ext cx="2286000" cy="694944"/>
          </a:xfrm>
          <a:prstGeom prst="roundRect">
            <a:avLst>
              <a:gd name="adj" fmla="val 12000"/>
            </a:avLst>
          </a:prstGeom>
          <a:solidFill>
            <a:srgbClr val="FFFFFF"/>
          </a:solidFill>
          <a:ln w="1524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979130" y="2668226"/>
            <a:ext cx="249448" cy="346008"/>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8027410" y="2776857"/>
            <a:ext cx="152888"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27410" y="2841230"/>
            <a:ext cx="152888"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027410" y="2909627"/>
            <a:ext cx="104608" cy="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27" name="Text: Requirements"/>
          <p:cNvSpPr txBox="1"/>
          <p:nvPr/>
        </p:nvSpPr>
        <p:spPr>
          <a:xfrm>
            <a:off x="8369030" y="2585198"/>
            <a:ext cx="1645920" cy="548640"/>
          </a:xfrm>
          <a:prstGeom prst="rect">
            <a:avLst/>
          </a:prstGeom>
          <a:noFill/>
        </p:spPr>
        <p:txBody>
          <a:bodyPr wrap="square" lIns="0" tIns="0" rIns="0" bIns="0" anchor="ctr">
            <a:noAutofit/>
          </a:bodyPr>
          <a:lstStyle/>
          <a:p>
            <a:pPr algn="l">
              <a:lnSpc>
                <a:spcPct val="106000"/>
              </a:lnSpc>
              <a:spcBef>
                <a:spcPts val="0"/>
              </a:spcBef>
              <a:spcAft>
                <a:spcPts val="0"/>
              </a:spcAft>
            </a:pPr>
            <a:r>
              <a:rPr sz="1800" b="1">
                <a:solidFill>
                  <a:srgbClr val="0F2343"/>
                </a:solidFill>
                <a:latin typeface="Aptos"/>
              </a:rPr>
              <a:t>Requirements</a:t>
            </a:r>
          </a:p>
        </p:txBody>
      </p:sp>
      <p:sp>
        <p:nvSpPr>
          <p:cNvPr id="28" name="Lifecycle: Model"/>
          <p:cNvSpPr/>
          <p:nvPr/>
        </p:nvSpPr>
        <p:spPr>
          <a:xfrm>
            <a:off x="8997696" y="3675888"/>
            <a:ext cx="2286000" cy="694944"/>
          </a:xfrm>
          <a:prstGeom prst="roundRect">
            <a:avLst>
              <a:gd name="adj" fmla="val 12000"/>
            </a:avLst>
          </a:prstGeom>
          <a:solidFill>
            <a:srgbClr val="FFFFFF"/>
          </a:solidFill>
          <a:ln w="1524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
          <p:cNvSpPr txBox="1"/>
          <p:nvPr/>
        </p:nvSpPr>
        <p:spPr>
          <a:xfrm>
            <a:off x="9089136" y="3803904"/>
            <a:ext cx="402336" cy="402336"/>
          </a:xfrm>
          <a:prstGeom prst="rect">
            <a:avLst/>
          </a:prstGeom>
          <a:noFill/>
        </p:spPr>
        <p:txBody>
          <a:bodyPr wrap="square" lIns="0" tIns="0" rIns="0" bIns="0" anchor="ctr">
            <a:noAutofit/>
          </a:bodyPr>
          <a:lstStyle/>
          <a:p>
            <a:pPr algn="ctr">
              <a:lnSpc>
                <a:spcPct val="106000"/>
              </a:lnSpc>
              <a:spcBef>
                <a:spcPts val="0"/>
              </a:spcBef>
              <a:spcAft>
                <a:spcPts val="0"/>
              </a:spcAft>
            </a:pPr>
            <a:r>
              <a:rPr sz="2023" b="0">
                <a:solidFill>
                  <a:srgbClr val="0F2343"/>
                </a:solidFill>
                <a:latin typeface="Cambria Math"/>
              </a:rPr>
              <a:t>∑</a:t>
            </a:r>
          </a:p>
        </p:txBody>
      </p:sp>
      <p:sp>
        <p:nvSpPr>
          <p:cNvPr id="30" name="Text: Model"/>
          <p:cNvSpPr txBox="1"/>
          <p:nvPr/>
        </p:nvSpPr>
        <p:spPr>
          <a:xfrm>
            <a:off x="9555480" y="3749040"/>
            <a:ext cx="1645920" cy="548640"/>
          </a:xfrm>
          <a:prstGeom prst="rect">
            <a:avLst/>
          </a:prstGeom>
          <a:noFill/>
        </p:spPr>
        <p:txBody>
          <a:bodyPr wrap="square" lIns="0" tIns="0" rIns="0" bIns="0" anchor="ctr">
            <a:noAutofit/>
          </a:bodyPr>
          <a:lstStyle/>
          <a:p>
            <a:pPr algn="l">
              <a:lnSpc>
                <a:spcPct val="106000"/>
              </a:lnSpc>
              <a:spcBef>
                <a:spcPts val="0"/>
              </a:spcBef>
              <a:spcAft>
                <a:spcPts val="0"/>
              </a:spcAft>
            </a:pPr>
            <a:r>
              <a:rPr sz="2000" b="1">
                <a:solidFill>
                  <a:srgbClr val="0F2343"/>
                </a:solidFill>
                <a:latin typeface="Aptos"/>
              </a:rPr>
              <a:t>Model</a:t>
            </a:r>
          </a:p>
        </p:txBody>
      </p:sp>
      <p:sp>
        <p:nvSpPr>
          <p:cNvPr id="31" name="Lifecycle: Design &amp; code"/>
          <p:cNvSpPr/>
          <p:nvPr/>
        </p:nvSpPr>
        <p:spPr>
          <a:xfrm>
            <a:off x="7811246" y="4839729"/>
            <a:ext cx="2286000" cy="694944"/>
          </a:xfrm>
          <a:prstGeom prst="roundRect">
            <a:avLst>
              <a:gd name="adj" fmla="val 12000"/>
            </a:avLst>
          </a:prstGeom>
          <a:solidFill>
            <a:srgbClr val="FFFFFF"/>
          </a:solidFill>
          <a:ln w="1524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31"/>
          <p:cNvCxnSpPr/>
          <p:nvPr/>
        </p:nvCxnSpPr>
        <p:spPr>
          <a:xfrm flipH="1">
            <a:off x="7942920" y="5060282"/>
            <a:ext cx="80467" cy="10863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942920" y="5168913"/>
            <a:ext cx="80467" cy="10863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184321" y="5060282"/>
            <a:ext cx="80467" cy="10863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8184321" y="5168913"/>
            <a:ext cx="80467" cy="10863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8071667" y="5028095"/>
            <a:ext cx="68397" cy="281635"/>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37" name="Text: Design &amp; code"/>
          <p:cNvSpPr txBox="1"/>
          <p:nvPr/>
        </p:nvSpPr>
        <p:spPr>
          <a:xfrm>
            <a:off x="8369030" y="4912881"/>
            <a:ext cx="1645920" cy="548640"/>
          </a:xfrm>
          <a:prstGeom prst="rect">
            <a:avLst/>
          </a:prstGeom>
          <a:noFill/>
        </p:spPr>
        <p:txBody>
          <a:bodyPr wrap="square" lIns="0" tIns="0" rIns="0" bIns="0" anchor="ctr">
            <a:noAutofit/>
          </a:bodyPr>
          <a:lstStyle/>
          <a:p>
            <a:pPr algn="l">
              <a:lnSpc>
                <a:spcPct val="106000"/>
              </a:lnSpc>
              <a:spcBef>
                <a:spcPts val="0"/>
              </a:spcBef>
              <a:spcAft>
                <a:spcPts val="0"/>
              </a:spcAft>
            </a:pPr>
            <a:r>
              <a:rPr sz="1800" b="1">
                <a:solidFill>
                  <a:srgbClr val="0F2343"/>
                </a:solidFill>
                <a:latin typeface="Aptos"/>
              </a:rPr>
              <a:t>Design &amp; code</a:t>
            </a:r>
          </a:p>
        </p:txBody>
      </p:sp>
      <p:sp>
        <p:nvSpPr>
          <p:cNvPr id="38" name="Lifecycle: Tests"/>
          <p:cNvSpPr/>
          <p:nvPr/>
        </p:nvSpPr>
        <p:spPr>
          <a:xfrm>
            <a:off x="4946904" y="5321808"/>
            <a:ext cx="2286000" cy="694944"/>
          </a:xfrm>
          <a:prstGeom prst="roundRect">
            <a:avLst>
              <a:gd name="adj" fmla="val 12000"/>
            </a:avLst>
          </a:prstGeom>
          <a:solidFill>
            <a:srgbClr val="FFFFFF"/>
          </a:solidFill>
          <a:ln w="1524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5090647" y="5490057"/>
            <a:ext cx="297728" cy="321868"/>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0" name="Connector 39"/>
          <p:cNvCxnSpPr/>
          <p:nvPr/>
        </p:nvCxnSpPr>
        <p:spPr>
          <a:xfrm>
            <a:off x="5150998" y="5646968"/>
            <a:ext cx="64373" cy="64374"/>
          </a:xfrm>
          <a:prstGeom prst="line">
            <a:avLst/>
          </a:prstGeom>
          <a:ln w="3175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5215371" y="5570524"/>
            <a:ext cx="116678" cy="140818"/>
          </a:xfrm>
          <a:prstGeom prst="line">
            <a:avLst/>
          </a:prstGeom>
          <a:ln w="3175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42" name="Text: Tests"/>
          <p:cNvSpPr txBox="1"/>
          <p:nvPr/>
        </p:nvSpPr>
        <p:spPr>
          <a:xfrm>
            <a:off x="5504688" y="5394960"/>
            <a:ext cx="1645920" cy="548640"/>
          </a:xfrm>
          <a:prstGeom prst="rect">
            <a:avLst/>
          </a:prstGeom>
          <a:noFill/>
        </p:spPr>
        <p:txBody>
          <a:bodyPr wrap="square" lIns="0" tIns="0" rIns="0" bIns="0" anchor="ctr">
            <a:noAutofit/>
          </a:bodyPr>
          <a:lstStyle/>
          <a:p>
            <a:pPr algn="l">
              <a:lnSpc>
                <a:spcPct val="106000"/>
              </a:lnSpc>
              <a:spcBef>
                <a:spcPts val="0"/>
              </a:spcBef>
              <a:spcAft>
                <a:spcPts val="0"/>
              </a:spcAft>
            </a:pPr>
            <a:r>
              <a:rPr sz="2000" b="1">
                <a:solidFill>
                  <a:srgbClr val="0F2343"/>
                </a:solidFill>
                <a:latin typeface="Aptos"/>
              </a:rPr>
              <a:t>Tests</a:t>
            </a:r>
          </a:p>
        </p:txBody>
      </p:sp>
      <p:sp>
        <p:nvSpPr>
          <p:cNvPr id="43" name="Lifecycle: Deploy"/>
          <p:cNvSpPr/>
          <p:nvPr/>
        </p:nvSpPr>
        <p:spPr>
          <a:xfrm>
            <a:off x="2082561" y="4839729"/>
            <a:ext cx="2286000" cy="694944"/>
          </a:xfrm>
          <a:prstGeom prst="roundRect">
            <a:avLst>
              <a:gd name="adj" fmla="val 12000"/>
            </a:avLst>
          </a:prstGeom>
          <a:solidFill>
            <a:srgbClr val="FFFFFF"/>
          </a:solidFill>
          <a:ln w="1524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2226305" y="5168913"/>
            <a:ext cx="297728" cy="160934"/>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Connector 44"/>
          <p:cNvCxnSpPr/>
          <p:nvPr/>
        </p:nvCxnSpPr>
        <p:spPr>
          <a:xfrm>
            <a:off x="2375169" y="5007978"/>
            <a:ext cx="0" cy="217262"/>
          </a:xfrm>
          <a:prstGeom prst="line">
            <a:avLst/>
          </a:prstGeom>
          <a:ln w="3175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2286655" y="5007978"/>
            <a:ext cx="88514" cy="88514"/>
          </a:xfrm>
          <a:prstGeom prst="line">
            <a:avLst/>
          </a:prstGeom>
          <a:ln w="3175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375169" y="5007978"/>
            <a:ext cx="88514" cy="88514"/>
          </a:xfrm>
          <a:prstGeom prst="line">
            <a:avLst/>
          </a:prstGeom>
          <a:ln w="3175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48" name="Text: Deploy"/>
          <p:cNvSpPr txBox="1"/>
          <p:nvPr/>
        </p:nvSpPr>
        <p:spPr>
          <a:xfrm>
            <a:off x="2640345" y="4912881"/>
            <a:ext cx="1645920" cy="548640"/>
          </a:xfrm>
          <a:prstGeom prst="rect">
            <a:avLst/>
          </a:prstGeom>
          <a:noFill/>
        </p:spPr>
        <p:txBody>
          <a:bodyPr wrap="square" lIns="0" tIns="0" rIns="0" bIns="0" anchor="ctr">
            <a:noAutofit/>
          </a:bodyPr>
          <a:lstStyle/>
          <a:p>
            <a:pPr algn="l">
              <a:lnSpc>
                <a:spcPct val="106000"/>
              </a:lnSpc>
              <a:spcBef>
                <a:spcPts val="0"/>
              </a:spcBef>
              <a:spcAft>
                <a:spcPts val="0"/>
              </a:spcAft>
            </a:pPr>
            <a:r>
              <a:rPr sz="2000" b="1">
                <a:solidFill>
                  <a:srgbClr val="0F2343"/>
                </a:solidFill>
                <a:latin typeface="Aptos"/>
              </a:rPr>
              <a:t>Deploy</a:t>
            </a:r>
          </a:p>
        </p:txBody>
      </p:sp>
      <p:sp>
        <p:nvSpPr>
          <p:cNvPr id="49" name="Lifecycle: Use"/>
          <p:cNvSpPr/>
          <p:nvPr/>
        </p:nvSpPr>
        <p:spPr>
          <a:xfrm>
            <a:off x="896112" y="3675888"/>
            <a:ext cx="2286000" cy="694944"/>
          </a:xfrm>
          <a:prstGeom prst="roundRect">
            <a:avLst>
              <a:gd name="adj" fmla="val 12000"/>
            </a:avLst>
          </a:prstGeom>
          <a:solidFill>
            <a:srgbClr val="FFFFFF"/>
          </a:solidFill>
          <a:ln w="1524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124346" y="3824020"/>
            <a:ext cx="128747" cy="128747"/>
          </a:xfrm>
          <a:prstGeom prst="ellipse">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1084112" y="3988978"/>
            <a:ext cx="209214" cy="197144"/>
          </a:xfrm>
          <a:prstGeom prst="roundRect">
            <a:avLst>
              <a:gd name="adj" fmla="val 12000"/>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 Use"/>
          <p:cNvSpPr txBox="1"/>
          <p:nvPr/>
        </p:nvSpPr>
        <p:spPr>
          <a:xfrm>
            <a:off x="1453896" y="3749040"/>
            <a:ext cx="1645920" cy="548640"/>
          </a:xfrm>
          <a:prstGeom prst="rect">
            <a:avLst/>
          </a:prstGeom>
          <a:noFill/>
        </p:spPr>
        <p:txBody>
          <a:bodyPr wrap="square" lIns="0" tIns="0" rIns="0" bIns="0" anchor="ctr">
            <a:noAutofit/>
          </a:bodyPr>
          <a:lstStyle/>
          <a:p>
            <a:pPr algn="l">
              <a:lnSpc>
                <a:spcPct val="106000"/>
              </a:lnSpc>
              <a:spcBef>
                <a:spcPts val="0"/>
              </a:spcBef>
              <a:spcAft>
                <a:spcPts val="0"/>
              </a:spcAft>
            </a:pPr>
            <a:r>
              <a:rPr sz="2000" b="1">
                <a:solidFill>
                  <a:srgbClr val="0F2343"/>
                </a:solidFill>
                <a:latin typeface="Aptos"/>
              </a:rPr>
              <a:t>Use</a:t>
            </a:r>
          </a:p>
        </p:txBody>
      </p:sp>
      <p:sp>
        <p:nvSpPr>
          <p:cNvPr id="53" name="Lifecycle: Feedback"/>
          <p:cNvSpPr/>
          <p:nvPr/>
        </p:nvSpPr>
        <p:spPr>
          <a:xfrm>
            <a:off x="2082561" y="2512046"/>
            <a:ext cx="2286000" cy="694944"/>
          </a:xfrm>
          <a:prstGeom prst="roundRect">
            <a:avLst>
              <a:gd name="adj" fmla="val 12000"/>
            </a:avLst>
          </a:prstGeom>
          <a:solidFill>
            <a:srgbClr val="FFFFFF"/>
          </a:solidFill>
          <a:ln w="15240">
            <a:solidFill>
              <a:srgbClr val="DDE4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2202165" y="2688343"/>
            <a:ext cx="346008" cy="241401"/>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5" name="Connector 54"/>
          <p:cNvCxnSpPr/>
          <p:nvPr/>
        </p:nvCxnSpPr>
        <p:spPr>
          <a:xfrm>
            <a:off x="2270562" y="2929744"/>
            <a:ext cx="0" cy="7242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2270562" y="2929744"/>
            <a:ext cx="84490" cy="7242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2272573" y="2798985"/>
            <a:ext cx="28163" cy="28163"/>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2361087" y="2798985"/>
            <a:ext cx="28163" cy="28163"/>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2449601" y="2798985"/>
            <a:ext cx="28163" cy="28163"/>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 Feedback"/>
          <p:cNvSpPr txBox="1"/>
          <p:nvPr/>
        </p:nvSpPr>
        <p:spPr>
          <a:xfrm>
            <a:off x="2640345" y="2585198"/>
            <a:ext cx="1645920" cy="548640"/>
          </a:xfrm>
          <a:prstGeom prst="rect">
            <a:avLst/>
          </a:prstGeom>
          <a:noFill/>
        </p:spPr>
        <p:txBody>
          <a:bodyPr wrap="square" lIns="0" tIns="0" rIns="0" bIns="0" anchor="ctr">
            <a:noAutofit/>
          </a:bodyPr>
          <a:lstStyle/>
          <a:p>
            <a:pPr algn="l">
              <a:lnSpc>
                <a:spcPct val="106000"/>
              </a:lnSpc>
              <a:spcBef>
                <a:spcPts val="0"/>
              </a:spcBef>
              <a:spcAft>
                <a:spcPts val="0"/>
              </a:spcAft>
            </a:pPr>
            <a:r>
              <a:rPr sz="2000" b="1">
                <a:solidFill>
                  <a:srgbClr val="0F2343"/>
                </a:solidFill>
                <a:latin typeface="Aptos"/>
              </a:rPr>
              <a:t>Feedback</a:t>
            </a:r>
          </a:p>
        </p:txBody>
      </p:sp>
      <p:sp>
        <p:nvSpPr>
          <p:cNvPr id="61" name="Text: Validation"/>
          <p:cNvSpPr txBox="1"/>
          <p:nvPr/>
        </p:nvSpPr>
        <p:spPr>
          <a:xfrm>
            <a:off x="7955279" y="1901952"/>
            <a:ext cx="2011680" cy="320040"/>
          </a:xfrm>
          <a:prstGeom prst="rect">
            <a:avLst/>
          </a:prstGeom>
          <a:noFill/>
        </p:spPr>
        <p:txBody>
          <a:bodyPr wrap="square" lIns="0" tIns="0" rIns="0" bIns="0" anchor="ctr">
            <a:noAutofit/>
          </a:bodyPr>
          <a:lstStyle/>
          <a:p>
            <a:pPr algn="ctr">
              <a:lnSpc>
                <a:spcPct val="106000"/>
              </a:lnSpc>
              <a:spcBef>
                <a:spcPts val="0"/>
              </a:spcBef>
              <a:spcAft>
                <a:spcPts val="0"/>
              </a:spcAft>
            </a:pPr>
            <a:r>
              <a:rPr sz="1900" b="1">
                <a:solidFill>
                  <a:srgbClr val="0F2343"/>
                </a:solidFill>
                <a:latin typeface="Aptos"/>
              </a:rPr>
              <a:t>Validation</a:t>
            </a:r>
          </a:p>
        </p:txBody>
      </p:sp>
      <p:sp>
        <p:nvSpPr>
          <p:cNvPr id="62" name="Text: Verification"/>
          <p:cNvSpPr txBox="1"/>
          <p:nvPr/>
        </p:nvSpPr>
        <p:spPr>
          <a:xfrm>
            <a:off x="7955279" y="5806440"/>
            <a:ext cx="2011680" cy="320040"/>
          </a:xfrm>
          <a:prstGeom prst="rect">
            <a:avLst/>
          </a:prstGeom>
          <a:noFill/>
        </p:spPr>
        <p:txBody>
          <a:bodyPr wrap="square" lIns="0" tIns="0" rIns="0" bIns="0" anchor="ctr">
            <a:noAutofit/>
          </a:bodyPr>
          <a:lstStyle/>
          <a:p>
            <a:pPr algn="ctr">
              <a:lnSpc>
                <a:spcPct val="106000"/>
              </a:lnSpc>
              <a:spcBef>
                <a:spcPts val="0"/>
              </a:spcBef>
              <a:spcAft>
                <a:spcPts val="0"/>
              </a:spcAft>
            </a:pPr>
            <a:r>
              <a:rPr sz="1900" b="1">
                <a:solidFill>
                  <a:srgbClr val="0F2343"/>
                </a:solidFill>
                <a:latin typeface="Aptos"/>
              </a:rPr>
              <a:t>Verification</a:t>
            </a:r>
          </a:p>
        </p:txBody>
      </p:sp>
      <p:cxnSp>
        <p:nvCxnSpPr>
          <p:cNvPr id="63" name="Connector 62"/>
          <p:cNvCxnSpPr/>
          <p:nvPr/>
        </p:nvCxnSpPr>
        <p:spPr>
          <a:xfrm>
            <a:off x="7772400" y="2295144"/>
            <a:ext cx="1490472" cy="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772400" y="2295144"/>
            <a:ext cx="0" cy="13716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262872" y="2295144"/>
            <a:ext cx="0" cy="13716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772400" y="5669280"/>
            <a:ext cx="1490472" cy="0"/>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772400" y="5550408"/>
            <a:ext cx="0" cy="118872"/>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262872" y="5550408"/>
            <a:ext cx="0" cy="118872"/>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69" name="Rounded Rectangle 68"/>
          <p:cNvSpPr/>
          <p:nvPr/>
        </p:nvSpPr>
        <p:spPr>
          <a:xfrm>
            <a:off x="4398264" y="2834640"/>
            <a:ext cx="3383280" cy="868680"/>
          </a:xfrm>
          <a:prstGeom prst="roundRect">
            <a:avLst>
              <a:gd name="adj" fmla="val 12000"/>
            </a:avLst>
          </a:prstGeom>
          <a:solidFill>
            <a:srgbClr val="FF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 Can we serve more customers?"/>
          <p:cNvSpPr txBox="1"/>
          <p:nvPr/>
        </p:nvSpPr>
        <p:spPr>
          <a:xfrm>
            <a:off x="4526280" y="2907792"/>
            <a:ext cx="3127248" cy="731520"/>
          </a:xfrm>
          <a:prstGeom prst="rect">
            <a:avLst/>
          </a:prstGeom>
          <a:noFill/>
        </p:spPr>
        <p:txBody>
          <a:bodyPr wrap="square" lIns="0" tIns="0" rIns="0" bIns="0" anchor="ctr">
            <a:noAutofit/>
          </a:bodyPr>
          <a:lstStyle/>
          <a:p>
            <a:pPr algn="ctr">
              <a:lnSpc>
                <a:spcPct val="106000"/>
              </a:lnSpc>
              <a:spcBef>
                <a:spcPts val="0"/>
              </a:spcBef>
              <a:spcAft>
                <a:spcPts val="0"/>
              </a:spcAft>
            </a:pPr>
            <a:r>
              <a:rPr sz="2100" b="1">
                <a:solidFill>
                  <a:srgbClr val="0F2343"/>
                </a:solidFill>
                <a:latin typeface="Aptos"/>
              </a:rPr>
              <a:t>Can we serve more customers?</a:t>
            </a:r>
          </a:p>
        </p:txBody>
      </p:sp>
      <p:sp>
        <p:nvSpPr>
          <p:cNvPr id="71" name="Rounded Rectangle 70"/>
          <p:cNvSpPr/>
          <p:nvPr/>
        </p:nvSpPr>
        <p:spPr>
          <a:xfrm>
            <a:off x="4443984" y="3913632"/>
            <a:ext cx="393192" cy="566928"/>
          </a:xfrm>
          <a:prstGeom prst="roundRect">
            <a:avLst>
              <a:gd name="adj" fmla="val 12000"/>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4526280" y="4032504"/>
            <a:ext cx="64008"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4526280" y="4197096"/>
            <a:ext cx="64008"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4672584" y="4032504"/>
            <a:ext cx="64008"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4672584" y="4197096"/>
            <a:ext cx="64008"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75"/>
          <p:cNvSpPr/>
          <p:nvPr/>
        </p:nvSpPr>
        <p:spPr>
          <a:xfrm>
            <a:off x="5001768" y="3913632"/>
            <a:ext cx="393192" cy="566928"/>
          </a:xfrm>
          <a:prstGeom prst="roundRect">
            <a:avLst>
              <a:gd name="adj" fmla="val 12000"/>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5084064" y="4032504"/>
            <a:ext cx="64008"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5084064" y="4197096"/>
            <a:ext cx="64008"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5230368" y="4032504"/>
            <a:ext cx="64008"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5230368" y="4197096"/>
            <a:ext cx="64008"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5559552" y="3913632"/>
            <a:ext cx="393192" cy="566928"/>
          </a:xfrm>
          <a:prstGeom prst="roundRect">
            <a:avLst>
              <a:gd name="adj" fmla="val 12000"/>
            </a:avLst>
          </a:prstGeom>
          <a:noFill/>
          <a:ln w="1651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5641848" y="4032504"/>
            <a:ext cx="6400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5641848" y="4197096"/>
            <a:ext cx="6400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5788152" y="4032504"/>
            <a:ext cx="6400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5788152" y="4197096"/>
            <a:ext cx="6400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ounded Rectangle 85"/>
          <p:cNvSpPr/>
          <p:nvPr/>
        </p:nvSpPr>
        <p:spPr>
          <a:xfrm>
            <a:off x="6117336" y="3913632"/>
            <a:ext cx="393192" cy="566928"/>
          </a:xfrm>
          <a:prstGeom prst="roundRect">
            <a:avLst>
              <a:gd name="adj" fmla="val 12000"/>
            </a:avLst>
          </a:prstGeom>
          <a:noFill/>
          <a:ln w="1651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6199632" y="4032504"/>
            <a:ext cx="6400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6199632" y="4197096"/>
            <a:ext cx="6400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6345936" y="4032504"/>
            <a:ext cx="6400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6345936" y="4197096"/>
            <a:ext cx="6400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ounded Rectangle 90"/>
          <p:cNvSpPr/>
          <p:nvPr/>
        </p:nvSpPr>
        <p:spPr>
          <a:xfrm>
            <a:off x="6675120" y="3913632"/>
            <a:ext cx="393192" cy="566928"/>
          </a:xfrm>
          <a:prstGeom prst="roundRect">
            <a:avLst>
              <a:gd name="adj" fmla="val 12000"/>
            </a:avLst>
          </a:prstGeom>
          <a:noFill/>
          <a:ln w="1651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6757416" y="4032504"/>
            <a:ext cx="6400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6757416" y="4197096"/>
            <a:ext cx="6400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6903720" y="4032504"/>
            <a:ext cx="6400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6903720" y="4197096"/>
            <a:ext cx="6400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ounded Rectangle 95"/>
          <p:cNvSpPr/>
          <p:nvPr/>
        </p:nvSpPr>
        <p:spPr>
          <a:xfrm>
            <a:off x="7232904" y="3913632"/>
            <a:ext cx="393192" cy="566928"/>
          </a:xfrm>
          <a:prstGeom prst="roundRect">
            <a:avLst>
              <a:gd name="adj" fmla="val 12000"/>
            </a:avLst>
          </a:prstGeom>
          <a:noFill/>
          <a:ln w="1651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7315200" y="4032504"/>
            <a:ext cx="6400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7315200" y="4197096"/>
            <a:ext cx="6400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7461504" y="4032504"/>
            <a:ext cx="6400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7461504" y="4197096"/>
            <a:ext cx="64008" cy="6400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 2 of 6 customers served"/>
          <p:cNvSpPr txBox="1"/>
          <p:nvPr/>
        </p:nvSpPr>
        <p:spPr>
          <a:xfrm>
            <a:off x="4160520" y="4681728"/>
            <a:ext cx="3822191" cy="393192"/>
          </a:xfrm>
          <a:prstGeom prst="rect">
            <a:avLst/>
          </a:prstGeom>
          <a:noFill/>
        </p:spPr>
        <p:txBody>
          <a:bodyPr wrap="square" lIns="0" tIns="0" rIns="0" bIns="0" anchor="ctr">
            <a:noAutofit/>
          </a:bodyPr>
          <a:lstStyle/>
          <a:p>
            <a:pPr algn="ctr">
              <a:lnSpc>
                <a:spcPct val="106000"/>
              </a:lnSpc>
              <a:spcBef>
                <a:spcPts val="0"/>
              </a:spcBef>
              <a:spcAft>
                <a:spcPts val="0"/>
              </a:spcAft>
            </a:pPr>
            <a:r>
              <a:rPr sz="2300" b="1">
                <a:solidFill>
                  <a:srgbClr val="0F2343"/>
                </a:solidFill>
                <a:latin typeface="Aptos"/>
              </a:rPr>
              <a:t>2 of 6 customers served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24FF9-4027-F573-BD83-6B12E25929C3}"/>
            </a:ext>
          </a:extLst>
        </p:cNvPr>
        <p:cNvGrpSpPr/>
        <p:nvPr/>
      </p:nvGrpSpPr>
      <p:grpSpPr>
        <a:xfrm>
          <a:off x="0" y="0"/>
          <a:ext cx="0" cy="0"/>
          <a:chOff x="0" y="0"/>
          <a:chExt cx="0" cy="0"/>
        </a:xfrm>
      </p:grpSpPr>
      <p:sp>
        <p:nvSpPr>
          <p:cNvPr id="2" name="Slide title">
            <a:extLst>
              <a:ext uri="{FF2B5EF4-FFF2-40B4-BE49-F238E27FC236}">
                <a16:creationId xmlns:a16="http://schemas.microsoft.com/office/drawing/2014/main" id="{013F7618-E48B-E31E-4FFA-5969D5609BD7}"/>
              </a:ext>
            </a:extLst>
          </p:cNvPr>
          <p:cNvSpPr txBox="1"/>
          <p:nvPr/>
        </p:nvSpPr>
        <p:spPr>
          <a:xfrm>
            <a:off x="502920" y="246888"/>
            <a:ext cx="11544300" cy="1188720"/>
          </a:xfrm>
          <a:prstGeom prst="rect">
            <a:avLst/>
          </a:prstGeom>
          <a:noFill/>
        </p:spPr>
        <p:txBody>
          <a:bodyPr wrap="square" lIns="0" tIns="0" rIns="0" bIns="0" anchor="t">
            <a:noAutofit/>
          </a:bodyPr>
          <a:lstStyle/>
          <a:p>
            <a:pPr algn="l">
              <a:lnSpc>
                <a:spcPct val="106000"/>
              </a:lnSpc>
              <a:spcBef>
                <a:spcPts val="0"/>
              </a:spcBef>
              <a:spcAft>
                <a:spcPts val="0"/>
              </a:spcAft>
            </a:pPr>
            <a:r>
              <a:rPr lang="en-US" sz="4000" b="1" dirty="0">
                <a:solidFill>
                  <a:srgbClr val="0F2343"/>
                </a:solidFill>
                <a:latin typeface="Aptos Display"/>
              </a:rPr>
              <a:t>Agenda for today</a:t>
            </a:r>
            <a:endParaRPr sz="4000" b="1" dirty="0">
              <a:solidFill>
                <a:srgbClr val="0F2343"/>
              </a:solidFill>
              <a:latin typeface="Aptos Display"/>
            </a:endParaRPr>
          </a:p>
        </p:txBody>
      </p:sp>
      <p:sp>
        <p:nvSpPr>
          <p:cNvPr id="3" name="Rectangle 2">
            <a:extLst>
              <a:ext uri="{FF2B5EF4-FFF2-40B4-BE49-F238E27FC236}">
                <a16:creationId xmlns:a16="http://schemas.microsoft.com/office/drawing/2014/main" id="{87332509-9FD8-E9DB-D22D-19E8ABADC69E}"/>
              </a:ext>
            </a:extLst>
          </p:cNvPr>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1">
            <a:extLst>
              <a:ext uri="{FF2B5EF4-FFF2-40B4-BE49-F238E27FC236}">
                <a16:creationId xmlns:a16="http://schemas.microsoft.com/office/drawing/2014/main" id="{9EC094E2-4DFB-51B9-E627-2287A5BADE71}"/>
              </a:ext>
            </a:extLst>
          </p:cNvPr>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1</a:t>
            </a:r>
          </a:p>
        </p:txBody>
      </p:sp>
      <p:sp>
        <p:nvSpPr>
          <p:cNvPr id="6" name="TextBox 5">
            <a:extLst>
              <a:ext uri="{FF2B5EF4-FFF2-40B4-BE49-F238E27FC236}">
                <a16:creationId xmlns:a16="http://schemas.microsoft.com/office/drawing/2014/main" id="{B5CD0728-2AF0-DDBE-39AF-898ECA0366E1}"/>
              </a:ext>
            </a:extLst>
          </p:cNvPr>
          <p:cNvSpPr txBox="1"/>
          <p:nvPr/>
        </p:nvSpPr>
        <p:spPr>
          <a:xfrm>
            <a:off x="458724" y="1749871"/>
            <a:ext cx="11274552" cy="3807004"/>
          </a:xfrm>
          <a:prstGeom prst="rect">
            <a:avLst/>
          </a:prstGeom>
          <a:noFill/>
        </p:spPr>
        <p:txBody>
          <a:bodyPr wrap="square" tIns="0" rIns="45720" bIns="0">
            <a:spAutoFit/>
          </a:bodyPr>
          <a:lstStyle/>
          <a:p>
            <a:pPr marL="285750" indent="-285750" algn="l">
              <a:lnSpc>
                <a:spcPct val="200000"/>
              </a:lnSpc>
              <a:buFont typeface="Arial" panose="020B0604020202020204" pitchFamily="34" charset="0"/>
              <a:buChar char="•"/>
            </a:pPr>
            <a:r>
              <a:rPr lang="en-US" sz="3200" dirty="0">
                <a:solidFill>
                  <a:srgbClr val="0F2343"/>
                </a:solidFill>
                <a:latin typeface="Aptos"/>
              </a:rPr>
              <a:t>Part I – What is a decision-support system?</a:t>
            </a:r>
          </a:p>
          <a:p>
            <a:pPr marL="285750" indent="-285750" algn="l">
              <a:lnSpc>
                <a:spcPct val="200000"/>
              </a:lnSpc>
              <a:buFont typeface="Arial" panose="020B0604020202020204" pitchFamily="34" charset="0"/>
              <a:buChar char="•"/>
            </a:pPr>
            <a:r>
              <a:rPr lang="en-US" sz="3200" dirty="0">
                <a:solidFill>
                  <a:srgbClr val="0F2343"/>
                </a:solidFill>
                <a:latin typeface="Aptos"/>
              </a:rPr>
              <a:t>Part II – Are we solving the right problem?</a:t>
            </a:r>
          </a:p>
          <a:p>
            <a:pPr marL="285750" indent="-285750" algn="l">
              <a:lnSpc>
                <a:spcPct val="200000"/>
              </a:lnSpc>
              <a:buFont typeface="Arial" panose="020B0604020202020204" pitchFamily="34" charset="0"/>
              <a:buChar char="•"/>
            </a:pPr>
            <a:r>
              <a:rPr lang="en-US" sz="3200" dirty="0">
                <a:solidFill>
                  <a:srgbClr val="0F2343"/>
                </a:solidFill>
                <a:latin typeface="Aptos"/>
              </a:rPr>
              <a:t>Part III – Are we solving the problem right?</a:t>
            </a:r>
          </a:p>
          <a:p>
            <a:pPr marL="285750" indent="-285750">
              <a:lnSpc>
                <a:spcPct val="200000"/>
              </a:lnSpc>
              <a:buFont typeface="Arial" panose="020B0604020202020204" pitchFamily="34" charset="0"/>
              <a:buChar char="•"/>
            </a:pPr>
            <a:r>
              <a:rPr lang="en-US" sz="3200" b="1" dirty="0">
                <a:solidFill>
                  <a:srgbClr val="0F2343"/>
                </a:solidFill>
                <a:latin typeface="Aptos"/>
              </a:rPr>
              <a:t>Part IV – Closing &amp; conclusions</a:t>
            </a:r>
            <a:endParaRPr lang="en-US" sz="2800" b="1" dirty="0">
              <a:solidFill>
                <a:srgbClr val="0F2343"/>
              </a:solidFill>
              <a:latin typeface="Aptos"/>
            </a:endParaRPr>
          </a:p>
        </p:txBody>
      </p:sp>
    </p:spTree>
    <p:extLst>
      <p:ext uri="{BB962C8B-B14F-4D97-AF65-F5344CB8AC3E}">
        <p14:creationId xmlns:p14="http://schemas.microsoft.com/office/powerpoint/2010/main" val="3827749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lide title"/>
          <p:cNvSpPr txBox="1"/>
          <p:nvPr/>
        </p:nvSpPr>
        <p:spPr>
          <a:xfrm>
            <a:off x="502920" y="292608"/>
            <a:ext cx="11183112" cy="1051560"/>
          </a:xfrm>
          <a:prstGeom prst="rect">
            <a:avLst/>
          </a:prstGeom>
          <a:noFill/>
        </p:spPr>
        <p:txBody>
          <a:bodyPr wrap="square" lIns="0" tIns="0" rIns="0" bIns="0" anchor="t">
            <a:noAutofit/>
          </a:bodyPr>
          <a:lstStyle/>
          <a:p>
            <a:pPr algn="l">
              <a:lnSpc>
                <a:spcPct val="106000"/>
              </a:lnSpc>
              <a:spcBef>
                <a:spcPts val="0"/>
              </a:spcBef>
              <a:spcAft>
                <a:spcPts val="0"/>
              </a:spcAft>
            </a:pPr>
            <a:r>
              <a:rPr sz="4000" b="1" dirty="0">
                <a:solidFill>
                  <a:srgbClr val="0F2343"/>
                </a:solidFill>
                <a:latin typeface="Aptos Display"/>
              </a:rPr>
              <a:t>What this profession needs</a:t>
            </a:r>
          </a:p>
        </p:txBody>
      </p:sp>
      <p:sp>
        <p:nvSpPr>
          <p:cNvPr id="3" name="Rectangle 2"/>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16"/>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16</a:t>
            </a:r>
          </a:p>
        </p:txBody>
      </p:sp>
      <p:sp>
        <p:nvSpPr>
          <p:cNvPr id="6" name="Rounded Rectangle 5"/>
          <p:cNvSpPr/>
          <p:nvPr/>
        </p:nvSpPr>
        <p:spPr>
          <a:xfrm>
            <a:off x="1693468" y="2776118"/>
            <a:ext cx="1367942" cy="901598"/>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128723" y="2496312"/>
            <a:ext cx="497433" cy="279806"/>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7"/>
          <p:cNvCxnSpPr/>
          <p:nvPr/>
        </p:nvCxnSpPr>
        <p:spPr>
          <a:xfrm>
            <a:off x="1724558" y="3087014"/>
            <a:ext cx="1305763"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284171" y="3009290"/>
            <a:ext cx="186537" cy="186537"/>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 Business skills"/>
          <p:cNvSpPr txBox="1"/>
          <p:nvPr/>
        </p:nvSpPr>
        <p:spPr>
          <a:xfrm>
            <a:off x="713232" y="4572000"/>
            <a:ext cx="3328416" cy="557784"/>
          </a:xfrm>
          <a:prstGeom prst="rect">
            <a:avLst/>
          </a:prstGeom>
          <a:noFill/>
        </p:spPr>
        <p:txBody>
          <a:bodyPr wrap="square" lIns="0" tIns="0" rIns="0" bIns="0" anchor="ctr">
            <a:noAutofit/>
          </a:bodyPr>
          <a:lstStyle/>
          <a:p>
            <a:pPr algn="ctr">
              <a:lnSpc>
                <a:spcPct val="106000"/>
              </a:lnSpc>
              <a:spcBef>
                <a:spcPts val="0"/>
              </a:spcBef>
              <a:spcAft>
                <a:spcPts val="0"/>
              </a:spcAft>
            </a:pPr>
            <a:r>
              <a:rPr sz="2900" b="1">
                <a:solidFill>
                  <a:srgbClr val="0F2343"/>
                </a:solidFill>
                <a:latin typeface="Aptos"/>
              </a:rPr>
              <a:t>Business skills</a:t>
            </a:r>
          </a:p>
        </p:txBody>
      </p:sp>
      <p:sp>
        <p:nvSpPr>
          <p:cNvPr id="11" name="Rounded Rectangle 10"/>
          <p:cNvSpPr/>
          <p:nvPr/>
        </p:nvSpPr>
        <p:spPr>
          <a:xfrm>
            <a:off x="5421477" y="2496312"/>
            <a:ext cx="497433" cy="466344"/>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260896" y="2496312"/>
            <a:ext cx="497433" cy="466344"/>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841187" y="3304641"/>
            <a:ext cx="497433" cy="466344"/>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a:off x="5670194" y="2962656"/>
            <a:ext cx="0" cy="170992"/>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09613" y="2962656"/>
            <a:ext cx="0" cy="170992"/>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670194" y="3133648"/>
            <a:ext cx="839419"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089904" y="3133648"/>
            <a:ext cx="0" cy="170993"/>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18" name="Text: Software skills"/>
          <p:cNvSpPr txBox="1"/>
          <p:nvPr/>
        </p:nvSpPr>
        <p:spPr>
          <a:xfrm>
            <a:off x="4425696" y="4572000"/>
            <a:ext cx="3328416" cy="557784"/>
          </a:xfrm>
          <a:prstGeom prst="rect">
            <a:avLst/>
          </a:prstGeom>
          <a:noFill/>
        </p:spPr>
        <p:txBody>
          <a:bodyPr wrap="square" lIns="0" tIns="0" rIns="0" bIns="0" anchor="ctr">
            <a:noAutofit/>
          </a:bodyPr>
          <a:lstStyle/>
          <a:p>
            <a:pPr algn="ctr">
              <a:lnSpc>
                <a:spcPct val="106000"/>
              </a:lnSpc>
              <a:spcBef>
                <a:spcPts val="0"/>
              </a:spcBef>
              <a:spcAft>
                <a:spcPts val="0"/>
              </a:spcAft>
            </a:pPr>
            <a:r>
              <a:rPr sz="2900" b="1">
                <a:solidFill>
                  <a:srgbClr val="0F2343"/>
                </a:solidFill>
                <a:latin typeface="Aptos"/>
              </a:rPr>
              <a:t>Software skills</a:t>
            </a:r>
          </a:p>
        </p:txBody>
      </p:sp>
      <p:sp>
        <p:nvSpPr>
          <p:cNvPr id="19" name="Oval 18"/>
          <p:cNvSpPr/>
          <p:nvPr/>
        </p:nvSpPr>
        <p:spPr>
          <a:xfrm>
            <a:off x="9087307" y="2651760"/>
            <a:ext cx="373075" cy="373075"/>
          </a:xfrm>
          <a:prstGeom prst="ellipse">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144353" y="2651760"/>
            <a:ext cx="373075" cy="373075"/>
          </a:xfrm>
          <a:prstGeom prst="ellipse">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025128" y="3133648"/>
            <a:ext cx="512978" cy="544068"/>
          </a:xfrm>
          <a:prstGeom prst="roundRect">
            <a:avLst>
              <a:gd name="adj" fmla="val 12000"/>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0066629" y="3133648"/>
            <a:ext cx="512978" cy="544068"/>
          </a:xfrm>
          <a:prstGeom prst="roundRect">
            <a:avLst>
              <a:gd name="adj" fmla="val 12000"/>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553651" y="2418588"/>
            <a:ext cx="497433" cy="497433"/>
          </a:xfrm>
          <a:prstGeom prst="ellipse">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398203" y="3055924"/>
            <a:ext cx="808329" cy="761695"/>
          </a:xfrm>
          <a:prstGeom prst="roundRect">
            <a:avLst>
              <a:gd name="adj" fmla="val 12000"/>
            </a:avLst>
          </a:prstGeom>
          <a:solidFill>
            <a:srgbClr val="0F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 People skills"/>
          <p:cNvSpPr txBox="1"/>
          <p:nvPr/>
        </p:nvSpPr>
        <p:spPr>
          <a:xfrm>
            <a:off x="8138160" y="4572000"/>
            <a:ext cx="3328416" cy="557784"/>
          </a:xfrm>
          <a:prstGeom prst="rect">
            <a:avLst/>
          </a:prstGeom>
          <a:noFill/>
        </p:spPr>
        <p:txBody>
          <a:bodyPr wrap="square" lIns="0" tIns="0" rIns="0" bIns="0" anchor="ctr">
            <a:noAutofit/>
          </a:bodyPr>
          <a:lstStyle/>
          <a:p>
            <a:pPr algn="ctr">
              <a:lnSpc>
                <a:spcPct val="106000"/>
              </a:lnSpc>
              <a:spcBef>
                <a:spcPts val="0"/>
              </a:spcBef>
              <a:spcAft>
                <a:spcPts val="0"/>
              </a:spcAft>
            </a:pPr>
            <a:r>
              <a:rPr sz="2900" b="1">
                <a:solidFill>
                  <a:srgbClr val="0F2343"/>
                </a:solidFill>
                <a:latin typeface="Aptos"/>
              </a:rPr>
              <a:t>People skills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Slide title"/>
          <p:cNvSpPr txBox="1"/>
          <p:nvPr/>
        </p:nvSpPr>
        <p:spPr>
          <a:xfrm>
            <a:off x="502920" y="292608"/>
            <a:ext cx="11183112" cy="1051560"/>
          </a:xfrm>
          <a:prstGeom prst="rect">
            <a:avLst/>
          </a:prstGeom>
          <a:noFill/>
        </p:spPr>
        <p:txBody>
          <a:bodyPr wrap="square" lIns="0" tIns="0" rIns="0" bIns="0" anchor="t">
            <a:noAutofit/>
          </a:bodyPr>
          <a:lstStyle/>
          <a:p>
            <a:pPr algn="l">
              <a:lnSpc>
                <a:spcPct val="106000"/>
              </a:lnSpc>
              <a:spcBef>
                <a:spcPts val="0"/>
              </a:spcBef>
              <a:spcAft>
                <a:spcPts val="0"/>
              </a:spcAft>
            </a:pPr>
            <a:r>
              <a:rPr sz="4000" b="1" dirty="0">
                <a:solidFill>
                  <a:srgbClr val="0F2343"/>
                </a:solidFill>
                <a:latin typeface="Aptos Display"/>
              </a:rPr>
              <a:t>SEFOP: where to keep learning</a:t>
            </a:r>
          </a:p>
        </p:txBody>
      </p:sp>
      <p:sp>
        <p:nvSpPr>
          <p:cNvPr id="3" name="Rectangle 2"/>
          <p:cNvSpPr/>
          <p:nvPr/>
        </p:nvSpPr>
        <p:spPr>
          <a:xfrm>
            <a:off x="530352" y="1463040"/>
            <a:ext cx="530352" cy="502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 17"/>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17</a:t>
            </a:r>
          </a:p>
        </p:txBody>
      </p:sp>
      <p:sp>
        <p:nvSpPr>
          <p:cNvPr id="6" name="Rounded Rectangle 5"/>
          <p:cNvSpPr/>
          <p:nvPr/>
        </p:nvSpPr>
        <p:spPr>
          <a:xfrm>
            <a:off x="946038" y="2445837"/>
            <a:ext cx="292425" cy="492130"/>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266992" y="2445837"/>
            <a:ext cx="292425" cy="492130"/>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7"/>
          <p:cNvCxnSpPr/>
          <p:nvPr/>
        </p:nvCxnSpPr>
        <p:spPr>
          <a:xfrm>
            <a:off x="1252728" y="2460101"/>
            <a:ext cx="0" cy="513527"/>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10229" y="2574218"/>
            <a:ext cx="156911"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338315" y="2574218"/>
            <a:ext cx="156911"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10229" y="2688336"/>
            <a:ext cx="156911"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38315" y="2688336"/>
            <a:ext cx="156911" cy="0"/>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sp>
        <p:nvSpPr>
          <p:cNvPr id="13" name="Text: Read the book">
            <a:hlinkClick r:id="rId3"/>
          </p:cNvPr>
          <p:cNvSpPr txBox="1"/>
          <p:nvPr/>
        </p:nvSpPr>
        <p:spPr>
          <a:xfrm>
            <a:off x="1865376" y="2359151"/>
            <a:ext cx="4224528" cy="640080"/>
          </a:xfrm>
          <a:prstGeom prst="rect">
            <a:avLst/>
          </a:prstGeom>
          <a:noFill/>
        </p:spPr>
        <p:txBody>
          <a:bodyPr wrap="square" lIns="0" tIns="0" rIns="0" bIns="0" anchor="ctr">
            <a:noAutofit/>
          </a:bodyPr>
          <a:lstStyle/>
          <a:p>
            <a:pPr algn="l">
              <a:lnSpc>
                <a:spcPct val="106000"/>
              </a:lnSpc>
              <a:spcBef>
                <a:spcPts val="0"/>
              </a:spcBef>
              <a:spcAft>
                <a:spcPts val="0"/>
              </a:spcAft>
            </a:pPr>
            <a:r>
              <a:rPr sz="2900" b="1">
                <a:solidFill>
                  <a:srgbClr val="0F2343"/>
                </a:solidFill>
                <a:latin typeface="Aptos"/>
              </a:rPr>
              <a:t>Read the book</a:t>
            </a:r>
          </a:p>
        </p:txBody>
      </p:sp>
      <p:cxnSp>
        <p:nvCxnSpPr>
          <p:cNvPr id="14" name="Connector 13"/>
          <p:cNvCxnSpPr/>
          <p:nvPr/>
        </p:nvCxnSpPr>
        <p:spPr>
          <a:xfrm flipH="1">
            <a:off x="967435" y="3748491"/>
            <a:ext cx="142646" cy="192572"/>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67435" y="3941063"/>
            <a:ext cx="142646" cy="192573"/>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95374" y="3748491"/>
            <a:ext cx="142646" cy="192572"/>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395374" y="3941063"/>
            <a:ext cx="142646" cy="192573"/>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195669" y="3691432"/>
            <a:ext cx="121249" cy="499263"/>
          </a:xfrm>
          <a:prstGeom prst="line">
            <a:avLst/>
          </a:prstGeom>
          <a:ln w="25400">
            <a:solidFill>
              <a:srgbClr val="F97316"/>
            </a:solidFill>
          </a:ln>
          <a:effectLst/>
        </p:spPr>
        <p:style>
          <a:lnRef idx="2">
            <a:schemeClr val="accent1"/>
          </a:lnRef>
          <a:fillRef idx="0">
            <a:schemeClr val="accent1"/>
          </a:fillRef>
          <a:effectRef idx="1">
            <a:schemeClr val="accent1"/>
          </a:effectRef>
          <a:fontRef idx="minor">
            <a:schemeClr val="tx1"/>
          </a:fontRef>
        </p:style>
      </p:cxnSp>
      <p:sp>
        <p:nvSpPr>
          <p:cNvPr id="19" name="Text: Run the workshop">
            <a:hlinkClick r:id="rId4"/>
          </p:cNvPr>
          <p:cNvSpPr txBox="1"/>
          <p:nvPr/>
        </p:nvSpPr>
        <p:spPr>
          <a:xfrm>
            <a:off x="1865376" y="3611879"/>
            <a:ext cx="4224528" cy="640080"/>
          </a:xfrm>
          <a:prstGeom prst="rect">
            <a:avLst/>
          </a:prstGeom>
          <a:noFill/>
        </p:spPr>
        <p:txBody>
          <a:bodyPr wrap="square" lIns="0" tIns="0" rIns="0" bIns="0" anchor="ctr">
            <a:noAutofit/>
          </a:bodyPr>
          <a:lstStyle/>
          <a:p>
            <a:pPr algn="l">
              <a:lnSpc>
                <a:spcPct val="106000"/>
              </a:lnSpc>
              <a:spcBef>
                <a:spcPts val="0"/>
              </a:spcBef>
              <a:spcAft>
                <a:spcPts val="0"/>
              </a:spcAft>
            </a:pPr>
            <a:r>
              <a:rPr sz="2900" b="1">
                <a:solidFill>
                  <a:srgbClr val="0F2343"/>
                </a:solidFill>
                <a:latin typeface="Aptos"/>
              </a:rPr>
              <a:t>Run the workshop</a:t>
            </a:r>
          </a:p>
        </p:txBody>
      </p:sp>
      <p:sp>
        <p:nvSpPr>
          <p:cNvPr id="20" name="Rounded Rectangle 19"/>
          <p:cNvSpPr/>
          <p:nvPr/>
        </p:nvSpPr>
        <p:spPr>
          <a:xfrm>
            <a:off x="946038" y="4922763"/>
            <a:ext cx="613379" cy="427939"/>
          </a:xfrm>
          <a:prstGeom prst="roundRect">
            <a:avLst>
              <a:gd name="adj" fmla="val 12000"/>
            </a:avLst>
          </a:prstGeom>
          <a:solidFill>
            <a:srgbClr val="FFFFFF"/>
          </a:solidFill>
          <a:ln w="25400">
            <a:solidFill>
              <a:srgbClr val="0F23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1067287" y="5350703"/>
            <a:ext cx="0" cy="12838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067287" y="5350703"/>
            <a:ext cx="149779" cy="128381"/>
          </a:xfrm>
          <a:prstGeom prst="line">
            <a:avLst/>
          </a:prstGeom>
          <a:ln w="25400">
            <a:solidFill>
              <a:srgbClr val="0F2343"/>
            </a:solidFill>
          </a:ln>
          <a:effectLst/>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1070853" y="5118902"/>
            <a:ext cx="49926" cy="49926"/>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227764" y="5118902"/>
            <a:ext cx="49926" cy="49926"/>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4675" y="5118902"/>
            <a:ext cx="49926" cy="49926"/>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Ask questions">
            <a:hlinkClick r:id="rId5"/>
          </p:cNvPr>
          <p:cNvSpPr txBox="1"/>
          <p:nvPr/>
        </p:nvSpPr>
        <p:spPr>
          <a:xfrm>
            <a:off x="1865376" y="4864608"/>
            <a:ext cx="4224528" cy="640080"/>
          </a:xfrm>
          <a:prstGeom prst="rect">
            <a:avLst/>
          </a:prstGeom>
          <a:noFill/>
        </p:spPr>
        <p:txBody>
          <a:bodyPr wrap="square" lIns="0" tIns="0" rIns="0" bIns="0" anchor="ctr">
            <a:noAutofit/>
          </a:bodyPr>
          <a:lstStyle/>
          <a:p>
            <a:pPr algn="l">
              <a:lnSpc>
                <a:spcPct val="106000"/>
              </a:lnSpc>
              <a:spcBef>
                <a:spcPts val="0"/>
              </a:spcBef>
              <a:spcAft>
                <a:spcPts val="0"/>
              </a:spcAft>
            </a:pPr>
            <a:r>
              <a:rPr sz="2900" b="1">
                <a:solidFill>
                  <a:srgbClr val="0F2343"/>
                </a:solidFill>
                <a:latin typeface="Aptos"/>
              </a:rPr>
              <a:t>Ask questions</a:t>
            </a:r>
          </a:p>
        </p:txBody>
      </p:sp>
      <p:pic>
        <p:nvPicPr>
          <p:cNvPr id="27" name="training-hub-qr" descr="training hub qr"/>
          <p:cNvPicPr>
            <a:picLocks noChangeAspect="1"/>
          </p:cNvPicPr>
          <p:nvPr/>
        </p:nvPicPr>
        <p:blipFill>
          <a:blip r:embed="rId6"/>
          <a:stretch>
            <a:fillRect/>
          </a:stretch>
        </p:blipFill>
        <p:spPr>
          <a:xfrm>
            <a:off x="6867144" y="1874519"/>
            <a:ext cx="4187952" cy="4187952"/>
          </a:xfrm>
          <a:prstGeom prst="rect">
            <a:avLst/>
          </a:prstGeom>
        </p:spPr>
      </p:pic>
      <p:sp>
        <p:nvSpPr>
          <p:cNvPr id="28" name="Text: github.com/sefop/sefop-training-hub">
            <a:hlinkClick r:id="rId3"/>
          </p:cNvPr>
          <p:cNvSpPr txBox="1"/>
          <p:nvPr/>
        </p:nvSpPr>
        <p:spPr>
          <a:xfrm>
            <a:off x="6291072" y="5925312"/>
            <a:ext cx="5340096" cy="338328"/>
          </a:xfrm>
          <a:prstGeom prst="rect">
            <a:avLst/>
          </a:prstGeom>
          <a:noFill/>
        </p:spPr>
        <p:txBody>
          <a:bodyPr wrap="square" lIns="0" tIns="0" rIns="0" bIns="0" anchor="ctr">
            <a:noAutofit/>
          </a:bodyPr>
          <a:lstStyle/>
          <a:p>
            <a:pPr algn="ctr">
              <a:lnSpc>
                <a:spcPct val="106000"/>
              </a:lnSpc>
              <a:spcBef>
                <a:spcPts val="0"/>
              </a:spcBef>
              <a:spcAft>
                <a:spcPts val="0"/>
              </a:spcAft>
            </a:pPr>
            <a:r>
              <a:rPr sz="1800" b="0">
                <a:solidFill>
                  <a:srgbClr val="0F2343"/>
                </a:solidFill>
                <a:latin typeface="Aptos"/>
              </a:rPr>
              <a:t>github.com/sefop/sefop-training-hub</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 name="Text: 18"/>
          <p:cNvSpPr txBox="1"/>
          <p:nvPr/>
        </p:nvSpPr>
        <p:spPr>
          <a:xfrm>
            <a:off x="11137392" y="6473952"/>
            <a:ext cx="502920" cy="219456"/>
          </a:xfrm>
          <a:prstGeom prst="rect">
            <a:avLst/>
          </a:prstGeom>
          <a:noFill/>
        </p:spPr>
        <p:txBody>
          <a:bodyPr wrap="square" lIns="0" tIns="0" rIns="0" bIns="0" anchor="ctr">
            <a:noAutofit/>
          </a:bodyPr>
          <a:lstStyle/>
          <a:p>
            <a:pPr algn="r">
              <a:lnSpc>
                <a:spcPct val="106000"/>
              </a:lnSpc>
              <a:spcBef>
                <a:spcPts val="0"/>
              </a:spcBef>
              <a:spcAft>
                <a:spcPts val="0"/>
              </a:spcAft>
            </a:pPr>
            <a:r>
              <a:rPr sz="1200" b="0">
                <a:solidFill>
                  <a:srgbClr val="64748B"/>
                </a:solidFill>
                <a:latin typeface="Aptos"/>
              </a:rPr>
              <a:t>18</a:t>
            </a:r>
          </a:p>
        </p:txBody>
      </p:sp>
      <p:sp>
        <p:nvSpPr>
          <p:cNvPr id="4" name="Text: Questions?"/>
          <p:cNvSpPr txBox="1"/>
          <p:nvPr/>
        </p:nvSpPr>
        <p:spPr>
          <a:xfrm>
            <a:off x="758952" y="2551176"/>
            <a:ext cx="5650992" cy="1078992"/>
          </a:xfrm>
          <a:prstGeom prst="rect">
            <a:avLst/>
          </a:prstGeom>
          <a:noFill/>
        </p:spPr>
        <p:txBody>
          <a:bodyPr wrap="square" lIns="0" tIns="0" rIns="0" bIns="0" anchor="ctr">
            <a:noAutofit/>
          </a:bodyPr>
          <a:lstStyle/>
          <a:p>
            <a:pPr algn="l">
              <a:lnSpc>
                <a:spcPct val="106000"/>
              </a:lnSpc>
              <a:spcBef>
                <a:spcPts val="0"/>
              </a:spcBef>
              <a:spcAft>
                <a:spcPts val="0"/>
              </a:spcAft>
            </a:pPr>
            <a:r>
              <a:rPr sz="6200" b="1">
                <a:solidFill>
                  <a:srgbClr val="0F2343"/>
                </a:solidFill>
                <a:latin typeface="Aptos Display"/>
              </a:rPr>
              <a:t>Questions?</a:t>
            </a:r>
          </a:p>
        </p:txBody>
      </p:sp>
      <p:sp>
        <p:nvSpPr>
          <p:cNvPr id="5" name="Rectangle 4"/>
          <p:cNvSpPr/>
          <p:nvPr/>
        </p:nvSpPr>
        <p:spPr>
          <a:xfrm>
            <a:off x="813816" y="3950208"/>
            <a:ext cx="841248" cy="59436"/>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training-hub-qr" descr="training hub qr"/>
          <p:cNvPicPr>
            <a:picLocks noChangeAspect="1"/>
          </p:cNvPicPr>
          <p:nvPr/>
        </p:nvPicPr>
        <p:blipFill>
          <a:blip r:embed="rId3"/>
          <a:stretch>
            <a:fillRect/>
          </a:stretch>
        </p:blipFill>
        <p:spPr>
          <a:xfrm>
            <a:off x="6867144" y="1508760"/>
            <a:ext cx="4187952" cy="4187952"/>
          </a:xfrm>
          <a:prstGeom prst="rect">
            <a:avLst/>
          </a:prstGeom>
        </p:spPr>
      </p:pic>
      <p:sp>
        <p:nvSpPr>
          <p:cNvPr id="7" name="Text: github.com/sefop/sefop-training-hub">
            <a:hlinkClick r:id="rId4"/>
          </p:cNvPr>
          <p:cNvSpPr txBox="1"/>
          <p:nvPr/>
        </p:nvSpPr>
        <p:spPr>
          <a:xfrm>
            <a:off x="6291072" y="5605272"/>
            <a:ext cx="5340096" cy="338328"/>
          </a:xfrm>
          <a:prstGeom prst="rect">
            <a:avLst/>
          </a:prstGeom>
          <a:noFill/>
        </p:spPr>
        <p:txBody>
          <a:bodyPr wrap="square" lIns="0" tIns="0" rIns="0" bIns="0" anchor="ctr">
            <a:noAutofit/>
          </a:bodyPr>
          <a:lstStyle/>
          <a:p>
            <a:pPr algn="ctr">
              <a:lnSpc>
                <a:spcPct val="106000"/>
              </a:lnSpc>
              <a:spcBef>
                <a:spcPts val="0"/>
              </a:spcBef>
              <a:spcAft>
                <a:spcPts val="0"/>
              </a:spcAft>
            </a:pPr>
            <a:r>
              <a:rPr sz="1800" b="0">
                <a:solidFill>
                  <a:srgbClr val="0F2343"/>
                </a:solidFill>
                <a:latin typeface="Aptos"/>
              </a:rPr>
              <a:t>github.com/sefop/sefop-training-hub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3370</TotalTime>
  <Words>5544</Words>
  <Application>Microsoft Office PowerPoint</Application>
  <PresentationFormat>Widescreen</PresentationFormat>
  <Paragraphs>586</Paragraphs>
  <Slides>26</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Aptos Display</vt:lpstr>
      <vt:lpstr>Arial</vt:lpstr>
      <vt:lpstr>Calibri</vt:lpstr>
      <vt:lpstr>Cambria Math</vt:lpstr>
      <vt:lpstr>Segoe UI 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Airlines Optimization Workshop: Industry best practices for a decision-support system</dc:title>
  <dc:subject>SCTC 2026: from business requests to trustworthy decision-support software</dc:subject>
  <dc:creator>Francisco Zenteno Smith</dc:creator>
  <cp:keywords>SEFOP, SCTC 2026, operations research, software engineering, validation, verification</cp:keywords>
  <dc:description>18-slide workshop; visual decisions and presenter material: assets/slide-story.md</dc:description>
  <cp:lastModifiedBy>Francisco Zenteno Smith</cp:lastModifiedBy>
  <cp:revision>207</cp:revision>
  <dcterms:created xsi:type="dcterms:W3CDTF">2013-01-27T09:14:16Z</dcterms:created>
  <dcterms:modified xsi:type="dcterms:W3CDTF">2026-10-19T02:15:55Z</dcterms:modified>
  <cp:category/>
</cp:coreProperties>
</file>